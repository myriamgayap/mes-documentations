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7"/>
  </p:notesMasterIdLst>
  <p:sldIdLst>
    <p:sldId id="256" r:id="rId5"/>
    <p:sldId id="264" r:id="rId6"/>
    <p:sldId id="257" r:id="rId7"/>
    <p:sldId id="258" r:id="rId8"/>
    <p:sldId id="260" r:id="rId9"/>
    <p:sldId id="265" r:id="rId10"/>
    <p:sldId id="266" r:id="rId11"/>
    <p:sldId id="268" r:id="rId12"/>
    <p:sldId id="275" r:id="rId13"/>
    <p:sldId id="271" r:id="rId14"/>
    <p:sldId id="276" r:id="rId15"/>
    <p:sldId id="270" r:id="rId16"/>
    <p:sldId id="278" r:id="rId17"/>
    <p:sldId id="281" r:id="rId18"/>
    <p:sldId id="274" r:id="rId19"/>
    <p:sldId id="283" r:id="rId20"/>
    <p:sldId id="277" r:id="rId21"/>
    <p:sldId id="269" r:id="rId22"/>
    <p:sldId id="282" r:id="rId23"/>
    <p:sldId id="279" r:id="rId24"/>
    <p:sldId id="280" r:id="rId25"/>
    <p:sldId id="284" r:id="rId26"/>
  </p:sldIdLst>
  <p:sldSz cx="18288000" cy="10287000"/>
  <p:notesSz cx="6858000" cy="9144000"/>
  <p:embeddedFontLst>
    <p:embeddedFont>
      <p:font typeface="Anantason Expanded" panose="020B0604020202020204" charset="-34"/>
      <p:regular r:id="rId28"/>
    </p:embeddedFont>
    <p:embeddedFont>
      <p:font typeface="Anantason Expanded Bold" panose="020B0604020202020204" charset="-34"/>
      <p:regular r:id="rId29"/>
    </p:embeddedFont>
    <p:embeddedFont>
      <p:font typeface="Titillium Web" panose="00000500000000000000" pitchFamily="2" charset="0"/>
      <p:regular r:id="rId30"/>
      <p:bold r:id="rId31"/>
      <p:italic r:id="rId32"/>
      <p:boldItalic r:id="rId33"/>
    </p:embeddedFont>
    <p:embeddedFont>
      <p:font typeface="Titillium Web Semi-Bold" panose="020B0604020202020204"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CBCBCB"/>
    <a:srgbClr val="044D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87DD1-C156-DD68-8876-F42DF5DBDB0D}" v="2" dt="2026-03-12T09:55:00.295"/>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GAUD Marc-Antoine" userId="S::rigaudm@3il.fr::04979e41-c6cb-4bd2-b5d8-086700bbc436" providerId="AD" clId="Web-{2647CE4E-47E6-E820-99AF-6CE5CF25FA3E}"/>
    <pc:docChg chg="addSld modSld">
      <pc:chgData name="RIGAUD Marc-Antoine" userId="S::rigaudm@3il.fr::04979e41-c6cb-4bd2-b5d8-086700bbc436" providerId="AD" clId="Web-{2647CE4E-47E6-E820-99AF-6CE5CF25FA3E}" dt="2026-02-10T16:32:49.983" v="8" actId="20577"/>
      <pc:docMkLst>
        <pc:docMk/>
      </pc:docMkLst>
      <pc:sldChg chg="modSp add replId">
        <pc:chgData name="RIGAUD Marc-Antoine" userId="S::rigaudm@3il.fr::04979e41-c6cb-4bd2-b5d8-086700bbc436" providerId="AD" clId="Web-{2647CE4E-47E6-E820-99AF-6CE5CF25FA3E}" dt="2026-02-10T16:32:49.983" v="8" actId="20577"/>
        <pc:sldMkLst>
          <pc:docMk/>
          <pc:sldMk cId="138638350" sldId="284"/>
        </pc:sldMkLst>
        <pc:spChg chg="mod">
          <ac:chgData name="RIGAUD Marc-Antoine" userId="S::rigaudm@3il.fr::04979e41-c6cb-4bd2-b5d8-086700bbc436" providerId="AD" clId="Web-{2647CE4E-47E6-E820-99AF-6CE5CF25FA3E}" dt="2026-02-10T16:32:49.983" v="8" actId="20577"/>
          <ac:spMkLst>
            <pc:docMk/>
            <pc:sldMk cId="138638350" sldId="284"/>
            <ac:spMk id="4" creationId="{CD803830-CC79-382C-A920-76840F5E70F8}"/>
          </ac:spMkLst>
        </pc:spChg>
        <pc:spChg chg="mod">
          <ac:chgData name="RIGAUD Marc-Antoine" userId="S::rigaudm@3il.fr::04979e41-c6cb-4bd2-b5d8-086700bbc436" providerId="AD" clId="Web-{2647CE4E-47E6-E820-99AF-6CE5CF25FA3E}" dt="2026-02-10T16:20:34.767" v="5" actId="20577"/>
          <ac:spMkLst>
            <pc:docMk/>
            <pc:sldMk cId="138638350" sldId="284"/>
            <ac:spMk id="9" creationId="{0D520841-0519-C55B-3B02-1C09B9B8B371}"/>
          </ac:spMkLst>
        </pc:spChg>
      </pc:sldChg>
    </pc:docChg>
  </pc:docChgLst>
  <pc:docChgLst>
    <pc:chgData name="RIGAUD Marc-Antoine" userId="S::rigaudm@3il.fr::04979e41-c6cb-4bd2-b5d8-086700bbc436" providerId="AD" clId="Web-{8CB8F4E0-0CB5-8CC2-72B5-422683D7D866}"/>
    <pc:docChg chg="modSld">
      <pc:chgData name="RIGAUD Marc-Antoine" userId="S::rigaudm@3il.fr::04979e41-c6cb-4bd2-b5d8-086700bbc436" providerId="AD" clId="Web-{8CB8F4E0-0CB5-8CC2-72B5-422683D7D866}" dt="2026-02-10T16:32:29.229" v="148" actId="20577"/>
      <pc:docMkLst>
        <pc:docMk/>
      </pc:docMkLst>
      <pc:sldChg chg="modSp">
        <pc:chgData name="RIGAUD Marc-Antoine" userId="S::rigaudm@3il.fr::04979e41-c6cb-4bd2-b5d8-086700bbc436" providerId="AD" clId="Web-{8CB8F4E0-0CB5-8CC2-72B5-422683D7D866}" dt="2026-02-10T16:24:02.273" v="32" actId="20577"/>
        <pc:sldMkLst>
          <pc:docMk/>
          <pc:sldMk cId="0" sldId="257"/>
        </pc:sldMkLst>
        <pc:spChg chg="mod">
          <ac:chgData name="RIGAUD Marc-Antoine" userId="S::rigaudm@3il.fr::04979e41-c6cb-4bd2-b5d8-086700bbc436" providerId="AD" clId="Web-{8CB8F4E0-0CB5-8CC2-72B5-422683D7D866}" dt="2026-02-10T16:24:02.273" v="32" actId="20577"/>
          <ac:spMkLst>
            <pc:docMk/>
            <pc:sldMk cId="0" sldId="257"/>
            <ac:spMk id="3" creationId="{AB3F9C97-7977-0BE1-CA39-52D81096EDDB}"/>
          </ac:spMkLst>
        </pc:spChg>
      </pc:sldChg>
      <pc:sldChg chg="addSp modSp">
        <pc:chgData name="RIGAUD Marc-Antoine" userId="S::rigaudm@3il.fr::04979e41-c6cb-4bd2-b5d8-086700bbc436" providerId="AD" clId="Web-{8CB8F4E0-0CB5-8CC2-72B5-422683D7D866}" dt="2026-02-10T16:32:29.229" v="148" actId="20577"/>
        <pc:sldMkLst>
          <pc:docMk/>
          <pc:sldMk cId="138638350" sldId="284"/>
        </pc:sldMkLst>
        <pc:spChg chg="add mod">
          <ac:chgData name="RIGAUD Marc-Antoine" userId="S::rigaudm@3il.fr::04979e41-c6cb-4bd2-b5d8-086700bbc436" providerId="AD" clId="Web-{8CB8F4E0-0CB5-8CC2-72B5-422683D7D866}" dt="2026-02-10T16:29:44.491" v="102" actId="20577"/>
          <ac:spMkLst>
            <pc:docMk/>
            <pc:sldMk cId="138638350" sldId="284"/>
            <ac:spMk id="2" creationId="{68117CAE-DBE6-19FD-4A33-EC6A7336079D}"/>
          </ac:spMkLst>
        </pc:spChg>
        <pc:spChg chg="add mod">
          <ac:chgData name="RIGAUD Marc-Antoine" userId="S::rigaudm@3il.fr::04979e41-c6cb-4bd2-b5d8-086700bbc436" providerId="AD" clId="Web-{8CB8F4E0-0CB5-8CC2-72B5-422683D7D866}" dt="2026-02-10T16:31:53.025" v="126" actId="20577"/>
          <ac:spMkLst>
            <pc:docMk/>
            <pc:sldMk cId="138638350" sldId="284"/>
            <ac:spMk id="3" creationId="{F0D6E1AE-1FB7-D4F9-D6FF-C4D9CF442EF1}"/>
          </ac:spMkLst>
        </pc:spChg>
        <pc:spChg chg="add mod">
          <ac:chgData name="RIGAUD Marc-Antoine" userId="S::rigaudm@3il.fr::04979e41-c6cb-4bd2-b5d8-086700bbc436" providerId="AD" clId="Web-{8CB8F4E0-0CB5-8CC2-72B5-422683D7D866}" dt="2026-02-10T16:32:29.229" v="148" actId="20577"/>
          <ac:spMkLst>
            <pc:docMk/>
            <pc:sldMk cId="138638350" sldId="284"/>
            <ac:spMk id="4" creationId="{CD803830-CC79-382C-A920-76840F5E70F8}"/>
          </ac:spMkLst>
        </pc:spChg>
      </pc:sldChg>
    </pc:docChg>
  </pc:docChgLst>
  <pc:docChgLst>
    <pc:chgData name="DJUIKOM GAYAP Ange" userId="S::djuikoma@3il.fr::2a0d1ce9-cd98-4296-8b46-c184128ad4fe" providerId="AD" clId="Web-{5EA87DD1-C156-DD68-8876-F42DF5DBDB0D}"/>
    <pc:docChg chg="modSld">
      <pc:chgData name="DJUIKOM GAYAP Ange" userId="S::djuikoma@3il.fr::2a0d1ce9-cd98-4296-8b46-c184128ad4fe" providerId="AD" clId="Web-{5EA87DD1-C156-DD68-8876-F42DF5DBDB0D}" dt="2026-03-12T09:55:00.295" v="1" actId="1076"/>
      <pc:docMkLst>
        <pc:docMk/>
      </pc:docMkLst>
      <pc:sldChg chg="modSp">
        <pc:chgData name="DJUIKOM GAYAP Ange" userId="S::djuikoma@3il.fr::2a0d1ce9-cd98-4296-8b46-c184128ad4fe" providerId="AD" clId="Web-{5EA87DD1-C156-DD68-8876-F42DF5DBDB0D}" dt="2026-03-12T09:55:00.295" v="1" actId="1076"/>
        <pc:sldMkLst>
          <pc:docMk/>
          <pc:sldMk cId="0" sldId="264"/>
        </pc:sldMkLst>
        <pc:grpChg chg="mod">
          <ac:chgData name="DJUIKOM GAYAP Ange" userId="S::djuikoma@3il.fr::2a0d1ce9-cd98-4296-8b46-c184128ad4fe" providerId="AD" clId="Web-{5EA87DD1-C156-DD68-8876-F42DF5DBDB0D}" dt="2026-03-12T09:55:00.295" v="1" actId="1076"/>
          <ac:grpSpMkLst>
            <pc:docMk/>
            <pc:sldMk cId="0" sldId="264"/>
            <ac:grpSpMk id="32" creationId="{00000000-0000-0000-0000-000000000000}"/>
          </ac:grpSpMkLst>
        </pc:grpChg>
      </pc:sldChg>
    </pc:docChg>
  </pc:docChgLst>
  <pc:docChgLst>
    <pc:chgData name="PONOUWE FANKAMG Laurene" userId="S::ponouwel@3il.fr::aed18c87-de04-4a72-860e-ff9a1fd8e7d4" providerId="AD" clId="Web-{90EE3097-FD9B-D335-BD9E-40C198BDDA3A}"/>
    <pc:docChg chg="modSld">
      <pc:chgData name="PONOUWE FANKAMG Laurene" userId="S::ponouwel@3il.fr::aed18c87-de04-4a72-860e-ff9a1fd8e7d4" providerId="AD" clId="Web-{90EE3097-FD9B-D335-BD9E-40C198BDDA3A}" dt="2026-02-10T18:24:01.171" v="0"/>
      <pc:docMkLst>
        <pc:docMk/>
      </pc:docMkLst>
      <pc:sldChg chg="addSp modSp">
        <pc:chgData name="PONOUWE FANKAMG Laurene" userId="S::ponouwel@3il.fr::aed18c87-de04-4a72-860e-ff9a1fd8e7d4" providerId="AD" clId="Web-{90EE3097-FD9B-D335-BD9E-40C198BDDA3A}" dt="2026-02-10T18:24:01.171" v="0"/>
        <pc:sldMkLst>
          <pc:docMk/>
          <pc:sldMk cId="490997040" sldId="279"/>
        </pc:sldMkLst>
        <pc:picChg chg="add mod">
          <ac:chgData name="PONOUWE FANKAMG Laurene" userId="S::ponouwel@3il.fr::aed18c87-de04-4a72-860e-ff9a1fd8e7d4" providerId="AD" clId="Web-{90EE3097-FD9B-D335-BD9E-40C198BDDA3A}" dt="2026-02-10T18:24:01.171" v="0"/>
          <ac:picMkLst>
            <pc:docMk/>
            <pc:sldMk cId="490997040" sldId="279"/>
            <ac:picMk id="2" creationId="{C9A24625-2EB0-BE02-FE6B-1964822F0AE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5CB8B-1AF3-464F-AF86-EBBFE0E367F8}" type="datetimeFigureOut">
              <a:rPr lang="fr-FR" smtClean="0"/>
              <a:t>12/03/2026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E20DBE-4EE4-45A4-8E10-6B2D072985BE}" type="slidenum">
              <a:rPr lang="fr-FR" smtClean="0"/>
              <a:t>‹#›</a:t>
            </a:fld>
            <a:endParaRPr lang="fr-FR"/>
          </a:p>
        </p:txBody>
      </p:sp>
    </p:spTree>
    <p:extLst>
      <p:ext uri="{BB962C8B-B14F-4D97-AF65-F5344CB8AC3E}">
        <p14:creationId xmlns:p14="http://schemas.microsoft.com/office/powerpoint/2010/main" val="13586308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28E20DBE-4EE4-45A4-8E10-6B2D072985BE}" type="slidenum">
              <a:rPr lang="fr-FR" smtClean="0"/>
              <a:t>14</a:t>
            </a:fld>
            <a:endParaRPr lang="fr-FR"/>
          </a:p>
        </p:txBody>
      </p:sp>
    </p:spTree>
    <p:extLst>
      <p:ext uri="{BB962C8B-B14F-4D97-AF65-F5344CB8AC3E}">
        <p14:creationId xmlns:p14="http://schemas.microsoft.com/office/powerpoint/2010/main" val="3132978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A13"/>
        </a:solidFill>
        <a:effectLst/>
      </p:bgPr>
    </p:bg>
    <p:spTree>
      <p:nvGrpSpPr>
        <p:cNvPr id="1" name=""/>
        <p:cNvGrpSpPr/>
        <p:nvPr/>
      </p:nvGrpSpPr>
      <p:grpSpPr>
        <a:xfrm>
          <a:off x="0" y="0"/>
          <a:ext cx="0" cy="0"/>
          <a:chOff x="0" y="0"/>
          <a:chExt cx="0" cy="0"/>
        </a:xfrm>
      </p:grpSpPr>
      <p:pic>
        <p:nvPicPr>
          <p:cNvPr id="38" name="Image 37" descr="Une image contenant texte, logo, Police, Graphique&#10;&#10;Le contenu généré par l’IA peut être incorrect.">
            <a:extLst>
              <a:ext uri="{FF2B5EF4-FFF2-40B4-BE49-F238E27FC236}">
                <a16:creationId xmlns:a16="http://schemas.microsoft.com/office/drawing/2014/main" id="{9F301B35-82FB-B949-7A0A-EFF5AA7FE8E4}"/>
              </a:ext>
            </a:extLst>
          </p:cNvPr>
          <p:cNvPicPr>
            <a:picLocks noChangeAspect="1"/>
          </p:cNvPicPr>
          <p:nvPr/>
        </p:nvPicPr>
        <p:blipFill>
          <a:blip r:embed="rId2"/>
          <a:stretch>
            <a:fillRect/>
          </a:stretch>
        </p:blipFill>
        <p:spPr>
          <a:xfrm>
            <a:off x="10152596" y="0"/>
            <a:ext cx="8135404" cy="10313394"/>
          </a:xfrm>
          <a:prstGeom prst="rect">
            <a:avLst/>
          </a:prstGeom>
        </p:spPr>
      </p:pic>
      <p:sp>
        <p:nvSpPr>
          <p:cNvPr id="9" name="TextBox 9"/>
          <p:cNvSpPr txBox="1"/>
          <p:nvPr/>
        </p:nvSpPr>
        <p:spPr>
          <a:xfrm>
            <a:off x="8433855" y="3280898"/>
            <a:ext cx="1702842" cy="1862602"/>
          </a:xfrm>
          <a:prstGeom prst="rect">
            <a:avLst/>
          </a:prstGeom>
        </p:spPr>
        <p:txBody>
          <a:bodyPr lIns="50800" tIns="50800" rIns="50800" bIns="50800" rtlCol="0" anchor="ctr"/>
          <a:lstStyle/>
          <a:p>
            <a:pPr algn="ctr">
              <a:lnSpc>
                <a:spcPts val="2100"/>
              </a:lnSpc>
            </a:pPr>
            <a:endParaRPr/>
          </a:p>
        </p:txBody>
      </p:sp>
      <p:grpSp>
        <p:nvGrpSpPr>
          <p:cNvPr id="31" name="Group 31"/>
          <p:cNvGrpSpPr/>
          <p:nvPr/>
        </p:nvGrpSpPr>
        <p:grpSpPr>
          <a:xfrm>
            <a:off x="884496" y="1028700"/>
            <a:ext cx="4127776" cy="972719"/>
            <a:chOff x="0" y="0"/>
            <a:chExt cx="5503701" cy="1296958"/>
          </a:xfrm>
        </p:grpSpPr>
        <p:sp>
          <p:nvSpPr>
            <p:cNvPr id="32" name="Freeform 32"/>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33" name="TextBox 33"/>
            <p:cNvSpPr txBox="1"/>
            <p:nvPr/>
          </p:nvSpPr>
          <p:spPr>
            <a:xfrm>
              <a:off x="1177305" y="205207"/>
              <a:ext cx="4326396" cy="1091751"/>
            </a:xfrm>
            <a:prstGeom prst="rect">
              <a:avLst/>
            </a:prstGeom>
          </p:spPr>
          <p:txBody>
            <a:bodyPr lIns="0" tIns="0" rIns="0" bIns="0" rtlCol="0" anchor="t">
              <a:spAutoFit/>
            </a:bodyPr>
            <a:lstStyle/>
            <a:p>
              <a:pPr>
                <a:lnSpc>
                  <a:spcPts val="3081"/>
                </a:lnSpc>
                <a:spcBef>
                  <a:spcPct val="0"/>
                </a:spcBef>
              </a:pPr>
              <a:r>
                <a:rPr lang="en-US" sz="3200" b="1">
                  <a:solidFill>
                    <a:srgbClr val="FFF8ED"/>
                  </a:solidFill>
                  <a:latin typeface="Anantason Expanded Bold"/>
                  <a:ea typeface="Anantason Expanded Bold"/>
                  <a:cs typeface="Anantason Expanded Bold"/>
                </a:rPr>
                <a:t>TPGM CONSULTING</a:t>
              </a:r>
            </a:p>
          </p:txBody>
        </p:sp>
      </p:grpSp>
      <p:grpSp>
        <p:nvGrpSpPr>
          <p:cNvPr id="34" name="Group 34"/>
          <p:cNvGrpSpPr/>
          <p:nvPr/>
        </p:nvGrpSpPr>
        <p:grpSpPr>
          <a:xfrm>
            <a:off x="887782" y="2960812"/>
            <a:ext cx="8484818" cy="4396528"/>
            <a:chOff x="0" y="-47675"/>
            <a:chExt cx="11313090" cy="5862043"/>
          </a:xfrm>
        </p:grpSpPr>
        <p:sp>
          <p:nvSpPr>
            <p:cNvPr id="35" name="TextBox 35"/>
            <p:cNvSpPr txBox="1"/>
            <p:nvPr/>
          </p:nvSpPr>
          <p:spPr>
            <a:xfrm>
              <a:off x="0" y="5109046"/>
              <a:ext cx="8793101" cy="705322"/>
            </a:xfrm>
            <a:prstGeom prst="rect">
              <a:avLst/>
            </a:prstGeom>
          </p:spPr>
          <p:txBody>
            <a:bodyPr wrap="square" lIns="0" tIns="0" rIns="0" bIns="0" rtlCol="0" anchor="t">
              <a:spAutoFit/>
            </a:bodyPr>
            <a:lstStyle/>
            <a:p>
              <a:pPr>
                <a:lnSpc>
                  <a:spcPts val="3919"/>
                </a:lnSpc>
              </a:pPr>
              <a:r>
                <a:rPr lang="en-US" sz="4000">
                  <a:solidFill>
                    <a:srgbClr val="FFF8ED"/>
                  </a:solidFill>
                  <a:latin typeface="Titillium Web"/>
                  <a:ea typeface="Titillium Web"/>
                  <a:cs typeface="Titillium Web"/>
                </a:rPr>
                <a:t>TPGM CONSULTING</a:t>
              </a:r>
              <a:endParaRPr lang="en-US" sz="4000">
                <a:solidFill>
                  <a:srgbClr val="FFF8ED"/>
                </a:solidFill>
                <a:latin typeface="Titillium Web"/>
                <a:ea typeface="Titillium Web"/>
                <a:cs typeface="Titillium Web"/>
                <a:sym typeface="Titillium Web"/>
              </a:endParaRPr>
            </a:p>
          </p:txBody>
        </p:sp>
        <p:sp>
          <p:nvSpPr>
            <p:cNvPr id="36" name="TextBox 36"/>
            <p:cNvSpPr txBox="1"/>
            <p:nvPr/>
          </p:nvSpPr>
          <p:spPr>
            <a:xfrm>
              <a:off x="0" y="-47675"/>
              <a:ext cx="8814906" cy="510396"/>
            </a:xfrm>
            <a:prstGeom prst="rect">
              <a:avLst/>
            </a:prstGeom>
          </p:spPr>
          <p:txBody>
            <a:bodyPr lIns="0" tIns="0" rIns="0" bIns="0" rtlCol="0" anchor="t">
              <a:spAutoFit/>
            </a:bodyPr>
            <a:lstStyle/>
            <a:p>
              <a:pPr algn="just">
                <a:lnSpc>
                  <a:spcPts val="3079"/>
                </a:lnSpc>
              </a:pPr>
              <a:endParaRPr lang="en-US" sz="2150">
                <a:solidFill>
                  <a:srgbClr val="FFF8ED"/>
                </a:solidFill>
                <a:latin typeface="Titillium Web"/>
                <a:ea typeface="Titillium Web"/>
                <a:cs typeface="Titillium Web"/>
              </a:endParaRPr>
            </a:p>
          </p:txBody>
        </p:sp>
        <p:sp>
          <p:nvSpPr>
            <p:cNvPr id="37" name="TextBox 37"/>
            <p:cNvSpPr txBox="1"/>
            <p:nvPr/>
          </p:nvSpPr>
          <p:spPr>
            <a:xfrm>
              <a:off x="0" y="992195"/>
              <a:ext cx="11313090" cy="1966353"/>
            </a:xfrm>
            <a:prstGeom prst="rect">
              <a:avLst/>
            </a:prstGeom>
          </p:spPr>
          <p:txBody>
            <a:bodyPr wrap="square" lIns="0" tIns="0" rIns="0" bIns="0" rtlCol="0" anchor="t">
              <a:spAutoFit/>
            </a:bodyPr>
            <a:lstStyle/>
            <a:p>
              <a:pPr>
                <a:lnSpc>
                  <a:spcPts val="11459"/>
                </a:lnSpc>
              </a:pPr>
              <a:endParaRPr lang="en-US" sz="9500">
                <a:solidFill>
                  <a:srgbClr val="FFF8ED"/>
                </a:solidFill>
                <a:latin typeface="Anantason Expanded"/>
                <a:ea typeface="Anantason Expanded"/>
                <a:cs typeface="Anantason Expanded"/>
              </a:endParaRPr>
            </a:p>
          </p:txBody>
        </p:sp>
      </p:grpSp>
      <p:sp>
        <p:nvSpPr>
          <p:cNvPr id="2" name="ZoneTexte 1">
            <a:extLst>
              <a:ext uri="{FF2B5EF4-FFF2-40B4-BE49-F238E27FC236}">
                <a16:creationId xmlns:a16="http://schemas.microsoft.com/office/drawing/2014/main" id="{EC90F056-1C76-C1A8-CB67-246F06528581}"/>
              </a:ext>
            </a:extLst>
          </p:cNvPr>
          <p:cNvSpPr txBox="1"/>
          <p:nvPr/>
        </p:nvSpPr>
        <p:spPr>
          <a:xfrm>
            <a:off x="762000" y="3501138"/>
            <a:ext cx="7283917" cy="3016210"/>
          </a:xfrm>
          <a:prstGeom prst="rect">
            <a:avLst/>
          </a:prstGeom>
          <a:noFill/>
        </p:spPr>
        <p:txBody>
          <a:bodyPr wrap="none" rtlCol="0">
            <a:spAutoFit/>
          </a:bodyPr>
          <a:lstStyle/>
          <a:p>
            <a:r>
              <a:rPr lang="fr-FR" sz="9500">
                <a:solidFill>
                  <a:schemeClr val="bg1"/>
                </a:solidFill>
                <a:latin typeface="Anantason Expanded" panose="020B0604020202020204" charset="-34"/>
                <a:cs typeface="Anantason Expanded" panose="020B0604020202020204" charset="-34"/>
              </a:rPr>
              <a:t>Profil de </a:t>
            </a:r>
          </a:p>
          <a:p>
            <a:r>
              <a:rPr lang="fr-FR" sz="9500">
                <a:solidFill>
                  <a:schemeClr val="bg1"/>
                </a:solidFill>
                <a:latin typeface="Anantason Expanded" panose="020B0604020202020204" charset="-34"/>
                <a:cs typeface="Anantason Expanded" panose="020B0604020202020204" charset="-34"/>
              </a:rPr>
              <a:t>L’entreprise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grpSp>
        <p:nvGrpSpPr>
          <p:cNvPr id="2" name="Group 2"/>
          <p:cNvGrpSpPr/>
          <p:nvPr/>
        </p:nvGrpSpPr>
        <p:grpSpPr>
          <a:xfrm>
            <a:off x="0" y="-19087"/>
            <a:ext cx="18288000" cy="4665956"/>
            <a:chOff x="0" y="0"/>
            <a:chExt cx="4816593" cy="1228894"/>
          </a:xfrm>
        </p:grpSpPr>
        <p:sp>
          <p:nvSpPr>
            <p:cNvPr id="3" name="Freeform 3"/>
            <p:cNvSpPr/>
            <p:nvPr/>
          </p:nvSpPr>
          <p:spPr>
            <a:xfrm>
              <a:off x="0" y="0"/>
              <a:ext cx="4816592" cy="1228894"/>
            </a:xfrm>
            <a:custGeom>
              <a:avLst/>
              <a:gdLst/>
              <a:ahLst/>
              <a:cxnLst/>
              <a:rect l="l" t="t" r="r" b="b"/>
              <a:pathLst>
                <a:path w="4816592" h="1228894">
                  <a:moveTo>
                    <a:pt x="0" y="0"/>
                  </a:moveTo>
                  <a:lnTo>
                    <a:pt x="4816592" y="0"/>
                  </a:lnTo>
                  <a:lnTo>
                    <a:pt x="4816592" y="1228894"/>
                  </a:lnTo>
                  <a:lnTo>
                    <a:pt x="0" y="1228894"/>
                  </a:lnTo>
                  <a:close/>
                </a:path>
              </a:pathLst>
            </a:custGeom>
            <a:solidFill>
              <a:srgbClr val="001A13"/>
            </a:solidFill>
          </p:spPr>
          <p:txBody>
            <a:bodyPr/>
            <a:lstStyle/>
            <a:p>
              <a:endParaRPr lang="fr-FR"/>
            </a:p>
          </p:txBody>
        </p:sp>
        <p:sp>
          <p:nvSpPr>
            <p:cNvPr id="4" name="TextBox 4"/>
            <p:cNvSpPr txBox="1"/>
            <p:nvPr/>
          </p:nvSpPr>
          <p:spPr>
            <a:xfrm>
              <a:off x="0" y="-38100"/>
              <a:ext cx="4816593" cy="1266994"/>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715751" y="6218042"/>
            <a:ext cx="2429727" cy="820738"/>
          </a:xfrm>
          <a:prstGeom prst="rect">
            <a:avLst/>
          </a:prstGeom>
        </p:spPr>
        <p:txBody>
          <a:bodyPr lIns="0" tIns="0" rIns="0" bIns="0" rtlCol="0" anchor="t">
            <a:spAutoFit/>
          </a:bodyPr>
          <a:lstStyle/>
          <a:p>
            <a:pPr algn="ctr">
              <a:lnSpc>
                <a:spcPts val="3239"/>
              </a:lnSpc>
            </a:pPr>
            <a:r>
              <a:rPr lang="en-US" sz="2650">
                <a:solidFill>
                  <a:srgbClr val="044D3A"/>
                </a:solidFill>
                <a:latin typeface="Anantason Expanded"/>
                <a:ea typeface="Anantason Expanded"/>
                <a:cs typeface="Anantason Expanded"/>
              </a:rPr>
              <a:t>Francine TCHUINTE</a:t>
            </a:r>
          </a:p>
        </p:txBody>
      </p:sp>
      <p:sp>
        <p:nvSpPr>
          <p:cNvPr id="6" name="TextBox 6"/>
          <p:cNvSpPr txBox="1"/>
          <p:nvPr/>
        </p:nvSpPr>
        <p:spPr>
          <a:xfrm>
            <a:off x="1917458" y="7250862"/>
            <a:ext cx="2429727" cy="384721"/>
          </a:xfrm>
          <a:prstGeom prst="rect">
            <a:avLst/>
          </a:prstGeom>
        </p:spPr>
        <p:txBody>
          <a:bodyPr lIns="0" tIns="0" rIns="0" bIns="0" rtlCol="0" anchor="t">
            <a:spAutoFit/>
          </a:bodyPr>
          <a:lstStyle/>
          <a:p>
            <a:pPr algn="ctr">
              <a:lnSpc>
                <a:spcPts val="2999"/>
              </a:lnSpc>
            </a:pPr>
            <a:r>
              <a:rPr lang="en-US" sz="2450">
                <a:solidFill>
                  <a:srgbClr val="001A13"/>
                </a:solidFill>
                <a:latin typeface="Titillium Web"/>
                <a:ea typeface="Titillium Web"/>
                <a:cs typeface="Titillium Web"/>
              </a:rPr>
              <a:t>CHEF DE PROJET</a:t>
            </a:r>
            <a:endParaRPr lang="en-US" sz="2499">
              <a:solidFill>
                <a:srgbClr val="001A13"/>
              </a:solidFill>
              <a:latin typeface="Titillium Web"/>
              <a:ea typeface="Titillium Web"/>
              <a:cs typeface="Titillium Web"/>
              <a:sym typeface="Titillium Web"/>
            </a:endParaRPr>
          </a:p>
        </p:txBody>
      </p:sp>
      <p:sp>
        <p:nvSpPr>
          <p:cNvPr id="7" name="TextBox 7"/>
          <p:cNvSpPr txBox="1"/>
          <p:nvPr/>
        </p:nvSpPr>
        <p:spPr>
          <a:xfrm>
            <a:off x="14586264" y="7250861"/>
            <a:ext cx="2513771" cy="388284"/>
          </a:xfrm>
          <a:prstGeom prst="rect">
            <a:avLst/>
          </a:prstGeom>
        </p:spPr>
        <p:txBody>
          <a:bodyPr wrap="square" lIns="0" tIns="0" rIns="0" bIns="0" rtlCol="0" anchor="t">
            <a:spAutoFit/>
          </a:bodyPr>
          <a:lstStyle/>
          <a:p>
            <a:pPr algn="ctr">
              <a:lnSpc>
                <a:spcPts val="2999"/>
              </a:lnSpc>
            </a:pPr>
            <a:r>
              <a:rPr lang="en-US" sz="2450">
                <a:solidFill>
                  <a:srgbClr val="001A13"/>
                </a:solidFill>
                <a:latin typeface="Titillium Web"/>
                <a:ea typeface="Titillium Web"/>
                <a:cs typeface="Titillium Web"/>
              </a:rPr>
              <a:t>IT Manager</a:t>
            </a:r>
            <a:endParaRPr lang="en-US" sz="2499">
              <a:solidFill>
                <a:srgbClr val="001A13"/>
              </a:solidFill>
              <a:latin typeface="Titillium Web"/>
              <a:ea typeface="Titillium Web"/>
              <a:cs typeface="Titillium Web"/>
              <a:sym typeface="Titillium Web"/>
            </a:endParaRPr>
          </a:p>
        </p:txBody>
      </p:sp>
      <p:sp>
        <p:nvSpPr>
          <p:cNvPr id="8" name="TextBox 8"/>
          <p:cNvSpPr txBox="1"/>
          <p:nvPr/>
        </p:nvSpPr>
        <p:spPr>
          <a:xfrm>
            <a:off x="14535821" y="6218042"/>
            <a:ext cx="2429727" cy="820738"/>
          </a:xfrm>
          <a:prstGeom prst="rect">
            <a:avLst/>
          </a:prstGeom>
        </p:spPr>
        <p:txBody>
          <a:bodyPr lIns="0" tIns="0" rIns="0" bIns="0" rtlCol="0" anchor="t">
            <a:spAutoFit/>
          </a:bodyPr>
          <a:lstStyle/>
          <a:p>
            <a:pPr algn="ctr">
              <a:lnSpc>
                <a:spcPts val="3239"/>
              </a:lnSpc>
              <a:spcBef>
                <a:spcPct val="0"/>
              </a:spcBef>
            </a:pPr>
            <a:r>
              <a:rPr lang="en-US" sz="2650">
                <a:solidFill>
                  <a:srgbClr val="044D3A"/>
                </a:solidFill>
                <a:latin typeface="Anantason Expanded"/>
                <a:ea typeface="Anantason Expanded"/>
                <a:cs typeface="Anantason Expanded"/>
              </a:rPr>
              <a:t>Marc-antoine RIGAUD</a:t>
            </a:r>
            <a:endParaRPr lang="en-US" sz="2699" u="none">
              <a:solidFill>
                <a:srgbClr val="044D3A"/>
              </a:solidFill>
              <a:latin typeface="Anantason Expanded"/>
              <a:ea typeface="Anantason Expanded"/>
              <a:cs typeface="Anantason Expanded"/>
              <a:sym typeface="Anantason Expanded"/>
            </a:endParaRPr>
          </a:p>
        </p:txBody>
      </p:sp>
      <p:sp>
        <p:nvSpPr>
          <p:cNvPr id="11" name="TextBox 11"/>
          <p:cNvSpPr txBox="1"/>
          <p:nvPr/>
        </p:nvSpPr>
        <p:spPr>
          <a:xfrm>
            <a:off x="9838686" y="7250861"/>
            <a:ext cx="2429727" cy="769441"/>
          </a:xfrm>
          <a:prstGeom prst="rect">
            <a:avLst/>
          </a:prstGeom>
        </p:spPr>
        <p:txBody>
          <a:bodyPr lIns="0" tIns="0" rIns="0" bIns="0" rtlCol="0" anchor="t">
            <a:spAutoFit/>
          </a:bodyPr>
          <a:lstStyle/>
          <a:p>
            <a:pPr algn="ctr">
              <a:lnSpc>
                <a:spcPts val="2999"/>
              </a:lnSpc>
            </a:pPr>
            <a:r>
              <a:rPr lang="en-US" sz="2450">
                <a:solidFill>
                  <a:srgbClr val="001A13"/>
                </a:solidFill>
                <a:latin typeface="Titillium Web"/>
                <a:ea typeface="Titillium Web"/>
                <a:cs typeface="Titillium Web"/>
              </a:rPr>
              <a:t>Business and Support client</a:t>
            </a:r>
            <a:endParaRPr lang="en-US" sz="2499">
              <a:solidFill>
                <a:srgbClr val="001A13"/>
              </a:solidFill>
              <a:latin typeface="Titillium Web"/>
              <a:ea typeface="Titillium Web"/>
              <a:cs typeface="Titillium Web"/>
              <a:sym typeface="Titillium Web"/>
            </a:endParaRPr>
          </a:p>
        </p:txBody>
      </p:sp>
      <p:sp>
        <p:nvSpPr>
          <p:cNvPr id="12" name="TextBox 12"/>
          <p:cNvSpPr txBox="1"/>
          <p:nvPr/>
        </p:nvSpPr>
        <p:spPr>
          <a:xfrm>
            <a:off x="10047047" y="6218042"/>
            <a:ext cx="2429727" cy="820738"/>
          </a:xfrm>
          <a:prstGeom prst="rect">
            <a:avLst/>
          </a:prstGeom>
        </p:spPr>
        <p:txBody>
          <a:bodyPr lIns="0" tIns="0" rIns="0" bIns="0" rtlCol="0" anchor="t">
            <a:spAutoFit/>
          </a:bodyPr>
          <a:lstStyle/>
          <a:p>
            <a:pPr algn="ctr">
              <a:lnSpc>
                <a:spcPts val="3239"/>
              </a:lnSpc>
              <a:spcBef>
                <a:spcPct val="0"/>
              </a:spcBef>
            </a:pPr>
            <a:r>
              <a:rPr lang="en-US" sz="2650">
                <a:solidFill>
                  <a:srgbClr val="044D3A"/>
                </a:solidFill>
                <a:latin typeface="Anantason Expanded"/>
                <a:ea typeface="Anantason Expanded"/>
                <a:cs typeface="Anantason Expanded"/>
              </a:rPr>
              <a:t>Laurene PONOUWE</a:t>
            </a:r>
            <a:endParaRPr lang="en-US" sz="2699" u="none">
              <a:solidFill>
                <a:srgbClr val="044D3A"/>
              </a:solidFill>
              <a:latin typeface="Anantason Expanded"/>
              <a:ea typeface="Anantason Expanded"/>
              <a:cs typeface="Anantason Expanded"/>
              <a:sym typeface="Anantason Expanded"/>
            </a:endParaRPr>
          </a:p>
        </p:txBody>
      </p:sp>
      <p:sp>
        <p:nvSpPr>
          <p:cNvPr id="13" name="TextBox 13"/>
          <p:cNvSpPr txBox="1"/>
          <p:nvPr/>
        </p:nvSpPr>
        <p:spPr>
          <a:xfrm>
            <a:off x="5811227" y="7234052"/>
            <a:ext cx="2429727" cy="384721"/>
          </a:xfrm>
          <a:prstGeom prst="rect">
            <a:avLst/>
          </a:prstGeom>
        </p:spPr>
        <p:txBody>
          <a:bodyPr lIns="0" tIns="0" rIns="0" bIns="0" rtlCol="0" anchor="t">
            <a:spAutoFit/>
          </a:bodyPr>
          <a:lstStyle/>
          <a:p>
            <a:pPr algn="ctr">
              <a:lnSpc>
                <a:spcPts val="2999"/>
              </a:lnSpc>
            </a:pPr>
            <a:r>
              <a:rPr lang="en-US" sz="2450">
                <a:solidFill>
                  <a:srgbClr val="001A13"/>
                </a:solidFill>
                <a:latin typeface="Titillium Web"/>
                <a:ea typeface="Titillium Web"/>
                <a:cs typeface="Titillium Web"/>
              </a:rPr>
              <a:t>Analyste SOC</a:t>
            </a:r>
          </a:p>
        </p:txBody>
      </p:sp>
      <p:sp>
        <p:nvSpPr>
          <p:cNvPr id="14" name="TextBox 14"/>
          <p:cNvSpPr txBox="1"/>
          <p:nvPr/>
        </p:nvSpPr>
        <p:spPr>
          <a:xfrm>
            <a:off x="5811227" y="6218042"/>
            <a:ext cx="2429727" cy="820738"/>
          </a:xfrm>
          <a:prstGeom prst="rect">
            <a:avLst/>
          </a:prstGeom>
        </p:spPr>
        <p:txBody>
          <a:bodyPr lIns="0" tIns="0" rIns="0" bIns="0" rtlCol="0" anchor="t">
            <a:spAutoFit/>
          </a:bodyPr>
          <a:lstStyle/>
          <a:p>
            <a:pPr algn="ctr">
              <a:lnSpc>
                <a:spcPts val="3239"/>
              </a:lnSpc>
              <a:spcBef>
                <a:spcPct val="0"/>
              </a:spcBef>
            </a:pPr>
            <a:r>
              <a:rPr lang="en-US" sz="2650">
                <a:solidFill>
                  <a:srgbClr val="044D3A"/>
                </a:solidFill>
                <a:latin typeface="Anantason Expanded"/>
                <a:ea typeface="Anantason Expanded"/>
                <a:cs typeface="Anantason Expanded"/>
              </a:rPr>
              <a:t>Ange DJUIKOM</a:t>
            </a:r>
            <a:endParaRPr lang="en-US" sz="2699" u="none">
              <a:solidFill>
                <a:srgbClr val="044D3A"/>
              </a:solidFill>
              <a:latin typeface="Anantason Expanded"/>
              <a:ea typeface="Anantason Expanded"/>
              <a:cs typeface="Anantason Expanded"/>
              <a:sym typeface="Anantason Expanded"/>
            </a:endParaRPr>
          </a:p>
        </p:txBody>
      </p:sp>
      <p:sp>
        <p:nvSpPr>
          <p:cNvPr id="15" name="TextBox 15"/>
          <p:cNvSpPr txBox="1"/>
          <p:nvPr/>
        </p:nvSpPr>
        <p:spPr>
          <a:xfrm>
            <a:off x="1028700" y="9254443"/>
            <a:ext cx="2891643" cy="291465"/>
          </a:xfrm>
          <a:prstGeom prst="rect">
            <a:avLst/>
          </a:prstGeom>
        </p:spPr>
        <p:txBody>
          <a:bodyPr lIns="0" tIns="0" rIns="0" bIns="0" rtlCol="0" anchor="t">
            <a:spAutoFit/>
          </a:bodyPr>
          <a:lstStyle/>
          <a:p>
            <a:pPr marL="0" lvl="0" indent="0" algn="l">
              <a:lnSpc>
                <a:spcPts val="2340"/>
              </a:lnSpc>
              <a:spcBef>
                <a:spcPct val="0"/>
              </a:spcBef>
            </a:pPr>
            <a:r>
              <a:rPr lang="en-US" sz="1800" b="1">
                <a:solidFill>
                  <a:srgbClr val="001A13"/>
                </a:solidFill>
                <a:latin typeface="Titillium Web Semi-Bold"/>
                <a:ea typeface="Titillium Web Semi-Bold"/>
                <a:cs typeface="Titillium Web Semi-Bold"/>
                <a:sym typeface="Titillium Web Semi-Bold"/>
              </a:rPr>
              <a:t>Retour à la vue d'ensemble</a:t>
            </a:r>
          </a:p>
        </p:txBody>
      </p:sp>
      <p:grpSp>
        <p:nvGrpSpPr>
          <p:cNvPr id="16" name="Group 16"/>
          <p:cNvGrpSpPr/>
          <p:nvPr/>
        </p:nvGrpSpPr>
        <p:grpSpPr>
          <a:xfrm>
            <a:off x="903440" y="489200"/>
            <a:ext cx="16230600" cy="1648461"/>
            <a:chOff x="0" y="-9525"/>
            <a:chExt cx="21640800" cy="2197949"/>
          </a:xfrm>
        </p:grpSpPr>
        <p:sp>
          <p:nvSpPr>
            <p:cNvPr id="17" name="TextBox 17"/>
            <p:cNvSpPr txBox="1"/>
            <p:nvPr/>
          </p:nvSpPr>
          <p:spPr>
            <a:xfrm>
              <a:off x="0" y="-9525"/>
              <a:ext cx="21640800" cy="1330325"/>
            </a:xfrm>
            <a:prstGeom prst="rect">
              <a:avLst/>
            </a:prstGeom>
          </p:spPr>
          <p:txBody>
            <a:bodyPr lIns="0" tIns="0" rIns="0" bIns="0" rtlCol="0" anchor="t">
              <a:spAutoFit/>
            </a:bodyPr>
            <a:lstStyle/>
            <a:p>
              <a:pPr algn="ctr">
                <a:lnSpc>
                  <a:spcPts val="7800"/>
                </a:lnSpc>
              </a:pPr>
              <a:r>
                <a:rPr lang="en-US" sz="6500">
                  <a:solidFill>
                    <a:srgbClr val="FFF8ED"/>
                  </a:solidFill>
                  <a:latin typeface="Anantason Expanded"/>
                  <a:ea typeface="Anantason Expanded"/>
                  <a:cs typeface="Anantason Expanded"/>
                  <a:sym typeface="Anantason Expanded"/>
                </a:rPr>
                <a:t>Notre équipe de direction</a:t>
              </a:r>
            </a:p>
          </p:txBody>
        </p:sp>
        <p:sp>
          <p:nvSpPr>
            <p:cNvPr id="18" name="TextBox 18"/>
            <p:cNvSpPr txBox="1"/>
            <p:nvPr/>
          </p:nvSpPr>
          <p:spPr>
            <a:xfrm>
              <a:off x="0" y="1565176"/>
              <a:ext cx="21640800" cy="623248"/>
            </a:xfrm>
            <a:prstGeom prst="rect">
              <a:avLst/>
            </a:prstGeom>
          </p:spPr>
          <p:txBody>
            <a:bodyPr lIns="0" tIns="0" rIns="0" bIns="0" rtlCol="0" anchor="t">
              <a:spAutoFit/>
            </a:bodyPr>
            <a:lstStyle/>
            <a:p>
              <a:pPr marL="0" lvl="0" indent="0" algn="ctr">
                <a:lnSpc>
                  <a:spcPts val="3779"/>
                </a:lnSpc>
                <a:spcBef>
                  <a:spcPct val="0"/>
                </a:spcBef>
              </a:pPr>
              <a:endParaRPr lang="en-US" sz="2650">
                <a:solidFill>
                  <a:srgbClr val="FFF8ED"/>
                </a:solidFill>
                <a:latin typeface="Titillium Web"/>
                <a:ea typeface="Titillium Web"/>
                <a:cs typeface="Titillium Web"/>
              </a:endParaRPr>
            </a:p>
          </p:txBody>
        </p:sp>
      </p:grpSp>
      <p:grpSp>
        <p:nvGrpSpPr>
          <p:cNvPr id="19" name="Group 19"/>
          <p:cNvGrpSpPr/>
          <p:nvPr/>
        </p:nvGrpSpPr>
        <p:grpSpPr>
          <a:xfrm>
            <a:off x="1288018" y="2749688"/>
            <a:ext cx="3322205" cy="3097508"/>
            <a:chOff x="0" y="0"/>
            <a:chExt cx="3239636" cy="3253186"/>
          </a:xfrm>
        </p:grpSpPr>
        <p:pic>
          <p:nvPicPr>
            <p:cNvPr id="20" name="Picture 20" descr="Une image contenant Visage humain, habits, personne, mur&#10;&#10;Le contenu généré par l’IA peut être incorrect."/>
            <p:cNvPicPr>
              <a:picLocks noChangeAspect="1"/>
            </p:cNvPicPr>
            <p:nvPr/>
          </p:nvPicPr>
          <p:blipFill>
            <a:blip r:embed="rId2"/>
            <a:srcRect t="15028" b="15028"/>
            <a:stretch>
              <a:fillRect/>
            </a:stretch>
          </p:blipFill>
          <p:spPr>
            <a:xfrm>
              <a:off x="0" y="0"/>
              <a:ext cx="3239636" cy="3253186"/>
            </a:xfrm>
            <a:prstGeom prst="rect">
              <a:avLst/>
            </a:prstGeom>
          </p:spPr>
        </p:pic>
      </p:grpSp>
      <p:grpSp>
        <p:nvGrpSpPr>
          <p:cNvPr id="21" name="Group 21"/>
          <p:cNvGrpSpPr/>
          <p:nvPr/>
        </p:nvGrpSpPr>
        <p:grpSpPr>
          <a:xfrm>
            <a:off x="5373527" y="2841561"/>
            <a:ext cx="3303785" cy="3112244"/>
            <a:chOff x="0" y="0"/>
            <a:chExt cx="3239636" cy="3253186"/>
          </a:xfrm>
        </p:grpSpPr>
        <p:pic>
          <p:nvPicPr>
            <p:cNvPr id="22" name="Picture 22" descr="Une image contenant Visage humain, personne, habits, lunettes&#10;&#10;Le contenu généré par l’IA peut être incorrect."/>
            <p:cNvPicPr>
              <a:picLocks noChangeAspect="1"/>
            </p:cNvPicPr>
            <p:nvPr/>
          </p:nvPicPr>
          <p:blipFill>
            <a:blip r:embed="rId3"/>
            <a:srcRect t="12363" b="12363"/>
            <a:stretch>
              <a:fillRect/>
            </a:stretch>
          </p:blipFill>
          <p:spPr>
            <a:xfrm>
              <a:off x="0" y="0"/>
              <a:ext cx="3239636" cy="3253186"/>
            </a:xfrm>
            <a:prstGeom prst="rect">
              <a:avLst/>
            </a:prstGeom>
          </p:spPr>
        </p:pic>
      </p:grpSp>
      <p:grpSp>
        <p:nvGrpSpPr>
          <p:cNvPr id="23" name="Group 23"/>
          <p:cNvGrpSpPr/>
          <p:nvPr/>
        </p:nvGrpSpPr>
        <p:grpSpPr>
          <a:xfrm>
            <a:off x="9657557" y="2848240"/>
            <a:ext cx="3306548" cy="3097505"/>
            <a:chOff x="0" y="0"/>
            <a:chExt cx="3239636" cy="3253186"/>
          </a:xfrm>
        </p:grpSpPr>
        <p:pic>
          <p:nvPicPr>
            <p:cNvPr id="24" name="Picture 24" descr="Une image contenant Visage humain, personne, mur, sourire&#10;&#10;Le contenu généré par l’IA peut être incorrect."/>
            <p:cNvPicPr>
              <a:picLocks noChangeAspect="1"/>
            </p:cNvPicPr>
            <p:nvPr/>
          </p:nvPicPr>
          <p:blipFill>
            <a:blip r:embed="rId4"/>
            <a:srcRect t="12343" b="12343"/>
            <a:stretch>
              <a:fillRect/>
            </a:stretch>
          </p:blipFill>
          <p:spPr>
            <a:xfrm>
              <a:off x="0" y="0"/>
              <a:ext cx="3239636" cy="3253186"/>
            </a:xfrm>
            <a:prstGeom prst="rect">
              <a:avLst/>
            </a:prstGeom>
          </p:spPr>
        </p:pic>
      </p:grpSp>
      <p:grpSp>
        <p:nvGrpSpPr>
          <p:cNvPr id="29" name="Group 29"/>
          <p:cNvGrpSpPr/>
          <p:nvPr/>
        </p:nvGrpSpPr>
        <p:grpSpPr>
          <a:xfrm rot="-5400000">
            <a:off x="16546264" y="566894"/>
            <a:ext cx="2330633" cy="1177794"/>
            <a:chOff x="0" y="0"/>
            <a:chExt cx="872783" cy="441064"/>
          </a:xfrm>
        </p:grpSpPr>
        <p:sp>
          <p:nvSpPr>
            <p:cNvPr id="30" name="Freeform 30"/>
            <p:cNvSpPr/>
            <p:nvPr/>
          </p:nvSpPr>
          <p:spPr>
            <a:xfrm>
              <a:off x="0" y="0"/>
              <a:ext cx="872783" cy="441064"/>
            </a:xfrm>
            <a:custGeom>
              <a:avLst/>
              <a:gdLst/>
              <a:ahLst/>
              <a:cxnLst/>
              <a:rect l="l" t="t" r="r" b="b"/>
              <a:pathLst>
                <a:path w="872783" h="441064">
                  <a:moveTo>
                    <a:pt x="0" y="0"/>
                  </a:moveTo>
                  <a:lnTo>
                    <a:pt x="872783" y="0"/>
                  </a:lnTo>
                  <a:lnTo>
                    <a:pt x="872783" y="441064"/>
                  </a:lnTo>
                  <a:lnTo>
                    <a:pt x="0" y="441064"/>
                  </a:lnTo>
                  <a:close/>
                </a:path>
              </a:pathLst>
            </a:custGeom>
            <a:solidFill>
              <a:srgbClr val="96EA9A"/>
            </a:solidFill>
          </p:spPr>
          <p:txBody>
            <a:bodyPr/>
            <a:lstStyle/>
            <a:p>
              <a:endParaRPr lang="fr-FR"/>
            </a:p>
          </p:txBody>
        </p:sp>
        <p:sp>
          <p:nvSpPr>
            <p:cNvPr id="31" name="TextBox 31"/>
            <p:cNvSpPr txBox="1"/>
            <p:nvPr/>
          </p:nvSpPr>
          <p:spPr>
            <a:xfrm>
              <a:off x="0" y="-38100"/>
              <a:ext cx="872783" cy="479164"/>
            </a:xfrm>
            <a:prstGeom prst="rect">
              <a:avLst/>
            </a:prstGeom>
          </p:spPr>
          <p:txBody>
            <a:bodyPr lIns="50800" tIns="50800" rIns="50800" bIns="50800" rtlCol="0" anchor="ctr"/>
            <a:lstStyle/>
            <a:p>
              <a:pPr algn="ctr">
                <a:lnSpc>
                  <a:spcPts val="2100"/>
                </a:lnSpc>
              </a:pPr>
              <a:endParaRPr/>
            </a:p>
          </p:txBody>
        </p:sp>
      </p:grpSp>
      <p:grpSp>
        <p:nvGrpSpPr>
          <p:cNvPr id="32" name="Group 32"/>
          <p:cNvGrpSpPr/>
          <p:nvPr/>
        </p:nvGrpSpPr>
        <p:grpSpPr>
          <a:xfrm rot="16200000">
            <a:off x="16246836" y="-33444"/>
            <a:ext cx="1160848" cy="1177794"/>
            <a:chOff x="0" y="0"/>
            <a:chExt cx="434718" cy="441064"/>
          </a:xfrm>
        </p:grpSpPr>
        <p:sp>
          <p:nvSpPr>
            <p:cNvPr id="33" name="Freeform 33"/>
            <p:cNvSpPr/>
            <p:nvPr/>
          </p:nvSpPr>
          <p:spPr>
            <a:xfrm>
              <a:off x="0" y="0"/>
              <a:ext cx="434718" cy="441064"/>
            </a:xfrm>
            <a:custGeom>
              <a:avLst/>
              <a:gdLst/>
              <a:ahLst/>
              <a:cxnLst/>
              <a:rect l="l" t="t" r="r" b="b"/>
              <a:pathLst>
                <a:path w="434718" h="441064">
                  <a:moveTo>
                    <a:pt x="0" y="0"/>
                  </a:moveTo>
                  <a:lnTo>
                    <a:pt x="434718" y="0"/>
                  </a:lnTo>
                  <a:lnTo>
                    <a:pt x="434718" y="441064"/>
                  </a:lnTo>
                  <a:lnTo>
                    <a:pt x="0" y="441064"/>
                  </a:lnTo>
                  <a:close/>
                </a:path>
              </a:pathLst>
            </a:custGeom>
            <a:solidFill>
              <a:srgbClr val="00BF85"/>
            </a:solidFill>
          </p:spPr>
          <p:txBody>
            <a:bodyPr/>
            <a:lstStyle/>
            <a:p>
              <a:endParaRPr lang="fr-FR"/>
            </a:p>
          </p:txBody>
        </p:sp>
        <p:sp>
          <p:nvSpPr>
            <p:cNvPr id="34" name="TextBox 34"/>
            <p:cNvSpPr txBox="1"/>
            <p:nvPr/>
          </p:nvSpPr>
          <p:spPr>
            <a:xfrm>
              <a:off x="0" y="-38100"/>
              <a:ext cx="434718" cy="479164"/>
            </a:xfrm>
            <a:prstGeom prst="rect">
              <a:avLst/>
            </a:prstGeom>
          </p:spPr>
          <p:txBody>
            <a:bodyPr lIns="50800" tIns="50800" rIns="50800" bIns="50800" rtlCol="0" anchor="ctr"/>
            <a:lstStyle/>
            <a:p>
              <a:pPr algn="ctr">
                <a:lnSpc>
                  <a:spcPts val="2100"/>
                </a:lnSpc>
              </a:pPr>
              <a:endParaRPr/>
            </a:p>
          </p:txBody>
        </p:sp>
      </p:grpSp>
      <p:grpSp>
        <p:nvGrpSpPr>
          <p:cNvPr id="35" name="Group 35"/>
          <p:cNvGrpSpPr/>
          <p:nvPr/>
        </p:nvGrpSpPr>
        <p:grpSpPr>
          <a:xfrm>
            <a:off x="5367752" y="8512904"/>
            <a:ext cx="7572802" cy="1143000"/>
            <a:chOff x="0" y="0"/>
            <a:chExt cx="11226234" cy="1694430"/>
          </a:xfrm>
        </p:grpSpPr>
        <p:sp>
          <p:nvSpPr>
            <p:cNvPr id="36" name="Freeform 36"/>
            <p:cNvSpPr/>
            <p:nvPr/>
          </p:nvSpPr>
          <p:spPr>
            <a:xfrm>
              <a:off x="0" y="0"/>
              <a:ext cx="11226234" cy="1694430"/>
            </a:xfrm>
            <a:custGeom>
              <a:avLst/>
              <a:gdLst/>
              <a:ahLst/>
              <a:cxnLst/>
              <a:rect l="l" t="t" r="r" b="b"/>
              <a:pathLst>
                <a:path w="11226234" h="1694430">
                  <a:moveTo>
                    <a:pt x="0" y="0"/>
                  </a:moveTo>
                  <a:lnTo>
                    <a:pt x="11226234" y="0"/>
                  </a:lnTo>
                  <a:lnTo>
                    <a:pt x="11226234" y="1694430"/>
                  </a:lnTo>
                  <a:lnTo>
                    <a:pt x="0" y="1694430"/>
                  </a:lnTo>
                  <a:close/>
                </a:path>
              </a:pathLst>
            </a:custGeom>
            <a:solidFill>
              <a:srgbClr val="96EA9A"/>
            </a:solidFill>
            <a:ln cap="sq">
              <a:noFill/>
              <a:prstDash val="sysDot"/>
              <a:miter/>
            </a:ln>
          </p:spPr>
          <p:txBody>
            <a:bodyPr/>
            <a:lstStyle/>
            <a:p>
              <a:endParaRPr lang="fr-FR"/>
            </a:p>
          </p:txBody>
        </p:sp>
        <p:sp>
          <p:nvSpPr>
            <p:cNvPr id="37" name="TextBox 37"/>
            <p:cNvSpPr txBox="1"/>
            <p:nvPr/>
          </p:nvSpPr>
          <p:spPr>
            <a:xfrm>
              <a:off x="0" y="-38100"/>
              <a:ext cx="11226234" cy="1732530"/>
            </a:xfrm>
            <a:prstGeom prst="rect">
              <a:avLst/>
            </a:prstGeom>
          </p:spPr>
          <p:txBody>
            <a:bodyPr lIns="254000" tIns="254000" rIns="254000" bIns="254000" rtlCol="0" anchor="ctr"/>
            <a:lstStyle/>
            <a:p>
              <a:pPr algn="ctr">
                <a:lnSpc>
                  <a:spcPts val="2100"/>
                </a:lnSpc>
              </a:pPr>
              <a:endParaRPr lang="en-US" sz="1500">
                <a:solidFill>
                  <a:srgbClr val="001A13"/>
                </a:solidFill>
                <a:latin typeface="Titillium Web"/>
                <a:ea typeface="Titillium Web"/>
                <a:cs typeface="Titillium Web"/>
                <a:sym typeface="Titillium Web"/>
              </a:endParaRPr>
            </a:p>
          </p:txBody>
        </p:sp>
      </p:grpSp>
      <p:grpSp>
        <p:nvGrpSpPr>
          <p:cNvPr id="38" name="Group 38"/>
          <p:cNvGrpSpPr/>
          <p:nvPr/>
        </p:nvGrpSpPr>
        <p:grpSpPr>
          <a:xfrm rot="-5400000">
            <a:off x="9145" y="3384805"/>
            <a:ext cx="1252918" cy="1271209"/>
            <a:chOff x="0" y="0"/>
            <a:chExt cx="434718" cy="441064"/>
          </a:xfrm>
        </p:grpSpPr>
        <p:sp>
          <p:nvSpPr>
            <p:cNvPr id="39" name="Freeform 39"/>
            <p:cNvSpPr/>
            <p:nvPr/>
          </p:nvSpPr>
          <p:spPr>
            <a:xfrm>
              <a:off x="0" y="0"/>
              <a:ext cx="434718" cy="441064"/>
            </a:xfrm>
            <a:custGeom>
              <a:avLst/>
              <a:gdLst/>
              <a:ahLst/>
              <a:cxnLst/>
              <a:rect l="l" t="t" r="r" b="b"/>
              <a:pathLst>
                <a:path w="434718" h="441064">
                  <a:moveTo>
                    <a:pt x="0" y="0"/>
                  </a:moveTo>
                  <a:lnTo>
                    <a:pt x="434718" y="0"/>
                  </a:lnTo>
                  <a:lnTo>
                    <a:pt x="434718" y="441064"/>
                  </a:lnTo>
                  <a:lnTo>
                    <a:pt x="0" y="441064"/>
                  </a:lnTo>
                  <a:close/>
                </a:path>
              </a:pathLst>
            </a:custGeom>
            <a:solidFill>
              <a:srgbClr val="00BF85"/>
            </a:solidFill>
          </p:spPr>
          <p:txBody>
            <a:bodyPr/>
            <a:lstStyle/>
            <a:p>
              <a:endParaRPr lang="fr-FR"/>
            </a:p>
          </p:txBody>
        </p:sp>
        <p:sp>
          <p:nvSpPr>
            <p:cNvPr id="40" name="TextBox 40"/>
            <p:cNvSpPr txBox="1"/>
            <p:nvPr/>
          </p:nvSpPr>
          <p:spPr>
            <a:xfrm>
              <a:off x="0" y="-38100"/>
              <a:ext cx="434718" cy="479164"/>
            </a:xfrm>
            <a:prstGeom prst="rect">
              <a:avLst/>
            </a:prstGeom>
          </p:spPr>
          <p:txBody>
            <a:bodyPr lIns="50800" tIns="50800" rIns="50800" bIns="50800" rtlCol="0" anchor="ctr"/>
            <a:lstStyle/>
            <a:p>
              <a:pPr algn="ctr">
                <a:lnSpc>
                  <a:spcPts val="2100"/>
                </a:lnSpc>
              </a:pPr>
              <a:endParaRPr/>
            </a:p>
          </p:txBody>
        </p:sp>
      </p:grpSp>
      <p:grpSp>
        <p:nvGrpSpPr>
          <p:cNvPr id="41" name="Group 41"/>
          <p:cNvGrpSpPr/>
          <p:nvPr/>
        </p:nvGrpSpPr>
        <p:grpSpPr>
          <a:xfrm rot="-5400000">
            <a:off x="15764253" y="9043986"/>
            <a:ext cx="1252918" cy="1271209"/>
            <a:chOff x="0" y="0"/>
            <a:chExt cx="434718" cy="441064"/>
          </a:xfrm>
        </p:grpSpPr>
        <p:sp>
          <p:nvSpPr>
            <p:cNvPr id="42" name="Freeform 42"/>
            <p:cNvSpPr/>
            <p:nvPr/>
          </p:nvSpPr>
          <p:spPr>
            <a:xfrm>
              <a:off x="0" y="0"/>
              <a:ext cx="434718" cy="441064"/>
            </a:xfrm>
            <a:custGeom>
              <a:avLst/>
              <a:gdLst/>
              <a:ahLst/>
              <a:cxnLst/>
              <a:rect l="l" t="t" r="r" b="b"/>
              <a:pathLst>
                <a:path w="434718" h="441064">
                  <a:moveTo>
                    <a:pt x="0" y="0"/>
                  </a:moveTo>
                  <a:lnTo>
                    <a:pt x="434718" y="0"/>
                  </a:lnTo>
                  <a:lnTo>
                    <a:pt x="434718" y="441064"/>
                  </a:lnTo>
                  <a:lnTo>
                    <a:pt x="0" y="441064"/>
                  </a:lnTo>
                  <a:close/>
                </a:path>
              </a:pathLst>
            </a:custGeom>
            <a:solidFill>
              <a:srgbClr val="044D3A"/>
            </a:solidFill>
          </p:spPr>
          <p:txBody>
            <a:bodyPr/>
            <a:lstStyle/>
            <a:p>
              <a:endParaRPr lang="fr-FR"/>
            </a:p>
          </p:txBody>
        </p:sp>
        <p:sp>
          <p:nvSpPr>
            <p:cNvPr id="43" name="TextBox 43"/>
            <p:cNvSpPr txBox="1"/>
            <p:nvPr/>
          </p:nvSpPr>
          <p:spPr>
            <a:xfrm>
              <a:off x="0" y="-38100"/>
              <a:ext cx="434718" cy="479164"/>
            </a:xfrm>
            <a:prstGeom prst="rect">
              <a:avLst/>
            </a:prstGeom>
          </p:spPr>
          <p:txBody>
            <a:bodyPr lIns="50800" tIns="50800" rIns="50800" bIns="50800" rtlCol="0" anchor="ctr"/>
            <a:lstStyle/>
            <a:p>
              <a:pPr algn="ctr">
                <a:lnSpc>
                  <a:spcPts val="2100"/>
                </a:lnSpc>
              </a:pPr>
              <a:endParaRPr/>
            </a:p>
          </p:txBody>
        </p:sp>
      </p:grpSp>
      <p:grpSp>
        <p:nvGrpSpPr>
          <p:cNvPr id="44" name="Group 44"/>
          <p:cNvGrpSpPr/>
          <p:nvPr/>
        </p:nvGrpSpPr>
        <p:grpSpPr>
          <a:xfrm rot="-5400000">
            <a:off x="17047939" y="7791068"/>
            <a:ext cx="1252918" cy="1271209"/>
            <a:chOff x="0" y="0"/>
            <a:chExt cx="434718" cy="441064"/>
          </a:xfrm>
        </p:grpSpPr>
        <p:sp>
          <p:nvSpPr>
            <p:cNvPr id="45" name="Freeform 45"/>
            <p:cNvSpPr/>
            <p:nvPr/>
          </p:nvSpPr>
          <p:spPr>
            <a:xfrm>
              <a:off x="0" y="0"/>
              <a:ext cx="434718" cy="441064"/>
            </a:xfrm>
            <a:custGeom>
              <a:avLst/>
              <a:gdLst/>
              <a:ahLst/>
              <a:cxnLst/>
              <a:rect l="l" t="t" r="r" b="b"/>
              <a:pathLst>
                <a:path w="434718" h="441064">
                  <a:moveTo>
                    <a:pt x="0" y="0"/>
                  </a:moveTo>
                  <a:lnTo>
                    <a:pt x="434718" y="0"/>
                  </a:lnTo>
                  <a:lnTo>
                    <a:pt x="434718" y="441064"/>
                  </a:lnTo>
                  <a:lnTo>
                    <a:pt x="0" y="441064"/>
                  </a:lnTo>
                  <a:close/>
                </a:path>
              </a:pathLst>
            </a:custGeom>
            <a:solidFill>
              <a:srgbClr val="00BF85"/>
            </a:solidFill>
          </p:spPr>
          <p:txBody>
            <a:bodyPr/>
            <a:lstStyle/>
            <a:p>
              <a:endParaRPr lang="fr-FR"/>
            </a:p>
          </p:txBody>
        </p:sp>
        <p:sp>
          <p:nvSpPr>
            <p:cNvPr id="46" name="TextBox 46"/>
            <p:cNvSpPr txBox="1"/>
            <p:nvPr/>
          </p:nvSpPr>
          <p:spPr>
            <a:xfrm>
              <a:off x="0" y="-38100"/>
              <a:ext cx="434718" cy="479164"/>
            </a:xfrm>
            <a:prstGeom prst="rect">
              <a:avLst/>
            </a:prstGeom>
          </p:spPr>
          <p:txBody>
            <a:bodyPr lIns="50800" tIns="50800" rIns="50800" bIns="50800" rtlCol="0" anchor="ctr"/>
            <a:lstStyle/>
            <a:p>
              <a:pPr algn="ctr">
                <a:lnSpc>
                  <a:spcPts val="2100"/>
                </a:lnSpc>
              </a:pPr>
              <a:endParaRPr/>
            </a:p>
          </p:txBody>
        </p:sp>
      </p:grpSp>
      <p:grpSp>
        <p:nvGrpSpPr>
          <p:cNvPr id="47" name="Group 47"/>
          <p:cNvGrpSpPr/>
          <p:nvPr/>
        </p:nvGrpSpPr>
        <p:grpSpPr>
          <a:xfrm rot="-5400000">
            <a:off x="1280354" y="2131887"/>
            <a:ext cx="1252918" cy="1271209"/>
            <a:chOff x="0" y="0"/>
            <a:chExt cx="434718" cy="441064"/>
          </a:xfrm>
        </p:grpSpPr>
        <p:sp>
          <p:nvSpPr>
            <p:cNvPr id="48" name="Freeform 48"/>
            <p:cNvSpPr/>
            <p:nvPr/>
          </p:nvSpPr>
          <p:spPr>
            <a:xfrm>
              <a:off x="0" y="0"/>
              <a:ext cx="434718" cy="441064"/>
            </a:xfrm>
            <a:custGeom>
              <a:avLst/>
              <a:gdLst/>
              <a:ahLst/>
              <a:cxnLst/>
              <a:rect l="l" t="t" r="r" b="b"/>
              <a:pathLst>
                <a:path w="434718" h="441064">
                  <a:moveTo>
                    <a:pt x="0" y="0"/>
                  </a:moveTo>
                  <a:lnTo>
                    <a:pt x="434718" y="0"/>
                  </a:lnTo>
                  <a:lnTo>
                    <a:pt x="434718" y="441064"/>
                  </a:lnTo>
                  <a:lnTo>
                    <a:pt x="0" y="441064"/>
                  </a:lnTo>
                  <a:close/>
                </a:path>
              </a:pathLst>
            </a:custGeom>
            <a:solidFill>
              <a:srgbClr val="96EA9A"/>
            </a:solidFill>
          </p:spPr>
          <p:txBody>
            <a:bodyPr/>
            <a:lstStyle/>
            <a:p>
              <a:endParaRPr lang="fr-FR"/>
            </a:p>
          </p:txBody>
        </p:sp>
        <p:sp>
          <p:nvSpPr>
            <p:cNvPr id="49" name="TextBox 49"/>
            <p:cNvSpPr txBox="1"/>
            <p:nvPr/>
          </p:nvSpPr>
          <p:spPr>
            <a:xfrm>
              <a:off x="0" y="-38100"/>
              <a:ext cx="434718" cy="479164"/>
            </a:xfrm>
            <a:prstGeom prst="rect">
              <a:avLst/>
            </a:prstGeom>
          </p:spPr>
          <p:txBody>
            <a:bodyPr lIns="50800" tIns="50800" rIns="50800" bIns="50800" rtlCol="0" anchor="ctr"/>
            <a:lstStyle/>
            <a:p>
              <a:pPr algn="ctr">
                <a:lnSpc>
                  <a:spcPts val="2100"/>
                </a:lnSpc>
              </a:pPr>
              <a:endParaRPr/>
            </a:p>
          </p:txBody>
        </p:sp>
      </p:grpSp>
      <p:pic>
        <p:nvPicPr>
          <p:cNvPr id="52" name="Image 51" descr="Une image contenant avion, plein air, transport, véhicule&#10;&#10;Le contenu généré par l’IA peut être incorrect.">
            <a:extLst>
              <a:ext uri="{FF2B5EF4-FFF2-40B4-BE49-F238E27FC236}">
                <a16:creationId xmlns:a16="http://schemas.microsoft.com/office/drawing/2014/main" id="{32615F95-839D-835B-91A0-0EAD18F79525}"/>
              </a:ext>
            </a:extLst>
          </p:cNvPr>
          <p:cNvPicPr>
            <a:picLocks noChangeAspect="1"/>
          </p:cNvPicPr>
          <p:nvPr/>
        </p:nvPicPr>
        <p:blipFill>
          <a:blip r:embed="rId5">
            <a:extLst>
              <a:ext uri="{28A0092B-C50C-407E-A947-70E740481C1C}">
                <a14:useLocalDpi xmlns:a14="http://schemas.microsoft.com/office/drawing/2010/main" val="0"/>
              </a:ext>
            </a:extLst>
          </a:blip>
          <a:srcRect l="41329" t="41237" r="40951" b="31603"/>
          <a:stretch>
            <a:fillRect/>
          </a:stretch>
        </p:blipFill>
        <p:spPr>
          <a:xfrm rot="10800000">
            <a:off x="14096762" y="2760319"/>
            <a:ext cx="3319027" cy="329131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sp>
        <p:nvSpPr>
          <p:cNvPr id="5" name="TextBox 5"/>
          <p:cNvSpPr txBox="1"/>
          <p:nvPr/>
        </p:nvSpPr>
        <p:spPr>
          <a:xfrm>
            <a:off x="340541" y="360246"/>
            <a:ext cx="3476495" cy="743793"/>
          </a:xfrm>
          <a:prstGeom prst="rect">
            <a:avLst/>
          </a:prstGeom>
        </p:spPr>
        <p:txBody>
          <a:bodyPr wrap="square" lIns="0" tIns="0" rIns="0" bIns="0" rtlCol="0" anchor="t">
            <a:spAutoFit/>
          </a:bodyPr>
          <a:lstStyle/>
          <a:p>
            <a:pPr algn="r">
              <a:lnSpc>
                <a:spcPts val="5789"/>
              </a:lnSpc>
            </a:pPr>
            <a:r>
              <a:rPr lang="en-US" sz="4800">
                <a:solidFill>
                  <a:srgbClr val="044D3A"/>
                </a:solidFill>
                <a:latin typeface="Anantason Expanded"/>
                <a:ea typeface="Anantason Expanded"/>
                <a:cs typeface="Anantason Expanded"/>
              </a:rPr>
              <a:t>SOMMAIRE</a:t>
            </a:r>
          </a:p>
        </p:txBody>
      </p:sp>
      <p:grpSp>
        <p:nvGrpSpPr>
          <p:cNvPr id="6" name="Group 6"/>
          <p:cNvGrpSpPr/>
          <p:nvPr/>
        </p:nvGrpSpPr>
        <p:grpSpPr>
          <a:xfrm>
            <a:off x="14112830" y="2141154"/>
            <a:ext cx="2097647" cy="2112008"/>
            <a:chOff x="0" y="0"/>
            <a:chExt cx="438065" cy="441064"/>
          </a:xfrm>
        </p:grpSpPr>
        <p:sp>
          <p:nvSpPr>
            <p:cNvPr id="7" name="Freeform 7"/>
            <p:cNvSpPr/>
            <p:nvPr/>
          </p:nvSpPr>
          <p:spPr>
            <a:xfrm>
              <a:off x="0" y="0"/>
              <a:ext cx="438065" cy="441064"/>
            </a:xfrm>
            <a:custGeom>
              <a:avLst/>
              <a:gdLst/>
              <a:ahLst/>
              <a:cxnLst/>
              <a:rect l="l" t="t" r="r" b="b"/>
              <a:pathLst>
                <a:path w="438065" h="441064">
                  <a:moveTo>
                    <a:pt x="0" y="0"/>
                  </a:moveTo>
                  <a:lnTo>
                    <a:pt x="438065" y="0"/>
                  </a:lnTo>
                  <a:lnTo>
                    <a:pt x="438065" y="441064"/>
                  </a:lnTo>
                  <a:lnTo>
                    <a:pt x="0" y="441064"/>
                  </a:lnTo>
                  <a:close/>
                </a:path>
              </a:pathLst>
            </a:custGeom>
            <a:solidFill>
              <a:srgbClr val="FFF8ED"/>
            </a:solidFill>
          </p:spPr>
          <p:txBody>
            <a:bodyPr/>
            <a:lstStyle/>
            <a:p>
              <a:endParaRPr lang="fr-FR"/>
            </a:p>
          </p:txBody>
        </p:sp>
        <p:sp>
          <p:nvSpPr>
            <p:cNvPr id="8" name="TextBox 8"/>
            <p:cNvSpPr txBox="1"/>
            <p:nvPr/>
          </p:nvSpPr>
          <p:spPr>
            <a:xfrm>
              <a:off x="0" y="-38100"/>
              <a:ext cx="438065" cy="479164"/>
            </a:xfrm>
            <a:prstGeom prst="rect">
              <a:avLst/>
            </a:prstGeom>
          </p:spPr>
          <p:txBody>
            <a:bodyPr lIns="50800" tIns="50800" rIns="50800" bIns="50800" rtlCol="0" anchor="ctr"/>
            <a:lstStyle/>
            <a:p>
              <a:pPr algn="ctr">
                <a:lnSpc>
                  <a:spcPts val="2100"/>
                </a:lnSpc>
              </a:pPr>
              <a:endParaRPr/>
            </a:p>
          </p:txBody>
        </p:sp>
      </p:grpSp>
      <p:sp>
        <p:nvSpPr>
          <p:cNvPr id="2" name="ZoneTexte 1">
            <a:extLst>
              <a:ext uri="{FF2B5EF4-FFF2-40B4-BE49-F238E27FC236}">
                <a16:creationId xmlns:a16="http://schemas.microsoft.com/office/drawing/2014/main" id="{5B4E6585-BE1C-6003-1B4F-8E0EE9861750}"/>
              </a:ext>
            </a:extLst>
          </p:cNvPr>
          <p:cNvSpPr txBox="1"/>
          <p:nvPr/>
        </p:nvSpPr>
        <p:spPr>
          <a:xfrm>
            <a:off x="340541" y="1104039"/>
            <a:ext cx="8803459" cy="8463855"/>
          </a:xfrm>
          <a:prstGeom prst="rect">
            <a:avLst/>
          </a:prstGeom>
          <a:noFill/>
        </p:spPr>
        <p:txBody>
          <a:bodyPr wrap="square" lIns="91440" tIns="45720" rIns="91440" bIns="45720" rtlCol="0" anchor="t">
            <a:spAutoFit/>
          </a:bodyPr>
          <a:lstStyle/>
          <a:p>
            <a:r>
              <a:rPr lang="fr-FR" sz="3200">
                <a:latin typeface="Titillium Web" panose="00000500000000000000" pitchFamily="2" charset="0"/>
              </a:rPr>
              <a:t>1. A propos de l’entreprise</a:t>
            </a:r>
          </a:p>
          <a:p>
            <a:endParaRPr lang="fr-FR" sz="3200">
              <a:latin typeface="Titillium Web" panose="00000500000000000000" pitchFamily="2" charset="0"/>
            </a:endParaRPr>
          </a:p>
          <a:p>
            <a:r>
              <a:rPr lang="fr-FR" sz="3200">
                <a:latin typeface="Titillium Web" panose="00000500000000000000" pitchFamily="2" charset="0"/>
              </a:rPr>
              <a:t>2. Nos objectifs</a:t>
            </a:r>
          </a:p>
          <a:p>
            <a:endParaRPr lang="fr-FR" sz="3200">
              <a:latin typeface="Titillium Web" panose="00000500000000000000" pitchFamily="2" charset="0"/>
            </a:endParaRPr>
          </a:p>
          <a:p>
            <a:r>
              <a:rPr lang="fr-FR" sz="3200">
                <a:latin typeface="Titillium Web"/>
              </a:rPr>
              <a:t>3. TPGM ASSIST</a:t>
            </a:r>
          </a:p>
          <a:p>
            <a:endParaRPr lang="fr-FR" sz="3200">
              <a:latin typeface="Titillium Web" panose="00000500000000000000" pitchFamily="2" charset="0"/>
            </a:endParaRPr>
          </a:p>
          <a:p>
            <a:r>
              <a:rPr lang="fr-FR" sz="3200">
                <a:latin typeface="Titillium Web"/>
              </a:rPr>
              <a:t>4. Notre Projet CRM</a:t>
            </a:r>
          </a:p>
          <a:p>
            <a:endParaRPr lang="fr-FR" sz="3200">
              <a:latin typeface="Titillium Web"/>
            </a:endParaRPr>
          </a:p>
          <a:p>
            <a:r>
              <a:rPr lang="en-US" sz="3200">
                <a:latin typeface="Titillium Web" panose="00000500000000000000" pitchFamily="2" charset="0"/>
                <a:ea typeface="Calibri"/>
                <a:cs typeface="Calibri"/>
              </a:rPr>
              <a:t>5. PROJET EFFICIEO</a:t>
            </a:r>
          </a:p>
          <a:p>
            <a:endParaRPr lang="en-US" sz="3200">
              <a:latin typeface="Titillium Web" panose="00000500000000000000" pitchFamily="2" charset="0"/>
              <a:ea typeface="Calibri"/>
              <a:cs typeface="Calibri"/>
            </a:endParaRPr>
          </a:p>
          <a:p>
            <a:r>
              <a:rPr lang="en-US" sz="3200">
                <a:latin typeface="Titillium Web" panose="00000500000000000000" pitchFamily="2" charset="0"/>
                <a:ea typeface="Calibri"/>
                <a:cs typeface="Calibri"/>
              </a:rPr>
              <a:t>6. METHODOLOGIE</a:t>
            </a:r>
          </a:p>
          <a:p>
            <a:endParaRPr lang="en-US"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7. RESSOURCES IDENTIFIEES</a:t>
            </a:r>
          </a:p>
          <a:p>
            <a:endParaRPr lang="en-US"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8. MACRO-PLANNING</a:t>
            </a:r>
          </a:p>
          <a:p>
            <a:endParaRPr lang="en-US"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9. BUDGET</a:t>
            </a:r>
            <a:endParaRPr lang="en-US" sz="3200">
              <a:latin typeface="Titillium Web" panose="00000500000000000000" pitchFamily="2" charset="0"/>
            </a:endParaRPr>
          </a:p>
        </p:txBody>
      </p:sp>
      <p:sp>
        <p:nvSpPr>
          <p:cNvPr id="3" name="ZoneTexte 2">
            <a:extLst>
              <a:ext uri="{FF2B5EF4-FFF2-40B4-BE49-F238E27FC236}">
                <a16:creationId xmlns:a16="http://schemas.microsoft.com/office/drawing/2014/main" id="{AB3F9C97-7977-0BE1-CA39-52D81096EDDB}"/>
              </a:ext>
            </a:extLst>
          </p:cNvPr>
          <p:cNvSpPr txBox="1"/>
          <p:nvPr/>
        </p:nvSpPr>
        <p:spPr>
          <a:xfrm>
            <a:off x="9144000" y="1104039"/>
            <a:ext cx="8803459" cy="8463855"/>
          </a:xfrm>
          <a:prstGeom prst="rect">
            <a:avLst/>
          </a:prstGeom>
          <a:noFill/>
        </p:spPr>
        <p:txBody>
          <a:bodyPr wrap="square" lIns="91440" tIns="45720" rIns="91440" bIns="45720" rtlCol="0" anchor="t">
            <a:spAutoFit/>
          </a:bodyPr>
          <a:lstStyle/>
          <a:p>
            <a:r>
              <a:rPr lang="fr-FR" sz="3200">
                <a:latin typeface="Titillium Web" panose="00000500000000000000" pitchFamily="2" charset="0"/>
              </a:rPr>
              <a:t>10. </a:t>
            </a:r>
            <a:r>
              <a:rPr lang="fr-FR" sz="3200">
                <a:latin typeface="Titillium Web" panose="00000500000000000000" pitchFamily="2" charset="0"/>
                <a:ea typeface="Calibri"/>
                <a:cs typeface="Calibri"/>
              </a:rPr>
              <a:t>RISQUE IDENTIFIES</a:t>
            </a:r>
          </a:p>
          <a:p>
            <a:endParaRPr lang="fr-FR"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11. MATRICE DES RISQUES</a:t>
            </a:r>
          </a:p>
          <a:p>
            <a:endParaRPr lang="fr-FR"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12. </a:t>
            </a:r>
            <a:r>
              <a:rPr lang="en-US" sz="3200">
                <a:latin typeface="Titillium Web" panose="00000500000000000000" pitchFamily="2" charset="0"/>
                <a:ea typeface="Calibri"/>
                <a:cs typeface="Calibri"/>
              </a:rPr>
              <a:t>MATRICE RACI-MACRO</a:t>
            </a:r>
          </a:p>
          <a:p>
            <a:endParaRPr lang="fr-FR"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13. </a:t>
            </a:r>
            <a:r>
              <a:rPr lang="fr-FR" sz="3200" err="1">
                <a:latin typeface="Titillium Web" panose="00000500000000000000" pitchFamily="2" charset="0"/>
                <a:ea typeface="Calibri"/>
                <a:cs typeface="Calibri"/>
              </a:rPr>
              <a:t>MoSCoW</a:t>
            </a:r>
            <a:endParaRPr lang="fr-FR" sz="3200">
              <a:latin typeface="Titillium Web" panose="00000500000000000000" pitchFamily="2" charset="0"/>
              <a:ea typeface="Calibri"/>
              <a:cs typeface="Calibri"/>
            </a:endParaRPr>
          </a:p>
          <a:p>
            <a:endParaRPr lang="fr-FR"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14. WBS</a:t>
            </a:r>
          </a:p>
          <a:p>
            <a:endParaRPr lang="fr-FR" sz="3200">
              <a:latin typeface="Titillium Web" panose="00000500000000000000" pitchFamily="2" charset="0"/>
              <a:ea typeface="Calibri"/>
              <a:cs typeface="Calibri"/>
            </a:endParaRPr>
          </a:p>
          <a:p>
            <a:r>
              <a:rPr lang="fr-FR" sz="3200">
                <a:latin typeface="Titillium Web" panose="00000500000000000000" pitchFamily="2" charset="0"/>
                <a:ea typeface="Calibri"/>
                <a:cs typeface="Calibri"/>
              </a:rPr>
              <a:t>15. </a:t>
            </a:r>
            <a:r>
              <a:rPr lang="en-US" sz="3200">
                <a:latin typeface="Titillium Web" panose="00000500000000000000" pitchFamily="2" charset="0"/>
                <a:ea typeface="Calibri"/>
                <a:cs typeface="Calibri"/>
              </a:rPr>
              <a:t>MATRICE RACI-WBS</a:t>
            </a:r>
          </a:p>
          <a:p>
            <a:endParaRPr lang="en-US" sz="3200">
              <a:latin typeface="Titillium Web" panose="00000500000000000000" pitchFamily="2" charset="0"/>
              <a:ea typeface="Calibri"/>
              <a:cs typeface="Calibri"/>
            </a:endParaRPr>
          </a:p>
          <a:p>
            <a:r>
              <a:rPr lang="en-US" sz="3200">
                <a:latin typeface="Titillium Web" panose="00000500000000000000" pitchFamily="2" charset="0"/>
                <a:ea typeface="Calibri"/>
                <a:cs typeface="Calibri"/>
              </a:rPr>
              <a:t>16. </a:t>
            </a:r>
            <a:r>
              <a:rPr lang="en-US" sz="3200" err="1">
                <a:latin typeface="Titillium Web" panose="00000500000000000000" pitchFamily="2" charset="0"/>
                <a:ea typeface="Calibri"/>
                <a:cs typeface="Calibri"/>
              </a:rPr>
              <a:t>Pertt</a:t>
            </a:r>
            <a:endParaRPr lang="en-US" sz="3200">
              <a:latin typeface="Titillium Web" panose="00000500000000000000" pitchFamily="2" charset="0"/>
              <a:ea typeface="Calibri"/>
              <a:cs typeface="Calibri"/>
            </a:endParaRPr>
          </a:p>
          <a:p>
            <a:endParaRPr lang="en-US" sz="3200">
              <a:latin typeface="Titillium Web" panose="00000500000000000000" pitchFamily="2" charset="0"/>
              <a:ea typeface="Calibri"/>
              <a:cs typeface="Calibri"/>
            </a:endParaRPr>
          </a:p>
          <a:p>
            <a:r>
              <a:rPr lang="en-US" sz="3200">
                <a:latin typeface="Titillium Web"/>
                <a:ea typeface="Calibri"/>
                <a:cs typeface="Calibri"/>
              </a:rPr>
              <a:t>17. Gantt</a:t>
            </a:r>
            <a:endParaRPr lang="en-US" sz="3200">
              <a:solidFill>
                <a:srgbClr val="FFFFFF"/>
              </a:solidFill>
              <a:latin typeface="Titillium Web" panose="00000500000000000000" pitchFamily="2" charset="0"/>
              <a:ea typeface="Calibri"/>
              <a:cs typeface="Calibri"/>
            </a:endParaRPr>
          </a:p>
          <a:p>
            <a:endParaRPr lang="en-US" sz="3200">
              <a:latin typeface="Titillium Web"/>
              <a:ea typeface="Calibri"/>
              <a:cs typeface="Calibri"/>
            </a:endParaRPr>
          </a:p>
          <a:p>
            <a:r>
              <a:rPr lang="en-US" sz="3200">
                <a:latin typeface="Titillium Web"/>
                <a:ea typeface="Calibri"/>
                <a:cs typeface="Calibri"/>
              </a:rPr>
              <a:t>18. </a:t>
            </a:r>
            <a:r>
              <a:rPr lang="en-US" sz="3200" err="1">
                <a:latin typeface="Titillium Web"/>
                <a:ea typeface="Calibri"/>
                <a:cs typeface="Calibri"/>
              </a:rPr>
              <a:t>Résolution</a:t>
            </a:r>
            <a:r>
              <a:rPr lang="en-US" sz="3200">
                <a:latin typeface="Titillium Web"/>
                <a:ea typeface="Calibri"/>
                <a:cs typeface="Calibri"/>
              </a:rPr>
              <a:t> de </a:t>
            </a:r>
            <a:r>
              <a:rPr lang="en-US" sz="3200" err="1">
                <a:latin typeface="Titillium Web"/>
                <a:ea typeface="Calibri"/>
                <a:cs typeface="Calibri"/>
              </a:rPr>
              <a:t>problèmes</a:t>
            </a:r>
            <a:endParaRPr lang="en-US" sz="6500" err="1">
              <a:solidFill>
                <a:schemeClr val="bg1"/>
              </a:solidFill>
              <a:latin typeface="Titillium Web"/>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p:cNvGrpSpPr/>
        <p:nvPr/>
      </p:nvGrpSpPr>
      <p:grpSpPr>
        <a:xfrm>
          <a:off x="0" y="0"/>
          <a:ext cx="0" cy="0"/>
          <a:chOff x="0" y="0"/>
          <a:chExt cx="0" cy="0"/>
        </a:xfrm>
      </p:grpSpPr>
      <p:grpSp>
        <p:nvGrpSpPr>
          <p:cNvPr id="2" name="Group 2"/>
          <p:cNvGrpSpPr/>
          <p:nvPr/>
        </p:nvGrpSpPr>
        <p:grpSpPr>
          <a:xfrm>
            <a:off x="7510515" y="0"/>
            <a:ext cx="10777485" cy="5476921"/>
            <a:chOff x="0" y="0"/>
            <a:chExt cx="14369980" cy="7302562"/>
          </a:xfrm>
        </p:grpSpPr>
        <p:pic>
          <p:nvPicPr>
            <p:cNvPr id="3" name="Picture 3"/>
            <p:cNvPicPr>
              <a:picLocks noChangeAspect="1"/>
            </p:cNvPicPr>
            <p:nvPr/>
          </p:nvPicPr>
          <p:blipFill>
            <a:blip r:embed="rId2"/>
            <a:srcRect t="11886" b="11886"/>
            <a:stretch>
              <a:fillRect/>
            </a:stretch>
          </p:blipFill>
          <p:spPr>
            <a:xfrm>
              <a:off x="0" y="0"/>
              <a:ext cx="14369980" cy="7302562"/>
            </a:xfrm>
            <a:prstGeom prst="rect">
              <a:avLst/>
            </a:prstGeom>
          </p:spPr>
        </p:pic>
      </p:grpSp>
      <p:sp>
        <p:nvSpPr>
          <p:cNvPr id="9" name="TextBox 9"/>
          <p:cNvSpPr txBox="1"/>
          <p:nvPr/>
        </p:nvSpPr>
        <p:spPr>
          <a:xfrm>
            <a:off x="884496" y="2728787"/>
            <a:ext cx="5707490" cy="1990725"/>
          </a:xfrm>
          <a:prstGeom prst="rect">
            <a:avLst/>
          </a:prstGeom>
        </p:spPr>
        <p:txBody>
          <a:bodyPr lIns="0" tIns="0" rIns="0" bIns="0" rtlCol="0" anchor="t">
            <a:spAutoFit/>
          </a:bodyPr>
          <a:lstStyle/>
          <a:p>
            <a:pPr algn="l">
              <a:lnSpc>
                <a:spcPts val="7800"/>
              </a:lnSpc>
            </a:pPr>
            <a:r>
              <a:rPr lang="en-US" sz="6500">
                <a:solidFill>
                  <a:srgbClr val="FFF8ED"/>
                </a:solidFill>
                <a:latin typeface="Anantason Expanded"/>
                <a:ea typeface="Anantason Expanded"/>
                <a:cs typeface="Anantason Expanded"/>
                <a:sym typeface="Anantason Expanded"/>
              </a:rPr>
              <a:t>À </a:t>
            </a:r>
            <a:r>
              <a:rPr lang="en-US" sz="6500" err="1">
                <a:solidFill>
                  <a:srgbClr val="FFF8ED"/>
                </a:solidFill>
                <a:latin typeface="Anantason Expanded"/>
                <a:ea typeface="Anantason Expanded"/>
                <a:cs typeface="Anantason Expanded"/>
                <a:sym typeface="Anantason Expanded"/>
              </a:rPr>
              <a:t>propos</a:t>
            </a:r>
            <a:r>
              <a:rPr lang="en-US" sz="6500">
                <a:solidFill>
                  <a:srgbClr val="FFF8ED"/>
                </a:solidFill>
                <a:latin typeface="Anantason Expanded"/>
                <a:ea typeface="Anantason Expanded"/>
                <a:cs typeface="Anantason Expanded"/>
                <a:sym typeface="Anantason Expanded"/>
              </a:rPr>
              <a:t> de </a:t>
            </a:r>
            <a:r>
              <a:rPr lang="en-US" sz="6500" err="1">
                <a:solidFill>
                  <a:srgbClr val="FFF8ED"/>
                </a:solidFill>
                <a:latin typeface="Anantason Expanded"/>
                <a:ea typeface="Anantason Expanded"/>
                <a:cs typeface="Anantason Expanded"/>
                <a:sym typeface="Anantason Expanded"/>
              </a:rPr>
              <a:t>l'entreprise</a:t>
            </a:r>
            <a:endParaRPr lang="en-US" sz="6500">
              <a:solidFill>
                <a:srgbClr val="FFF8ED"/>
              </a:solidFill>
              <a:latin typeface="Anantason Expanded"/>
              <a:ea typeface="Anantason Expanded"/>
              <a:cs typeface="Anantason Expanded"/>
              <a:sym typeface="Anantason Expanded"/>
            </a:endParaRPr>
          </a:p>
        </p:txBody>
      </p:sp>
      <p:grpSp>
        <p:nvGrpSpPr>
          <p:cNvPr id="12" name="Group 12"/>
          <p:cNvGrpSpPr/>
          <p:nvPr/>
        </p:nvGrpSpPr>
        <p:grpSpPr>
          <a:xfrm>
            <a:off x="884496" y="1028700"/>
            <a:ext cx="4127774" cy="699500"/>
            <a:chOff x="0" y="0"/>
            <a:chExt cx="5503701" cy="932666"/>
          </a:xfrm>
        </p:grpSpPr>
        <p:sp>
          <p:nvSpPr>
            <p:cNvPr id="13" name="Freeform 13"/>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14" name="TextBox 14"/>
            <p:cNvSpPr txBox="1"/>
            <p:nvPr/>
          </p:nvSpPr>
          <p:spPr>
            <a:xfrm>
              <a:off x="1177304" y="205207"/>
              <a:ext cx="4326397" cy="530060"/>
            </a:xfrm>
            <a:prstGeom prst="rect">
              <a:avLst/>
            </a:prstGeom>
          </p:spPr>
          <p:txBody>
            <a:bodyPr lIns="0" tIns="0" rIns="0" bIns="0" rtlCol="0" anchor="t">
              <a:spAutoFit/>
            </a:bodyPr>
            <a:lstStyle/>
            <a:p>
              <a:pPr>
                <a:lnSpc>
                  <a:spcPts val="3081"/>
                </a:lnSpc>
                <a:spcBef>
                  <a:spcPct val="0"/>
                </a:spcBef>
              </a:pPr>
              <a:r>
                <a:rPr lang="en-US" sz="2200" b="1">
                  <a:solidFill>
                    <a:srgbClr val="FFF8ED"/>
                  </a:solidFill>
                  <a:latin typeface="Anantason Expanded Bold"/>
                  <a:ea typeface="Anantason Expanded Bold"/>
                  <a:cs typeface="Anantason Expanded Bold"/>
                </a:rPr>
                <a:t>TPGM CONSULTING</a:t>
              </a:r>
            </a:p>
          </p:txBody>
        </p:sp>
      </p:grpSp>
      <p:sp>
        <p:nvSpPr>
          <p:cNvPr id="15" name="ZoneTexte 14">
            <a:extLst>
              <a:ext uri="{FF2B5EF4-FFF2-40B4-BE49-F238E27FC236}">
                <a16:creationId xmlns:a16="http://schemas.microsoft.com/office/drawing/2014/main" id="{3F90BC87-A19C-2C92-083F-6CAFA039269E}"/>
              </a:ext>
            </a:extLst>
          </p:cNvPr>
          <p:cNvSpPr txBox="1"/>
          <p:nvPr/>
        </p:nvSpPr>
        <p:spPr>
          <a:xfrm>
            <a:off x="8192297" y="5920783"/>
            <a:ext cx="6867448" cy="7980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fr-FR"/>
          </a:p>
        </p:txBody>
      </p:sp>
      <p:sp>
        <p:nvSpPr>
          <p:cNvPr id="16" name="ZoneTexte 15">
            <a:extLst>
              <a:ext uri="{FF2B5EF4-FFF2-40B4-BE49-F238E27FC236}">
                <a16:creationId xmlns:a16="http://schemas.microsoft.com/office/drawing/2014/main" id="{C1498A86-DE61-ADE4-8B96-D78A8A12E765}"/>
              </a:ext>
            </a:extLst>
          </p:cNvPr>
          <p:cNvSpPr txBox="1"/>
          <p:nvPr/>
        </p:nvSpPr>
        <p:spPr>
          <a:xfrm>
            <a:off x="247569" y="5949106"/>
            <a:ext cx="666047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solidFill>
                  <a:schemeClr val="bg1"/>
                </a:solidFill>
                <a:ea typeface="+mn-lt"/>
                <a:cs typeface="+mn-lt"/>
              </a:rPr>
              <a:t>Dans un monde où l'agilité est devenue une nécessité, nous intervenons pour sécuriser les trajectoires de croissance de nos clients. Que ce soit pour une transformation digitale, une restructuration organisationnelle ou le lancement d'un nouveau produit, nous apportons une méthodologie rigoureuse et un regard extérieur neutre.</a:t>
            </a:r>
            <a:endParaRPr lang="fr-FR">
              <a:solidFill>
                <a:schemeClr val="bg1"/>
              </a:solidFill>
              <a:ea typeface="Calibri"/>
              <a:cs typeface="Calibri"/>
            </a:endParaRPr>
          </a:p>
          <a:p>
            <a:r>
              <a:rPr lang="fr-FR" b="1">
                <a:solidFill>
                  <a:schemeClr val="bg1"/>
                </a:solidFill>
                <a:ea typeface="+mn-lt"/>
                <a:cs typeface="+mn-lt"/>
              </a:rPr>
              <a:t>Nos piliers :</a:t>
            </a:r>
            <a:endParaRPr lang="fr-FR">
              <a:solidFill>
                <a:schemeClr val="bg1"/>
              </a:solidFill>
              <a:ea typeface="Calibri"/>
              <a:cs typeface="Calibri"/>
            </a:endParaRPr>
          </a:p>
          <a:p>
            <a:pPr marL="285750" indent="-285750">
              <a:buFont typeface="Arial"/>
              <a:buChar char="•"/>
            </a:pPr>
            <a:r>
              <a:rPr lang="fr-FR" b="1">
                <a:solidFill>
                  <a:schemeClr val="bg1"/>
                </a:solidFill>
                <a:ea typeface="+mn-lt"/>
                <a:cs typeface="+mn-lt"/>
              </a:rPr>
              <a:t>Expertise :</a:t>
            </a:r>
            <a:r>
              <a:rPr lang="fr-FR">
                <a:solidFill>
                  <a:schemeClr val="bg1"/>
                </a:solidFill>
                <a:ea typeface="+mn-lt"/>
                <a:cs typeface="+mn-lt"/>
              </a:rPr>
              <a:t> Une maîtrise des standards internationaux (Agile, Prince2, PMP).</a:t>
            </a:r>
            <a:endParaRPr lang="fr-FR">
              <a:solidFill>
                <a:schemeClr val="bg1"/>
              </a:solidFill>
              <a:ea typeface="Calibri"/>
              <a:cs typeface="Calibri"/>
            </a:endParaRPr>
          </a:p>
          <a:p>
            <a:pPr marL="285750" indent="-285750">
              <a:buFont typeface="Arial"/>
              <a:buChar char="•"/>
            </a:pPr>
            <a:r>
              <a:rPr lang="fr-FR" b="1">
                <a:solidFill>
                  <a:schemeClr val="bg1"/>
                </a:solidFill>
                <a:ea typeface="+mn-lt"/>
                <a:cs typeface="+mn-lt"/>
              </a:rPr>
              <a:t>Proximité :</a:t>
            </a:r>
            <a:r>
              <a:rPr lang="fr-FR">
                <a:solidFill>
                  <a:schemeClr val="bg1"/>
                </a:solidFill>
                <a:ea typeface="+mn-lt"/>
                <a:cs typeface="+mn-lt"/>
              </a:rPr>
              <a:t> Une immersion totale dans la culture de nos clients.</a:t>
            </a:r>
            <a:endParaRPr lang="fr-FR">
              <a:solidFill>
                <a:schemeClr val="bg1"/>
              </a:solidFill>
              <a:ea typeface="Calibri"/>
              <a:cs typeface="Calibri"/>
            </a:endParaRPr>
          </a:p>
          <a:p>
            <a:pPr marL="285750" indent="-285750">
              <a:buFont typeface="Arial"/>
              <a:buChar char="•"/>
            </a:pPr>
            <a:r>
              <a:rPr lang="fr-FR" b="1">
                <a:solidFill>
                  <a:schemeClr val="bg1"/>
                </a:solidFill>
                <a:ea typeface="+mn-lt"/>
                <a:cs typeface="+mn-lt"/>
              </a:rPr>
              <a:t>Innovation :</a:t>
            </a:r>
            <a:r>
              <a:rPr lang="fr-FR">
                <a:solidFill>
                  <a:schemeClr val="bg1"/>
                </a:solidFill>
                <a:ea typeface="+mn-lt"/>
                <a:cs typeface="+mn-lt"/>
              </a:rPr>
              <a:t> L'utilisation d'outils de pilotage de pointe pour une transparence totale.</a:t>
            </a:r>
            <a:endParaRPr lang="fr-FR">
              <a:solidFill>
                <a:schemeClr val="bg1"/>
              </a:solidFill>
            </a:endParaRPr>
          </a:p>
          <a:p>
            <a:pPr algn="l"/>
            <a:endParaRPr lang="fr-FR">
              <a:ea typeface="Calibri"/>
              <a:cs typeface="Calibri"/>
            </a:endParaRPr>
          </a:p>
        </p:txBody>
      </p:sp>
      <p:graphicFrame>
        <p:nvGraphicFramePr>
          <p:cNvPr id="18" name="Tableau 17">
            <a:extLst>
              <a:ext uri="{FF2B5EF4-FFF2-40B4-BE49-F238E27FC236}">
                <a16:creationId xmlns:a16="http://schemas.microsoft.com/office/drawing/2014/main" id="{1A9C1C9A-BAE4-6CDB-B2F5-1FAFAF3A03EA}"/>
              </a:ext>
            </a:extLst>
          </p:cNvPr>
          <p:cNvGraphicFramePr>
            <a:graphicFrameLocks noGrp="1"/>
          </p:cNvGraphicFramePr>
          <p:nvPr>
            <p:extLst>
              <p:ext uri="{D42A27DB-BD31-4B8C-83A1-F6EECF244321}">
                <p14:modId xmlns:p14="http://schemas.microsoft.com/office/powerpoint/2010/main" val="1553748249"/>
              </p:ext>
            </p:extLst>
          </p:nvPr>
        </p:nvGraphicFramePr>
        <p:xfrm>
          <a:off x="7578246" y="5965520"/>
          <a:ext cx="10089926" cy="3611514"/>
        </p:xfrm>
        <a:graphic>
          <a:graphicData uri="http://schemas.openxmlformats.org/drawingml/2006/table">
            <a:tbl>
              <a:tblPr bandRow="1">
                <a:tableStyleId>{5C22544A-7EE6-4342-B048-85BDC9FD1C3A}</a:tableStyleId>
              </a:tblPr>
              <a:tblGrid>
                <a:gridCol w="5044963">
                  <a:extLst>
                    <a:ext uri="{9D8B030D-6E8A-4147-A177-3AD203B41FA5}">
                      <a16:colId xmlns:a16="http://schemas.microsoft.com/office/drawing/2014/main" val="113285594"/>
                    </a:ext>
                  </a:extLst>
                </a:gridCol>
                <a:gridCol w="5044963">
                  <a:extLst>
                    <a:ext uri="{9D8B030D-6E8A-4147-A177-3AD203B41FA5}">
                      <a16:colId xmlns:a16="http://schemas.microsoft.com/office/drawing/2014/main" val="2224782884"/>
                    </a:ext>
                  </a:extLst>
                </a:gridCol>
              </a:tblGrid>
              <a:tr h="491166">
                <a:tc>
                  <a:txBody>
                    <a:bodyPr/>
                    <a:lstStyle/>
                    <a:p>
                      <a:pPr>
                        <a:buNone/>
                      </a:pPr>
                      <a:r>
                        <a:rPr lang="fr-FR" b="1">
                          <a:effectLst/>
                          <a:latin typeface="Google Sans Text"/>
                        </a:rPr>
                        <a:t>Élément</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b="1">
                          <a:effectLst/>
                          <a:latin typeface="Google Sans Text"/>
                        </a:rPr>
                        <a:t>Description</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285285335"/>
                  </a:ext>
                </a:extLst>
              </a:tr>
              <a:tr h="520058">
                <a:tc>
                  <a:txBody>
                    <a:bodyPr/>
                    <a:lstStyle/>
                    <a:p>
                      <a:pPr>
                        <a:buNone/>
                      </a:pPr>
                      <a:r>
                        <a:rPr lang="fr-FR" b="1">
                          <a:effectLst/>
                          <a:latin typeface="Google Sans Text"/>
                        </a:rPr>
                        <a:t>Dénomination sociale</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TPGM CONSULTING</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26055876"/>
                  </a:ext>
                </a:extLst>
              </a:tr>
              <a:tr h="520058">
                <a:tc>
                  <a:txBody>
                    <a:bodyPr/>
                    <a:lstStyle/>
                    <a:p>
                      <a:pPr>
                        <a:buNone/>
                      </a:pPr>
                      <a:r>
                        <a:rPr lang="fr-FR" b="1">
                          <a:effectLst/>
                          <a:latin typeface="Google Sans Text"/>
                        </a:rPr>
                        <a:t>Forme Juridique</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SARL</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845012925"/>
                  </a:ext>
                </a:extLst>
              </a:tr>
              <a:tr h="520058">
                <a:tc>
                  <a:txBody>
                    <a:bodyPr/>
                    <a:lstStyle/>
                    <a:p>
                      <a:pPr>
                        <a:buNone/>
                      </a:pPr>
                      <a:r>
                        <a:rPr lang="fr-FR" b="1">
                          <a:effectLst/>
                          <a:latin typeface="Google Sans Text"/>
                        </a:rPr>
                        <a:t>Date de Création</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16 Décembre 2025 </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4215700776"/>
                  </a:ext>
                </a:extLst>
              </a:tr>
              <a:tr h="520058">
                <a:tc>
                  <a:txBody>
                    <a:bodyPr/>
                    <a:lstStyle/>
                    <a:p>
                      <a:pPr>
                        <a:buNone/>
                      </a:pPr>
                      <a:r>
                        <a:rPr lang="fr-FR" b="1">
                          <a:effectLst/>
                          <a:latin typeface="Google Sans Text"/>
                        </a:rPr>
                        <a:t>Siège Social</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PLACE DES BANCS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680488061"/>
                  </a:ext>
                </a:extLst>
              </a:tr>
              <a:tr h="520058">
                <a:tc>
                  <a:txBody>
                    <a:bodyPr/>
                    <a:lstStyle/>
                    <a:p>
                      <a:pPr>
                        <a:buNone/>
                      </a:pPr>
                      <a:r>
                        <a:rPr lang="fr-FR" b="1">
                          <a:effectLst/>
                          <a:latin typeface="Google Sans Text"/>
                        </a:rPr>
                        <a:t>Identifiants</a:t>
                      </a:r>
                      <a:endParaRPr lang="fr-FR">
                        <a:effectLst/>
                        <a:latin typeface="Google Sans Text"/>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SIREN : 812 345 678</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515749926"/>
                  </a:ext>
                </a:extLst>
              </a:tr>
              <a:tr h="520058">
                <a:tc>
                  <a:txBody>
                    <a:bodyPr/>
                    <a:lstStyle/>
                    <a:p>
                      <a:pPr>
                        <a:buNone/>
                      </a:pPr>
                      <a:r>
                        <a:rPr lang="fr-FR" b="1">
                          <a:effectLst/>
                          <a:latin typeface="Google Sans Text"/>
                        </a:rPr>
                        <a:t>Membres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tc>
                  <a:txBody>
                    <a:bodyPr/>
                    <a:lstStyle/>
                    <a:p>
                      <a:pPr>
                        <a:buNone/>
                      </a:pPr>
                      <a:r>
                        <a:rPr lang="fr-FR">
                          <a:effectLst/>
                          <a:latin typeface="Google Sans Text"/>
                        </a:rPr>
                        <a:t>05</a:t>
                      </a:r>
                      <a:endParaRPr lang="fr-F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25180133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grpSp>
        <p:nvGrpSpPr>
          <p:cNvPr id="2" name="Group 2"/>
          <p:cNvGrpSpPr/>
          <p:nvPr/>
        </p:nvGrpSpPr>
        <p:grpSpPr>
          <a:xfrm>
            <a:off x="0" y="-25837"/>
            <a:ext cx="5325562" cy="10312837"/>
            <a:chOff x="0" y="0"/>
            <a:chExt cx="7100750" cy="13750449"/>
          </a:xfrm>
        </p:grpSpPr>
        <p:pic>
          <p:nvPicPr>
            <p:cNvPr id="3" name="Picture 3"/>
            <p:cNvPicPr>
              <a:picLocks noChangeAspect="1"/>
            </p:cNvPicPr>
            <p:nvPr/>
          </p:nvPicPr>
          <p:blipFill>
            <a:blip r:embed="rId2"/>
            <a:srcRect l="25399" r="40194"/>
            <a:stretch>
              <a:fillRect/>
            </a:stretch>
          </p:blipFill>
          <p:spPr>
            <a:xfrm>
              <a:off x="0" y="0"/>
              <a:ext cx="7100750" cy="13750449"/>
            </a:xfrm>
            <a:prstGeom prst="rect">
              <a:avLst/>
            </a:prstGeom>
          </p:spPr>
        </p:pic>
      </p:grpSp>
      <p:grpSp>
        <p:nvGrpSpPr>
          <p:cNvPr id="4" name="Group 4"/>
          <p:cNvGrpSpPr/>
          <p:nvPr/>
        </p:nvGrpSpPr>
        <p:grpSpPr>
          <a:xfrm>
            <a:off x="3262360" y="2055381"/>
            <a:ext cx="6146011" cy="6166143"/>
            <a:chOff x="0" y="0"/>
            <a:chExt cx="1618703" cy="1624005"/>
          </a:xfrm>
        </p:grpSpPr>
        <p:sp>
          <p:nvSpPr>
            <p:cNvPr id="5" name="Freeform 5"/>
            <p:cNvSpPr/>
            <p:nvPr/>
          </p:nvSpPr>
          <p:spPr>
            <a:xfrm>
              <a:off x="0" y="0"/>
              <a:ext cx="1618703" cy="1624005"/>
            </a:xfrm>
            <a:custGeom>
              <a:avLst/>
              <a:gdLst/>
              <a:ahLst/>
              <a:cxnLst/>
              <a:rect l="l" t="t" r="r" b="b"/>
              <a:pathLst>
                <a:path w="1618703" h="1624005">
                  <a:moveTo>
                    <a:pt x="0" y="0"/>
                  </a:moveTo>
                  <a:lnTo>
                    <a:pt x="1618703" y="0"/>
                  </a:lnTo>
                  <a:lnTo>
                    <a:pt x="1618703" y="1624005"/>
                  </a:lnTo>
                  <a:lnTo>
                    <a:pt x="0" y="1624005"/>
                  </a:lnTo>
                  <a:close/>
                </a:path>
              </a:pathLst>
            </a:custGeom>
            <a:solidFill>
              <a:srgbClr val="001A13"/>
            </a:solidFill>
          </p:spPr>
          <p:txBody>
            <a:bodyPr/>
            <a:lstStyle/>
            <a:p>
              <a:endParaRPr lang="fr-FR"/>
            </a:p>
          </p:txBody>
        </p:sp>
        <p:sp>
          <p:nvSpPr>
            <p:cNvPr id="6" name="TextBox 6"/>
            <p:cNvSpPr txBox="1"/>
            <p:nvPr/>
          </p:nvSpPr>
          <p:spPr>
            <a:xfrm>
              <a:off x="0" y="-38100"/>
              <a:ext cx="1618703" cy="1662105"/>
            </a:xfrm>
            <a:prstGeom prst="rect">
              <a:avLst/>
            </a:prstGeom>
          </p:spPr>
          <p:txBody>
            <a:bodyPr lIns="50800" tIns="50800" rIns="50800" bIns="50800" rtlCol="0" anchor="ctr"/>
            <a:lstStyle/>
            <a:p>
              <a:pPr algn="ctr">
                <a:lnSpc>
                  <a:spcPts val="2100"/>
                </a:lnSpc>
              </a:pPr>
              <a:endParaRPr/>
            </a:p>
          </p:txBody>
        </p:sp>
      </p:grpSp>
      <p:grpSp>
        <p:nvGrpSpPr>
          <p:cNvPr id="7" name="Group 7"/>
          <p:cNvGrpSpPr/>
          <p:nvPr/>
        </p:nvGrpSpPr>
        <p:grpSpPr>
          <a:xfrm>
            <a:off x="11449776" y="2961585"/>
            <a:ext cx="5555095" cy="1036838"/>
            <a:chOff x="0" y="-9575"/>
            <a:chExt cx="7406793" cy="1382452"/>
          </a:xfrm>
        </p:grpSpPr>
        <p:sp>
          <p:nvSpPr>
            <p:cNvPr id="8" name="TextBox 8"/>
            <p:cNvSpPr txBox="1"/>
            <p:nvPr/>
          </p:nvSpPr>
          <p:spPr>
            <a:xfrm>
              <a:off x="0" y="-9575"/>
              <a:ext cx="7406793" cy="720725"/>
            </a:xfrm>
            <a:prstGeom prst="rect">
              <a:avLst/>
            </a:prstGeom>
          </p:spPr>
          <p:txBody>
            <a:bodyPr lIns="0" tIns="0" rIns="0" bIns="0" rtlCol="0" anchor="t">
              <a:spAutoFit/>
            </a:bodyPr>
            <a:lstStyle/>
            <a:p>
              <a:pPr marL="0" lvl="0" indent="0" algn="l">
                <a:lnSpc>
                  <a:spcPts val="4200"/>
                </a:lnSpc>
                <a:spcBef>
                  <a:spcPct val="0"/>
                </a:spcBef>
              </a:pPr>
              <a:r>
                <a:rPr lang="en-US" sz="3500">
                  <a:solidFill>
                    <a:srgbClr val="001A13"/>
                  </a:solidFill>
                  <a:latin typeface="Anantason Expanded"/>
                  <a:ea typeface="Anantason Expanded"/>
                  <a:cs typeface="Anantason Expanded"/>
                  <a:sym typeface="Anantason Expanded"/>
                </a:rPr>
                <a:t>Objectif n°1</a:t>
              </a:r>
            </a:p>
          </p:txBody>
        </p:sp>
        <p:sp>
          <p:nvSpPr>
            <p:cNvPr id="9" name="TextBox 9"/>
            <p:cNvSpPr txBox="1"/>
            <p:nvPr/>
          </p:nvSpPr>
          <p:spPr>
            <a:xfrm>
              <a:off x="0" y="893258"/>
              <a:ext cx="7406793" cy="479619"/>
            </a:xfrm>
            <a:prstGeom prst="rect">
              <a:avLst/>
            </a:prstGeom>
          </p:spPr>
          <p:txBody>
            <a:bodyPr lIns="0" tIns="0" rIns="0" bIns="0" rtlCol="0" anchor="t">
              <a:spAutoFit/>
            </a:bodyPr>
            <a:lstStyle/>
            <a:p>
              <a:pPr algn="l">
                <a:lnSpc>
                  <a:spcPts val="2940"/>
                </a:lnSpc>
              </a:pPr>
              <a:r>
                <a:rPr lang="en-US" sz="2100">
                  <a:solidFill>
                    <a:srgbClr val="001A13"/>
                  </a:solidFill>
                  <a:latin typeface="Titillium Web"/>
                  <a:ea typeface="Titillium Web"/>
                  <a:cs typeface="Titillium Web"/>
                  <a:sym typeface="Titillium Web"/>
                </a:rPr>
                <a:t>Répondre à vos besoins premier.</a:t>
              </a:r>
            </a:p>
          </p:txBody>
        </p:sp>
      </p:grpSp>
      <p:grpSp>
        <p:nvGrpSpPr>
          <p:cNvPr id="10" name="Group 10"/>
          <p:cNvGrpSpPr/>
          <p:nvPr/>
        </p:nvGrpSpPr>
        <p:grpSpPr>
          <a:xfrm>
            <a:off x="11449776" y="4939052"/>
            <a:ext cx="5555095" cy="1036838"/>
            <a:chOff x="0" y="-9575"/>
            <a:chExt cx="7406793" cy="1382452"/>
          </a:xfrm>
        </p:grpSpPr>
        <p:sp>
          <p:nvSpPr>
            <p:cNvPr id="11" name="TextBox 11"/>
            <p:cNvSpPr txBox="1"/>
            <p:nvPr/>
          </p:nvSpPr>
          <p:spPr>
            <a:xfrm>
              <a:off x="0" y="-9575"/>
              <a:ext cx="7406793" cy="720725"/>
            </a:xfrm>
            <a:prstGeom prst="rect">
              <a:avLst/>
            </a:prstGeom>
          </p:spPr>
          <p:txBody>
            <a:bodyPr lIns="0" tIns="0" rIns="0" bIns="0" rtlCol="0" anchor="t">
              <a:spAutoFit/>
            </a:bodyPr>
            <a:lstStyle/>
            <a:p>
              <a:pPr marL="0" lvl="0" indent="0" algn="l">
                <a:lnSpc>
                  <a:spcPts val="4200"/>
                </a:lnSpc>
                <a:spcBef>
                  <a:spcPct val="0"/>
                </a:spcBef>
              </a:pPr>
              <a:r>
                <a:rPr lang="en-US" sz="3500">
                  <a:solidFill>
                    <a:srgbClr val="001A13"/>
                  </a:solidFill>
                  <a:latin typeface="Anantason Expanded"/>
                  <a:ea typeface="Anantason Expanded"/>
                  <a:cs typeface="Anantason Expanded"/>
                  <a:sym typeface="Anantason Expanded"/>
                </a:rPr>
                <a:t>Objectif n°2</a:t>
              </a:r>
            </a:p>
          </p:txBody>
        </p:sp>
        <p:sp>
          <p:nvSpPr>
            <p:cNvPr id="12" name="TextBox 12"/>
            <p:cNvSpPr txBox="1"/>
            <p:nvPr/>
          </p:nvSpPr>
          <p:spPr>
            <a:xfrm>
              <a:off x="0" y="893258"/>
              <a:ext cx="7406793" cy="479619"/>
            </a:xfrm>
            <a:prstGeom prst="rect">
              <a:avLst/>
            </a:prstGeom>
          </p:spPr>
          <p:txBody>
            <a:bodyPr lIns="0" tIns="0" rIns="0" bIns="0" rtlCol="0" anchor="t">
              <a:spAutoFit/>
            </a:bodyPr>
            <a:lstStyle/>
            <a:p>
              <a:pPr algn="l">
                <a:lnSpc>
                  <a:spcPts val="2940"/>
                </a:lnSpc>
              </a:pPr>
              <a:r>
                <a:rPr lang="en-US" sz="2100">
                  <a:solidFill>
                    <a:srgbClr val="001A13"/>
                  </a:solidFill>
                  <a:latin typeface="Titillium Web"/>
                  <a:ea typeface="Titillium Web"/>
                  <a:cs typeface="Titillium Web"/>
                  <a:sym typeface="Titillium Web"/>
                </a:rPr>
                <a:t>Vous accompagner dans votre évolution</a:t>
              </a:r>
            </a:p>
          </p:txBody>
        </p:sp>
      </p:grpSp>
      <p:grpSp>
        <p:nvGrpSpPr>
          <p:cNvPr id="13" name="Group 13"/>
          <p:cNvGrpSpPr/>
          <p:nvPr/>
        </p:nvGrpSpPr>
        <p:grpSpPr>
          <a:xfrm>
            <a:off x="11449776" y="6837028"/>
            <a:ext cx="5555095" cy="1408737"/>
            <a:chOff x="0" y="-9575"/>
            <a:chExt cx="7406793" cy="1878316"/>
          </a:xfrm>
        </p:grpSpPr>
        <p:sp>
          <p:nvSpPr>
            <p:cNvPr id="14" name="TextBox 14"/>
            <p:cNvSpPr txBox="1"/>
            <p:nvPr/>
          </p:nvSpPr>
          <p:spPr>
            <a:xfrm>
              <a:off x="0" y="-9575"/>
              <a:ext cx="7406793" cy="720725"/>
            </a:xfrm>
            <a:prstGeom prst="rect">
              <a:avLst/>
            </a:prstGeom>
          </p:spPr>
          <p:txBody>
            <a:bodyPr lIns="0" tIns="0" rIns="0" bIns="0" rtlCol="0" anchor="t">
              <a:spAutoFit/>
            </a:bodyPr>
            <a:lstStyle/>
            <a:p>
              <a:pPr marL="0" lvl="0" indent="0" algn="l">
                <a:lnSpc>
                  <a:spcPts val="4200"/>
                </a:lnSpc>
                <a:spcBef>
                  <a:spcPct val="0"/>
                </a:spcBef>
              </a:pPr>
              <a:r>
                <a:rPr lang="en-US" sz="3500">
                  <a:solidFill>
                    <a:srgbClr val="001A13"/>
                  </a:solidFill>
                  <a:latin typeface="Anantason Expanded"/>
                  <a:ea typeface="Anantason Expanded"/>
                  <a:cs typeface="Anantason Expanded"/>
                  <a:sym typeface="Anantason Expanded"/>
                </a:rPr>
                <a:t>Objectif n°3</a:t>
              </a:r>
            </a:p>
          </p:txBody>
        </p:sp>
        <p:sp>
          <p:nvSpPr>
            <p:cNvPr id="15" name="TextBox 15"/>
            <p:cNvSpPr txBox="1"/>
            <p:nvPr/>
          </p:nvSpPr>
          <p:spPr>
            <a:xfrm>
              <a:off x="0" y="893259"/>
              <a:ext cx="7406793" cy="975482"/>
            </a:xfrm>
            <a:prstGeom prst="rect">
              <a:avLst/>
            </a:prstGeom>
          </p:spPr>
          <p:txBody>
            <a:bodyPr lIns="0" tIns="0" rIns="0" bIns="0" rtlCol="0" anchor="t">
              <a:spAutoFit/>
            </a:bodyPr>
            <a:lstStyle/>
            <a:p>
              <a:pPr>
                <a:lnSpc>
                  <a:spcPts val="2940"/>
                </a:lnSpc>
              </a:pPr>
              <a:r>
                <a:rPr lang="fr-FR" sz="2100">
                  <a:latin typeface="Titillium Web" panose="00000500000000000000" pitchFamily="2" charset="0"/>
                </a:rPr>
                <a:t>Innovez constamment pour dépasser les attentes.</a:t>
              </a:r>
              <a:endParaRPr lang="en-US" sz="2100">
                <a:solidFill>
                  <a:srgbClr val="001A13"/>
                </a:solidFill>
                <a:latin typeface="Titillium Web" panose="00000500000000000000" pitchFamily="2" charset="0"/>
                <a:ea typeface="Titillium Web"/>
                <a:cs typeface="Titillium Web"/>
                <a:sym typeface="Titillium Web"/>
              </a:endParaRPr>
            </a:p>
          </p:txBody>
        </p:sp>
      </p:grpSp>
      <p:sp>
        <p:nvSpPr>
          <p:cNvPr id="16" name="TextBox 16"/>
          <p:cNvSpPr txBox="1"/>
          <p:nvPr/>
        </p:nvSpPr>
        <p:spPr>
          <a:xfrm>
            <a:off x="5953077" y="9446475"/>
            <a:ext cx="3455295" cy="291465"/>
          </a:xfrm>
          <a:prstGeom prst="rect">
            <a:avLst/>
          </a:prstGeom>
        </p:spPr>
        <p:txBody>
          <a:bodyPr lIns="0" tIns="0" rIns="0" bIns="0" rtlCol="0" anchor="t">
            <a:spAutoFit/>
          </a:bodyPr>
          <a:lstStyle/>
          <a:p>
            <a:pPr marL="0" lvl="0" indent="0" algn="l">
              <a:lnSpc>
                <a:spcPts val="2340"/>
              </a:lnSpc>
              <a:spcBef>
                <a:spcPct val="0"/>
              </a:spcBef>
            </a:pPr>
            <a:r>
              <a:rPr lang="en-US" sz="1800" b="1">
                <a:solidFill>
                  <a:srgbClr val="001A13"/>
                </a:solidFill>
                <a:latin typeface="Titillium Web Semi-Bold"/>
                <a:ea typeface="Titillium Web Semi-Bold"/>
                <a:cs typeface="Titillium Web Semi-Bold"/>
                <a:sym typeface="Titillium Web Semi-Bold"/>
              </a:rPr>
              <a:t>Retour à la vue d'ensemble</a:t>
            </a:r>
          </a:p>
        </p:txBody>
      </p:sp>
      <p:grpSp>
        <p:nvGrpSpPr>
          <p:cNvPr id="17" name="Group 17"/>
          <p:cNvGrpSpPr/>
          <p:nvPr/>
        </p:nvGrpSpPr>
        <p:grpSpPr>
          <a:xfrm>
            <a:off x="3931900" y="4336723"/>
            <a:ext cx="4716629" cy="2339936"/>
            <a:chOff x="0" y="1146175"/>
            <a:chExt cx="6288838" cy="3119915"/>
          </a:xfrm>
        </p:grpSpPr>
        <p:sp>
          <p:nvSpPr>
            <p:cNvPr id="18" name="TextBox 18"/>
            <p:cNvSpPr txBox="1"/>
            <p:nvPr/>
          </p:nvSpPr>
          <p:spPr>
            <a:xfrm>
              <a:off x="0" y="1146175"/>
              <a:ext cx="6288838" cy="1146175"/>
            </a:xfrm>
            <a:prstGeom prst="rect">
              <a:avLst/>
            </a:prstGeom>
          </p:spPr>
          <p:txBody>
            <a:bodyPr lIns="0" tIns="0" rIns="0" bIns="0" rtlCol="0" anchor="t">
              <a:spAutoFit/>
            </a:bodyPr>
            <a:lstStyle/>
            <a:p>
              <a:pPr algn="l">
                <a:lnSpc>
                  <a:spcPts val="6869"/>
                </a:lnSpc>
              </a:pPr>
              <a:r>
                <a:rPr lang="en-US" sz="5724">
                  <a:solidFill>
                    <a:srgbClr val="FFF8ED"/>
                  </a:solidFill>
                  <a:latin typeface="Anantason Expanded"/>
                  <a:ea typeface="Anantason Expanded"/>
                  <a:cs typeface="Anantason Expanded"/>
                  <a:sym typeface="Anantason Expanded"/>
                </a:rPr>
                <a:t>Nos objectifs</a:t>
              </a:r>
            </a:p>
          </p:txBody>
        </p:sp>
        <p:sp>
          <p:nvSpPr>
            <p:cNvPr id="19" name="TextBox 19"/>
            <p:cNvSpPr txBox="1"/>
            <p:nvPr/>
          </p:nvSpPr>
          <p:spPr>
            <a:xfrm>
              <a:off x="0" y="3640278"/>
              <a:ext cx="6288838" cy="625812"/>
            </a:xfrm>
            <a:prstGeom prst="rect">
              <a:avLst/>
            </a:prstGeom>
          </p:spPr>
          <p:txBody>
            <a:bodyPr lIns="0" tIns="0" rIns="0" bIns="0" rtlCol="0" anchor="t">
              <a:spAutoFit/>
            </a:bodyPr>
            <a:lstStyle/>
            <a:p>
              <a:pPr lvl="0">
                <a:lnSpc>
                  <a:spcPts val="3779"/>
                </a:lnSpc>
                <a:spcBef>
                  <a:spcPct val="0"/>
                </a:spcBef>
              </a:pPr>
              <a:r>
                <a:rPr lang="en-US" sz="2699">
                  <a:solidFill>
                    <a:srgbClr val="FFF8ED"/>
                  </a:solidFill>
                  <a:latin typeface="Titillium Web"/>
                  <a:ea typeface="Titillium Web"/>
                  <a:cs typeface="Titillium Web"/>
                  <a:sym typeface="Titillium Web"/>
                </a:rPr>
                <a:t>Vous servir sans faillir.</a:t>
              </a:r>
            </a:p>
          </p:txBody>
        </p:sp>
      </p:grpSp>
      <p:grpSp>
        <p:nvGrpSpPr>
          <p:cNvPr id="20" name="Group 20"/>
          <p:cNvGrpSpPr/>
          <p:nvPr/>
        </p:nvGrpSpPr>
        <p:grpSpPr>
          <a:xfrm>
            <a:off x="3262360" y="-25837"/>
            <a:ext cx="2129877" cy="2091313"/>
            <a:chOff x="0" y="0"/>
            <a:chExt cx="457050" cy="448775"/>
          </a:xfrm>
        </p:grpSpPr>
        <p:sp>
          <p:nvSpPr>
            <p:cNvPr id="21" name="Freeform 21"/>
            <p:cNvSpPr/>
            <p:nvPr/>
          </p:nvSpPr>
          <p:spPr>
            <a:xfrm>
              <a:off x="0" y="0"/>
              <a:ext cx="457050" cy="448775"/>
            </a:xfrm>
            <a:custGeom>
              <a:avLst/>
              <a:gdLst/>
              <a:ahLst/>
              <a:cxnLst/>
              <a:rect l="l" t="t" r="r" b="b"/>
              <a:pathLst>
                <a:path w="457050" h="448775">
                  <a:moveTo>
                    <a:pt x="0" y="0"/>
                  </a:moveTo>
                  <a:lnTo>
                    <a:pt x="457050" y="0"/>
                  </a:lnTo>
                  <a:lnTo>
                    <a:pt x="457050" y="448775"/>
                  </a:lnTo>
                  <a:lnTo>
                    <a:pt x="0" y="448775"/>
                  </a:lnTo>
                  <a:close/>
                </a:path>
              </a:pathLst>
            </a:custGeom>
            <a:solidFill>
              <a:srgbClr val="001A13"/>
            </a:solidFill>
          </p:spPr>
          <p:txBody>
            <a:bodyPr/>
            <a:lstStyle/>
            <a:p>
              <a:endParaRPr lang="fr-FR"/>
            </a:p>
          </p:txBody>
        </p:sp>
        <p:sp>
          <p:nvSpPr>
            <p:cNvPr id="22" name="TextBox 22"/>
            <p:cNvSpPr txBox="1"/>
            <p:nvPr/>
          </p:nvSpPr>
          <p:spPr>
            <a:xfrm>
              <a:off x="0" y="-38100"/>
              <a:ext cx="457050" cy="486875"/>
            </a:xfrm>
            <a:prstGeom prst="rect">
              <a:avLst/>
            </a:prstGeom>
          </p:spPr>
          <p:txBody>
            <a:bodyPr lIns="50800" tIns="50800" rIns="50800" bIns="50800" rtlCol="0" anchor="ctr"/>
            <a:lstStyle/>
            <a:p>
              <a:pPr algn="ctr">
                <a:lnSpc>
                  <a:spcPts val="2100"/>
                </a:lnSpc>
              </a:pPr>
              <a:endParaRPr/>
            </a:p>
          </p:txBody>
        </p:sp>
      </p:grpSp>
      <p:grpSp>
        <p:nvGrpSpPr>
          <p:cNvPr id="23" name="Group 23"/>
          <p:cNvGrpSpPr/>
          <p:nvPr/>
        </p:nvGrpSpPr>
        <p:grpSpPr>
          <a:xfrm>
            <a:off x="7376492" y="2045856"/>
            <a:ext cx="2041404" cy="2055381"/>
            <a:chOff x="0" y="0"/>
            <a:chExt cx="438065" cy="441064"/>
          </a:xfrm>
        </p:grpSpPr>
        <p:sp>
          <p:nvSpPr>
            <p:cNvPr id="24" name="Freeform 24"/>
            <p:cNvSpPr/>
            <p:nvPr/>
          </p:nvSpPr>
          <p:spPr>
            <a:xfrm>
              <a:off x="0" y="0"/>
              <a:ext cx="438065" cy="441064"/>
            </a:xfrm>
            <a:custGeom>
              <a:avLst/>
              <a:gdLst/>
              <a:ahLst/>
              <a:cxnLst/>
              <a:rect l="l" t="t" r="r" b="b"/>
              <a:pathLst>
                <a:path w="438065" h="441064">
                  <a:moveTo>
                    <a:pt x="0" y="0"/>
                  </a:moveTo>
                  <a:lnTo>
                    <a:pt x="438065" y="0"/>
                  </a:lnTo>
                  <a:lnTo>
                    <a:pt x="438065" y="441064"/>
                  </a:lnTo>
                  <a:lnTo>
                    <a:pt x="0" y="441064"/>
                  </a:lnTo>
                  <a:close/>
                </a:path>
              </a:pathLst>
            </a:custGeom>
            <a:solidFill>
              <a:srgbClr val="96EA9A"/>
            </a:solidFill>
          </p:spPr>
          <p:txBody>
            <a:bodyPr/>
            <a:lstStyle/>
            <a:p>
              <a:endParaRPr lang="fr-FR"/>
            </a:p>
          </p:txBody>
        </p:sp>
        <p:sp>
          <p:nvSpPr>
            <p:cNvPr id="25" name="TextBox 25"/>
            <p:cNvSpPr txBox="1"/>
            <p:nvPr/>
          </p:nvSpPr>
          <p:spPr>
            <a:xfrm>
              <a:off x="0" y="-38100"/>
              <a:ext cx="438065" cy="479164"/>
            </a:xfrm>
            <a:prstGeom prst="rect">
              <a:avLst/>
            </a:prstGeom>
          </p:spPr>
          <p:txBody>
            <a:bodyPr lIns="50800" tIns="50800" rIns="50800" bIns="50800" rtlCol="0" anchor="ctr"/>
            <a:lstStyle/>
            <a:p>
              <a:pPr algn="ctr">
                <a:lnSpc>
                  <a:spcPts val="2100"/>
                </a:lnSpc>
              </a:pPr>
              <a:endParaRPr/>
            </a:p>
          </p:txBody>
        </p:sp>
      </p:grpSp>
      <p:grpSp>
        <p:nvGrpSpPr>
          <p:cNvPr id="26" name="Group 26"/>
          <p:cNvGrpSpPr/>
          <p:nvPr/>
        </p:nvGrpSpPr>
        <p:grpSpPr>
          <a:xfrm>
            <a:off x="16246596" y="8231619"/>
            <a:ext cx="2041404" cy="2055381"/>
            <a:chOff x="0" y="0"/>
            <a:chExt cx="438065" cy="441064"/>
          </a:xfrm>
        </p:grpSpPr>
        <p:sp>
          <p:nvSpPr>
            <p:cNvPr id="27" name="Freeform 27"/>
            <p:cNvSpPr/>
            <p:nvPr/>
          </p:nvSpPr>
          <p:spPr>
            <a:xfrm>
              <a:off x="0" y="0"/>
              <a:ext cx="438065" cy="441064"/>
            </a:xfrm>
            <a:custGeom>
              <a:avLst/>
              <a:gdLst/>
              <a:ahLst/>
              <a:cxnLst/>
              <a:rect l="l" t="t" r="r" b="b"/>
              <a:pathLst>
                <a:path w="438065" h="441064">
                  <a:moveTo>
                    <a:pt x="0" y="0"/>
                  </a:moveTo>
                  <a:lnTo>
                    <a:pt x="438065" y="0"/>
                  </a:lnTo>
                  <a:lnTo>
                    <a:pt x="438065" y="441064"/>
                  </a:lnTo>
                  <a:lnTo>
                    <a:pt x="0" y="441064"/>
                  </a:lnTo>
                  <a:close/>
                </a:path>
              </a:pathLst>
            </a:custGeom>
            <a:solidFill>
              <a:srgbClr val="96EA9A"/>
            </a:solidFill>
          </p:spPr>
          <p:txBody>
            <a:bodyPr/>
            <a:lstStyle/>
            <a:p>
              <a:endParaRPr lang="fr-FR"/>
            </a:p>
          </p:txBody>
        </p:sp>
        <p:sp>
          <p:nvSpPr>
            <p:cNvPr id="28" name="TextBox 28"/>
            <p:cNvSpPr txBox="1"/>
            <p:nvPr/>
          </p:nvSpPr>
          <p:spPr>
            <a:xfrm>
              <a:off x="0" y="-38100"/>
              <a:ext cx="438065" cy="479164"/>
            </a:xfrm>
            <a:prstGeom prst="rect">
              <a:avLst/>
            </a:prstGeom>
          </p:spPr>
          <p:txBody>
            <a:bodyPr lIns="50800" tIns="50800" rIns="50800" bIns="50800" rtlCol="0" anchor="ctr"/>
            <a:lstStyle/>
            <a:p>
              <a:pPr algn="ctr">
                <a:lnSpc>
                  <a:spcPts val="2100"/>
                </a:lnSpc>
              </a:pPr>
              <a:endParaRPr/>
            </a:p>
          </p:txBody>
        </p:sp>
      </p:grpSp>
      <p:grpSp>
        <p:nvGrpSpPr>
          <p:cNvPr id="29" name="Group 29"/>
          <p:cNvGrpSpPr/>
          <p:nvPr/>
        </p:nvGrpSpPr>
        <p:grpSpPr>
          <a:xfrm>
            <a:off x="5325562" y="-25837"/>
            <a:ext cx="2050929" cy="2081218"/>
            <a:chOff x="0" y="0"/>
            <a:chExt cx="440109" cy="446609"/>
          </a:xfrm>
        </p:grpSpPr>
        <p:sp>
          <p:nvSpPr>
            <p:cNvPr id="30" name="Freeform 30"/>
            <p:cNvSpPr/>
            <p:nvPr/>
          </p:nvSpPr>
          <p:spPr>
            <a:xfrm>
              <a:off x="0" y="0"/>
              <a:ext cx="440109" cy="446609"/>
            </a:xfrm>
            <a:custGeom>
              <a:avLst/>
              <a:gdLst/>
              <a:ahLst/>
              <a:cxnLst/>
              <a:rect l="l" t="t" r="r" b="b"/>
              <a:pathLst>
                <a:path w="440109" h="446609">
                  <a:moveTo>
                    <a:pt x="0" y="0"/>
                  </a:moveTo>
                  <a:lnTo>
                    <a:pt x="440109" y="0"/>
                  </a:lnTo>
                  <a:lnTo>
                    <a:pt x="440109" y="446609"/>
                  </a:lnTo>
                  <a:lnTo>
                    <a:pt x="0" y="446609"/>
                  </a:lnTo>
                  <a:close/>
                </a:path>
              </a:pathLst>
            </a:custGeom>
            <a:solidFill>
              <a:srgbClr val="044D3A"/>
            </a:solidFill>
          </p:spPr>
          <p:txBody>
            <a:bodyPr/>
            <a:lstStyle/>
            <a:p>
              <a:endParaRPr lang="fr-FR"/>
            </a:p>
          </p:txBody>
        </p:sp>
        <p:sp>
          <p:nvSpPr>
            <p:cNvPr id="31" name="TextBox 31"/>
            <p:cNvSpPr txBox="1"/>
            <p:nvPr/>
          </p:nvSpPr>
          <p:spPr>
            <a:xfrm>
              <a:off x="0" y="-38100"/>
              <a:ext cx="440109" cy="484709"/>
            </a:xfrm>
            <a:prstGeom prst="rect">
              <a:avLst/>
            </a:prstGeom>
          </p:spPr>
          <p:txBody>
            <a:bodyPr lIns="50800" tIns="50800" rIns="50800" bIns="50800" rtlCol="0" anchor="ctr"/>
            <a:lstStyle/>
            <a:p>
              <a:pPr algn="ctr">
                <a:lnSpc>
                  <a:spcPts val="2100"/>
                </a:lnSpc>
              </a:pPr>
              <a:endParaRPr/>
            </a:p>
          </p:txBody>
        </p:sp>
      </p:grpSp>
      <p:grpSp>
        <p:nvGrpSpPr>
          <p:cNvPr id="32" name="Group 32"/>
          <p:cNvGrpSpPr/>
          <p:nvPr/>
        </p:nvGrpSpPr>
        <p:grpSpPr>
          <a:xfrm>
            <a:off x="9408371" y="-25837"/>
            <a:ext cx="2041404" cy="2091313"/>
            <a:chOff x="0" y="0"/>
            <a:chExt cx="438065" cy="448775"/>
          </a:xfrm>
        </p:grpSpPr>
        <p:sp>
          <p:nvSpPr>
            <p:cNvPr id="33" name="Freeform 33"/>
            <p:cNvSpPr/>
            <p:nvPr/>
          </p:nvSpPr>
          <p:spPr>
            <a:xfrm>
              <a:off x="0" y="0"/>
              <a:ext cx="438065" cy="448775"/>
            </a:xfrm>
            <a:custGeom>
              <a:avLst/>
              <a:gdLst/>
              <a:ahLst/>
              <a:cxnLst/>
              <a:rect l="l" t="t" r="r" b="b"/>
              <a:pathLst>
                <a:path w="438065" h="448775">
                  <a:moveTo>
                    <a:pt x="0" y="0"/>
                  </a:moveTo>
                  <a:lnTo>
                    <a:pt x="438065" y="0"/>
                  </a:lnTo>
                  <a:lnTo>
                    <a:pt x="438065" y="448775"/>
                  </a:lnTo>
                  <a:lnTo>
                    <a:pt x="0" y="448775"/>
                  </a:lnTo>
                  <a:close/>
                </a:path>
              </a:pathLst>
            </a:custGeom>
            <a:solidFill>
              <a:srgbClr val="00BF85"/>
            </a:solidFill>
          </p:spPr>
          <p:txBody>
            <a:bodyPr/>
            <a:lstStyle/>
            <a:p>
              <a:endParaRPr lang="fr-FR"/>
            </a:p>
          </p:txBody>
        </p:sp>
        <p:sp>
          <p:nvSpPr>
            <p:cNvPr id="34" name="TextBox 34"/>
            <p:cNvSpPr txBox="1"/>
            <p:nvPr/>
          </p:nvSpPr>
          <p:spPr>
            <a:xfrm>
              <a:off x="0" y="-38100"/>
              <a:ext cx="438065" cy="486875"/>
            </a:xfrm>
            <a:prstGeom prst="rect">
              <a:avLst/>
            </a:prstGeom>
          </p:spPr>
          <p:txBody>
            <a:bodyPr lIns="50800" tIns="50800" rIns="50800" bIns="50800" rtlCol="0" anchor="ctr"/>
            <a:lstStyle/>
            <a:p>
              <a:pPr algn="ctr">
                <a:lnSpc>
                  <a:spcPts val="2100"/>
                </a:lnSpc>
              </a:pPr>
              <a:endParaRPr/>
            </a:p>
          </p:txBody>
        </p:sp>
      </p:grpSp>
      <p:sp>
        <p:nvSpPr>
          <p:cNvPr id="35" name="Freeform 35"/>
          <p:cNvSpPr/>
          <p:nvPr/>
        </p:nvSpPr>
        <p:spPr>
          <a:xfrm>
            <a:off x="10262051" y="5059849"/>
            <a:ext cx="697560" cy="789420"/>
          </a:xfrm>
          <a:custGeom>
            <a:avLst/>
            <a:gdLst/>
            <a:ahLst/>
            <a:cxnLst/>
            <a:rect l="l" t="t" r="r" b="b"/>
            <a:pathLst>
              <a:path w="697560" h="789420">
                <a:moveTo>
                  <a:pt x="0" y="0"/>
                </a:moveTo>
                <a:lnTo>
                  <a:pt x="697560" y="0"/>
                </a:lnTo>
                <a:lnTo>
                  <a:pt x="697560" y="789420"/>
                </a:lnTo>
                <a:lnTo>
                  <a:pt x="0" y="7894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36" name="Freeform 36"/>
          <p:cNvSpPr/>
          <p:nvPr/>
        </p:nvSpPr>
        <p:spPr>
          <a:xfrm>
            <a:off x="10323769" y="6925594"/>
            <a:ext cx="574124" cy="789420"/>
          </a:xfrm>
          <a:custGeom>
            <a:avLst/>
            <a:gdLst/>
            <a:ahLst/>
            <a:cxnLst/>
            <a:rect l="l" t="t" r="r" b="b"/>
            <a:pathLst>
              <a:path w="574124" h="789420">
                <a:moveTo>
                  <a:pt x="0" y="0"/>
                </a:moveTo>
                <a:lnTo>
                  <a:pt x="574124" y="0"/>
                </a:lnTo>
                <a:lnTo>
                  <a:pt x="574124" y="789421"/>
                </a:lnTo>
                <a:lnTo>
                  <a:pt x="0" y="7894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FR"/>
          </a:p>
        </p:txBody>
      </p:sp>
      <p:sp>
        <p:nvSpPr>
          <p:cNvPr id="37" name="Freeform 37"/>
          <p:cNvSpPr/>
          <p:nvPr/>
        </p:nvSpPr>
        <p:spPr>
          <a:xfrm>
            <a:off x="10288604" y="3140056"/>
            <a:ext cx="644454" cy="789420"/>
          </a:xfrm>
          <a:custGeom>
            <a:avLst/>
            <a:gdLst/>
            <a:ahLst/>
            <a:cxnLst/>
            <a:rect l="l" t="t" r="r" b="b"/>
            <a:pathLst>
              <a:path w="644454" h="789420">
                <a:moveTo>
                  <a:pt x="0" y="0"/>
                </a:moveTo>
                <a:lnTo>
                  <a:pt x="644454" y="0"/>
                </a:lnTo>
                <a:lnTo>
                  <a:pt x="644454" y="789420"/>
                </a:lnTo>
                <a:lnTo>
                  <a:pt x="0" y="78942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p:cNvGrpSpPr/>
        <p:nvPr/>
      </p:nvGrpSpPr>
      <p:grpSpPr>
        <a:xfrm>
          <a:off x="0" y="0"/>
          <a:ext cx="0" cy="0"/>
          <a:chOff x="0" y="0"/>
          <a:chExt cx="0" cy="0"/>
        </a:xfrm>
      </p:grpSpPr>
      <p:grpSp>
        <p:nvGrpSpPr>
          <p:cNvPr id="2" name="Group 2"/>
          <p:cNvGrpSpPr/>
          <p:nvPr/>
        </p:nvGrpSpPr>
        <p:grpSpPr>
          <a:xfrm>
            <a:off x="7510515" y="0"/>
            <a:ext cx="10777485" cy="5476921"/>
            <a:chOff x="0" y="0"/>
            <a:chExt cx="14369980" cy="7302562"/>
          </a:xfrm>
        </p:grpSpPr>
        <p:pic>
          <p:nvPicPr>
            <p:cNvPr id="3" name="Picture 3"/>
            <p:cNvPicPr>
              <a:picLocks noChangeAspect="1"/>
            </p:cNvPicPr>
            <p:nvPr/>
          </p:nvPicPr>
          <p:blipFill>
            <a:blip r:embed="rId2"/>
            <a:srcRect t="11886" b="11886"/>
            <a:stretch>
              <a:fillRect/>
            </a:stretch>
          </p:blipFill>
          <p:spPr>
            <a:xfrm>
              <a:off x="0" y="0"/>
              <a:ext cx="14369980" cy="7302562"/>
            </a:xfrm>
            <a:prstGeom prst="rect">
              <a:avLst/>
            </a:prstGeom>
          </p:spPr>
        </p:pic>
      </p:grpSp>
      <p:grpSp>
        <p:nvGrpSpPr>
          <p:cNvPr id="6" name="Group 6"/>
          <p:cNvGrpSpPr/>
          <p:nvPr/>
        </p:nvGrpSpPr>
        <p:grpSpPr>
          <a:xfrm>
            <a:off x="15264548" y="3701456"/>
            <a:ext cx="3023452" cy="2209800"/>
            <a:chOff x="0" y="0"/>
            <a:chExt cx="4482090" cy="3275898"/>
          </a:xfrm>
        </p:grpSpPr>
        <p:sp>
          <p:nvSpPr>
            <p:cNvPr id="7" name="Freeform 7"/>
            <p:cNvSpPr/>
            <p:nvPr/>
          </p:nvSpPr>
          <p:spPr>
            <a:xfrm>
              <a:off x="0" y="0"/>
              <a:ext cx="4482090" cy="3275898"/>
            </a:xfrm>
            <a:custGeom>
              <a:avLst/>
              <a:gdLst/>
              <a:ahLst/>
              <a:cxnLst/>
              <a:rect l="l" t="t" r="r" b="b"/>
              <a:pathLst>
                <a:path w="4482090" h="3275898">
                  <a:moveTo>
                    <a:pt x="0" y="0"/>
                  </a:moveTo>
                  <a:lnTo>
                    <a:pt x="4482090" y="0"/>
                  </a:lnTo>
                  <a:lnTo>
                    <a:pt x="4482090" y="3275898"/>
                  </a:lnTo>
                  <a:lnTo>
                    <a:pt x="0" y="3275898"/>
                  </a:lnTo>
                  <a:close/>
                </a:path>
              </a:pathLst>
            </a:custGeom>
            <a:solidFill>
              <a:srgbClr val="00BF85"/>
            </a:solidFill>
            <a:ln cap="sq">
              <a:noFill/>
              <a:prstDash val="sysDot"/>
              <a:miter/>
            </a:ln>
          </p:spPr>
          <p:txBody>
            <a:bodyPr/>
            <a:lstStyle/>
            <a:p>
              <a:endParaRPr lang="fr-FR"/>
            </a:p>
          </p:txBody>
        </p:sp>
        <p:sp>
          <p:nvSpPr>
            <p:cNvPr id="8" name="TextBox 8"/>
            <p:cNvSpPr txBox="1"/>
            <p:nvPr/>
          </p:nvSpPr>
          <p:spPr>
            <a:xfrm>
              <a:off x="0" y="-38100"/>
              <a:ext cx="4482090" cy="3313998"/>
            </a:xfrm>
            <a:prstGeom prst="rect">
              <a:avLst/>
            </a:prstGeom>
          </p:spPr>
          <p:txBody>
            <a:bodyPr lIns="254000" tIns="254000" rIns="254000" bIns="254000" rtlCol="0" anchor="ctr"/>
            <a:lstStyle/>
            <a:p>
              <a:pPr algn="l">
                <a:lnSpc>
                  <a:spcPts val="2100"/>
                </a:lnSpc>
              </a:pPr>
              <a:endParaRPr lang="en-US" sz="1500">
                <a:solidFill>
                  <a:srgbClr val="001A13"/>
                </a:solidFill>
                <a:latin typeface="Titillium Web"/>
                <a:ea typeface="Titillium Web"/>
                <a:cs typeface="Titillium Web"/>
              </a:endParaRPr>
            </a:p>
          </p:txBody>
        </p:sp>
      </p:grpSp>
      <p:sp>
        <p:nvSpPr>
          <p:cNvPr id="9" name="TextBox 9"/>
          <p:cNvSpPr txBox="1"/>
          <p:nvPr/>
        </p:nvSpPr>
        <p:spPr>
          <a:xfrm>
            <a:off x="884496" y="2728787"/>
            <a:ext cx="5707490" cy="2000548"/>
          </a:xfrm>
          <a:prstGeom prst="rect">
            <a:avLst/>
          </a:prstGeom>
        </p:spPr>
        <p:txBody>
          <a:bodyPr wrap="square" lIns="0" tIns="0" rIns="0" bIns="0" rtlCol="0" anchor="t">
            <a:spAutoFit/>
          </a:bodyPr>
          <a:lstStyle/>
          <a:p>
            <a:pPr algn="ctr">
              <a:lnSpc>
                <a:spcPts val="7800"/>
              </a:lnSpc>
            </a:pPr>
            <a:r>
              <a:rPr lang="en-US" sz="6500">
                <a:solidFill>
                  <a:srgbClr val="FFF8ED"/>
                </a:solidFill>
                <a:ea typeface="+mn-lt"/>
                <a:cs typeface="+mn-lt"/>
                <a:sym typeface="Anantason Expanded"/>
              </a:rPr>
              <a:t>TPGM </a:t>
            </a:r>
            <a:endParaRPr lang="fr-FR">
              <a:solidFill>
                <a:srgbClr val="000000"/>
              </a:solidFill>
              <a:ea typeface="+mn-lt"/>
              <a:cs typeface="+mn-lt"/>
            </a:endParaRPr>
          </a:p>
          <a:p>
            <a:pPr algn="ctr">
              <a:lnSpc>
                <a:spcPts val="7800"/>
              </a:lnSpc>
            </a:pPr>
            <a:r>
              <a:rPr lang="en-US" sz="6500">
                <a:solidFill>
                  <a:srgbClr val="FFF8ED"/>
                </a:solidFill>
                <a:ea typeface="+mn-lt"/>
                <a:cs typeface="+mn-lt"/>
                <a:sym typeface="Anantason Expanded"/>
              </a:rPr>
              <a:t> Assist</a:t>
            </a:r>
            <a:endParaRPr lang="fr-FR">
              <a:ea typeface="Calibri"/>
              <a:cs typeface="Calibri"/>
            </a:endParaRPr>
          </a:p>
        </p:txBody>
      </p:sp>
      <p:sp>
        <p:nvSpPr>
          <p:cNvPr id="10" name="TextBox 10"/>
          <p:cNvSpPr txBox="1"/>
          <p:nvPr/>
        </p:nvSpPr>
        <p:spPr>
          <a:xfrm>
            <a:off x="8400172" y="6321093"/>
            <a:ext cx="8313915" cy="2316019"/>
          </a:xfrm>
          <a:prstGeom prst="rect">
            <a:avLst/>
          </a:prstGeom>
        </p:spPr>
        <p:txBody>
          <a:bodyPr lIns="0" tIns="0" rIns="0" bIns="0" rtlCol="0" anchor="t">
            <a:spAutoFit/>
          </a:bodyPr>
          <a:lstStyle/>
          <a:p>
            <a:pPr marL="457200" algn="ctr"/>
            <a:r>
              <a:rPr lang="en-US" sz="2150">
                <a:solidFill>
                  <a:srgbClr val="FFF8ED"/>
                </a:solidFill>
                <a:ea typeface="+mn-lt"/>
                <a:cs typeface="+mn-lt"/>
              </a:rPr>
              <a:t>TPGM Assist est un </a:t>
            </a:r>
            <a:r>
              <a:rPr lang="en-US" sz="2150" b="1" err="1">
                <a:solidFill>
                  <a:srgbClr val="FFF8ED"/>
                </a:solidFill>
                <a:ea typeface="+mn-lt"/>
                <a:cs typeface="+mn-lt"/>
              </a:rPr>
              <a:t>outil</a:t>
            </a:r>
            <a:r>
              <a:rPr lang="en-US" sz="2150" b="1">
                <a:solidFill>
                  <a:srgbClr val="FFF8ED"/>
                </a:solidFill>
                <a:ea typeface="+mn-lt"/>
                <a:cs typeface="+mn-lt"/>
              </a:rPr>
              <a:t> interne</a:t>
            </a:r>
            <a:r>
              <a:rPr lang="en-US" sz="2150">
                <a:solidFill>
                  <a:srgbClr val="FFF8ED"/>
                </a:solidFill>
                <a:ea typeface="+mn-lt"/>
                <a:cs typeface="+mn-lt"/>
              </a:rPr>
              <a:t> </a:t>
            </a:r>
            <a:r>
              <a:rPr lang="en-US" sz="2150" err="1">
                <a:solidFill>
                  <a:srgbClr val="FFF8ED"/>
                </a:solidFill>
                <a:ea typeface="+mn-lt"/>
                <a:cs typeface="+mn-lt"/>
              </a:rPr>
              <a:t>permettant</a:t>
            </a:r>
            <a:r>
              <a:rPr lang="en-US" sz="2150">
                <a:solidFill>
                  <a:srgbClr val="FFF8ED"/>
                </a:solidFill>
                <a:ea typeface="+mn-lt"/>
                <a:cs typeface="+mn-lt"/>
              </a:rPr>
              <a:t> de :</a:t>
            </a:r>
            <a:endParaRPr lang="en-US" sz="2150">
              <a:solidFill>
                <a:srgbClr val="FFF8ED"/>
              </a:solidFill>
              <a:latin typeface="Titillium Web"/>
              <a:ea typeface="+mn-lt"/>
              <a:cs typeface="+mn-lt"/>
            </a:endParaRPr>
          </a:p>
          <a:p>
            <a:pPr marL="457200"/>
            <a:endParaRPr lang="en-US" sz="2150">
              <a:solidFill>
                <a:srgbClr val="FFF8ED"/>
              </a:solidFill>
              <a:ea typeface="+mn-lt"/>
              <a:cs typeface="+mn-lt"/>
            </a:endParaRPr>
          </a:p>
          <a:p>
            <a:pPr>
              <a:buFont typeface="Arial"/>
              <a:buChar char="•"/>
            </a:pPr>
            <a:r>
              <a:rPr lang="en-US" sz="2150" err="1">
                <a:solidFill>
                  <a:srgbClr val="FFF8ED"/>
                </a:solidFill>
                <a:ea typeface="+mn-lt"/>
                <a:cs typeface="+mn-lt"/>
              </a:rPr>
              <a:t>Centraliser</a:t>
            </a:r>
            <a:r>
              <a:rPr lang="en-US" sz="2150">
                <a:solidFill>
                  <a:srgbClr val="FFF8ED"/>
                </a:solidFill>
                <a:ea typeface="+mn-lt"/>
                <a:cs typeface="+mn-lt"/>
              </a:rPr>
              <a:t> les tickets/incidents SOC,</a:t>
            </a:r>
            <a:endParaRPr lang="en-US"/>
          </a:p>
          <a:p>
            <a:pPr>
              <a:buFont typeface="Arial"/>
              <a:buChar char="•"/>
            </a:pPr>
            <a:r>
              <a:rPr lang="en-US" sz="2150" err="1">
                <a:solidFill>
                  <a:srgbClr val="FFF8ED"/>
                </a:solidFill>
                <a:ea typeface="+mn-lt"/>
                <a:cs typeface="+mn-lt"/>
              </a:rPr>
              <a:t>Analyser</a:t>
            </a:r>
            <a:r>
              <a:rPr lang="en-US" sz="2150">
                <a:solidFill>
                  <a:srgbClr val="FFF8ED"/>
                </a:solidFill>
                <a:ea typeface="+mn-lt"/>
                <a:cs typeface="+mn-lt"/>
              </a:rPr>
              <a:t> les menaces,</a:t>
            </a:r>
            <a:endParaRPr lang="en-US"/>
          </a:p>
          <a:p>
            <a:pPr>
              <a:buFont typeface="Arial"/>
              <a:buChar char="•"/>
            </a:pPr>
            <a:r>
              <a:rPr lang="en-US" sz="2150" err="1">
                <a:solidFill>
                  <a:srgbClr val="FFF8ED"/>
                </a:solidFill>
                <a:ea typeface="+mn-lt"/>
                <a:cs typeface="+mn-lt"/>
              </a:rPr>
              <a:t>Afficher</a:t>
            </a:r>
            <a:r>
              <a:rPr lang="en-US" sz="2150">
                <a:solidFill>
                  <a:srgbClr val="FFF8ED"/>
                </a:solidFill>
                <a:ea typeface="+mn-lt"/>
                <a:cs typeface="+mn-lt"/>
              </a:rPr>
              <a:t> des tableaux de bord de </a:t>
            </a:r>
            <a:r>
              <a:rPr lang="en-US" sz="2150" err="1">
                <a:solidFill>
                  <a:srgbClr val="FFF8ED"/>
                </a:solidFill>
                <a:ea typeface="+mn-lt"/>
                <a:cs typeface="+mn-lt"/>
              </a:rPr>
              <a:t>sécurité</a:t>
            </a:r>
            <a:r>
              <a:rPr lang="en-US" sz="2150">
                <a:solidFill>
                  <a:srgbClr val="FFF8ED"/>
                </a:solidFill>
                <a:ea typeface="+mn-lt"/>
                <a:cs typeface="+mn-lt"/>
              </a:rPr>
              <a:t>,</a:t>
            </a:r>
            <a:endParaRPr lang="en-US"/>
          </a:p>
          <a:p>
            <a:pPr>
              <a:buFont typeface="Arial"/>
              <a:buChar char="•"/>
            </a:pPr>
            <a:r>
              <a:rPr lang="en-US" sz="2150" err="1">
                <a:solidFill>
                  <a:srgbClr val="FFF8ED"/>
                </a:solidFill>
                <a:ea typeface="+mn-lt"/>
                <a:cs typeface="+mn-lt"/>
              </a:rPr>
              <a:t>Faciliter</a:t>
            </a:r>
            <a:r>
              <a:rPr lang="en-US" sz="2150">
                <a:solidFill>
                  <a:srgbClr val="FFF8ED"/>
                </a:solidFill>
                <a:ea typeface="+mn-lt"/>
                <a:cs typeface="+mn-lt"/>
              </a:rPr>
              <a:t> la coordination entre </a:t>
            </a:r>
            <a:r>
              <a:rPr lang="en-US" sz="2150" err="1">
                <a:solidFill>
                  <a:srgbClr val="FFF8ED"/>
                </a:solidFill>
                <a:ea typeface="+mn-lt"/>
                <a:cs typeface="+mn-lt"/>
              </a:rPr>
              <a:t>analystes</a:t>
            </a:r>
            <a:r>
              <a:rPr lang="en-US" sz="2150">
                <a:solidFill>
                  <a:srgbClr val="FFF8ED"/>
                </a:solidFill>
                <a:ea typeface="+mn-lt"/>
                <a:cs typeface="+mn-lt"/>
              </a:rPr>
              <a:t>, managers et chefs de </a:t>
            </a:r>
            <a:r>
              <a:rPr lang="en-US" sz="2150" err="1">
                <a:solidFill>
                  <a:srgbClr val="FFF8ED"/>
                </a:solidFill>
                <a:ea typeface="+mn-lt"/>
                <a:cs typeface="+mn-lt"/>
              </a:rPr>
              <a:t>projets</a:t>
            </a:r>
            <a:r>
              <a:rPr lang="en-US" sz="2150">
                <a:solidFill>
                  <a:srgbClr val="FFF8ED"/>
                </a:solidFill>
                <a:ea typeface="+mn-lt"/>
                <a:cs typeface="+mn-lt"/>
              </a:rPr>
              <a:t>,</a:t>
            </a:r>
            <a:endParaRPr lang="en-US"/>
          </a:p>
          <a:p>
            <a:pPr>
              <a:buFont typeface="Arial"/>
              <a:buChar char="•"/>
            </a:pPr>
            <a:r>
              <a:rPr lang="en-US" sz="2150" err="1">
                <a:solidFill>
                  <a:srgbClr val="FFF8ED"/>
                </a:solidFill>
                <a:ea typeface="+mn-lt"/>
                <a:cs typeface="+mn-lt"/>
              </a:rPr>
              <a:t>Améliorer</a:t>
            </a:r>
            <a:r>
              <a:rPr lang="en-US" sz="2150">
                <a:solidFill>
                  <a:srgbClr val="FFF8ED"/>
                </a:solidFill>
                <a:ea typeface="+mn-lt"/>
                <a:cs typeface="+mn-lt"/>
              </a:rPr>
              <a:t> la satisfaction client via </a:t>
            </a:r>
            <a:r>
              <a:rPr lang="en-US" sz="2150" err="1">
                <a:solidFill>
                  <a:srgbClr val="FFF8ED"/>
                </a:solidFill>
                <a:ea typeface="+mn-lt"/>
                <a:cs typeface="+mn-lt"/>
              </a:rPr>
              <a:t>une</a:t>
            </a:r>
            <a:r>
              <a:rPr lang="en-US" sz="2150">
                <a:solidFill>
                  <a:srgbClr val="FFF8ED"/>
                </a:solidFill>
                <a:ea typeface="+mn-lt"/>
                <a:cs typeface="+mn-lt"/>
              </a:rPr>
              <a:t> </a:t>
            </a:r>
            <a:r>
              <a:rPr lang="en-US" sz="2150" err="1">
                <a:solidFill>
                  <a:srgbClr val="FFF8ED"/>
                </a:solidFill>
                <a:ea typeface="+mn-lt"/>
                <a:cs typeface="+mn-lt"/>
              </a:rPr>
              <a:t>meilleure</a:t>
            </a:r>
            <a:r>
              <a:rPr lang="en-US" sz="2150">
                <a:solidFill>
                  <a:srgbClr val="FFF8ED"/>
                </a:solidFill>
                <a:ea typeface="+mn-lt"/>
                <a:cs typeface="+mn-lt"/>
              </a:rPr>
              <a:t> </a:t>
            </a:r>
            <a:r>
              <a:rPr lang="en-US" sz="2150" err="1">
                <a:solidFill>
                  <a:srgbClr val="FFF8ED"/>
                </a:solidFill>
                <a:ea typeface="+mn-lt"/>
                <a:cs typeface="+mn-lt"/>
              </a:rPr>
              <a:t>réactivité</a:t>
            </a:r>
            <a:r>
              <a:rPr lang="en-US" sz="2150">
                <a:solidFill>
                  <a:srgbClr val="FFF8ED"/>
                </a:solidFill>
                <a:ea typeface="+mn-lt"/>
                <a:cs typeface="+mn-lt"/>
              </a:rPr>
              <a:t>.</a:t>
            </a:r>
            <a:endParaRPr lang="en-US">
              <a:ea typeface="Calibri"/>
              <a:cs typeface="Calibri"/>
            </a:endParaRPr>
          </a:p>
        </p:txBody>
      </p:sp>
      <p:grpSp>
        <p:nvGrpSpPr>
          <p:cNvPr id="12" name="Group 12"/>
          <p:cNvGrpSpPr/>
          <p:nvPr/>
        </p:nvGrpSpPr>
        <p:grpSpPr>
          <a:xfrm>
            <a:off x="884496" y="1028700"/>
            <a:ext cx="4127774" cy="890005"/>
            <a:chOff x="0" y="0"/>
            <a:chExt cx="5503701" cy="1186672"/>
          </a:xfrm>
        </p:grpSpPr>
        <p:sp>
          <p:nvSpPr>
            <p:cNvPr id="13" name="Freeform 13"/>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14" name="TextBox 14"/>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pic>
        <p:nvPicPr>
          <p:cNvPr id="15" name="Image 14" descr="Une image contenant Graphique, graphisme, capture d’écran, logo&#10;&#10;Le contenu généré par l’IA peut être incorrect.">
            <a:extLst>
              <a:ext uri="{FF2B5EF4-FFF2-40B4-BE49-F238E27FC236}">
                <a16:creationId xmlns:a16="http://schemas.microsoft.com/office/drawing/2014/main" id="{A9E709D2-51CD-945E-083D-597D40AC9984}"/>
              </a:ext>
            </a:extLst>
          </p:cNvPr>
          <p:cNvPicPr>
            <a:picLocks noChangeAspect="1"/>
          </p:cNvPicPr>
          <p:nvPr/>
        </p:nvPicPr>
        <p:blipFill>
          <a:blip r:embed="rId4"/>
          <a:stretch>
            <a:fillRect/>
          </a:stretch>
        </p:blipFill>
        <p:spPr>
          <a:xfrm>
            <a:off x="-6723" y="4040840"/>
            <a:ext cx="7526991" cy="5466230"/>
          </a:xfrm>
          <a:prstGeom prst="rect">
            <a:avLst/>
          </a:prstGeom>
        </p:spPr>
      </p:pic>
    </p:spTree>
    <p:extLst>
      <p:ext uri="{BB962C8B-B14F-4D97-AF65-F5344CB8AC3E}">
        <p14:creationId xmlns:p14="http://schemas.microsoft.com/office/powerpoint/2010/main" val="349351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8ED"/>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7453704" cy="10287000"/>
            <a:chOff x="0" y="0"/>
            <a:chExt cx="1963115" cy="2709333"/>
          </a:xfrm>
        </p:grpSpPr>
        <p:sp>
          <p:nvSpPr>
            <p:cNvPr id="3" name="Freeform 3"/>
            <p:cNvSpPr/>
            <p:nvPr/>
          </p:nvSpPr>
          <p:spPr>
            <a:xfrm>
              <a:off x="0" y="0"/>
              <a:ext cx="1963115" cy="2709333"/>
            </a:xfrm>
            <a:custGeom>
              <a:avLst/>
              <a:gdLst/>
              <a:ahLst/>
              <a:cxnLst/>
              <a:rect l="l" t="t" r="r" b="b"/>
              <a:pathLst>
                <a:path w="1963115" h="2709333">
                  <a:moveTo>
                    <a:pt x="0" y="0"/>
                  </a:moveTo>
                  <a:lnTo>
                    <a:pt x="1963115" y="0"/>
                  </a:lnTo>
                  <a:lnTo>
                    <a:pt x="1963115" y="2709333"/>
                  </a:lnTo>
                  <a:lnTo>
                    <a:pt x="0" y="2709333"/>
                  </a:lnTo>
                  <a:close/>
                </a:path>
              </a:pathLst>
            </a:custGeom>
            <a:solidFill>
              <a:srgbClr val="044D3A"/>
            </a:solidFill>
          </p:spPr>
          <p:txBody>
            <a:bodyPr/>
            <a:lstStyle/>
            <a:p>
              <a:endParaRPr lang="fr-FR"/>
            </a:p>
          </p:txBody>
        </p:sp>
        <p:sp>
          <p:nvSpPr>
            <p:cNvPr id="4" name="TextBox 4"/>
            <p:cNvSpPr txBox="1"/>
            <p:nvPr/>
          </p:nvSpPr>
          <p:spPr>
            <a:xfrm>
              <a:off x="0" y="-38100"/>
              <a:ext cx="1963115" cy="2747433"/>
            </a:xfrm>
            <a:prstGeom prst="rect">
              <a:avLst/>
            </a:prstGeom>
          </p:spPr>
          <p:txBody>
            <a:bodyPr lIns="50800" tIns="50800" rIns="50800" bIns="50800" rtlCol="0" anchor="ctr"/>
            <a:lstStyle/>
            <a:p>
              <a:pPr algn="ctr">
                <a:lnSpc>
                  <a:spcPts val="2100"/>
                </a:lnSpc>
              </a:pPr>
              <a:endParaRPr/>
            </a:p>
          </p:txBody>
        </p:sp>
      </p:grpSp>
      <p:sp>
        <p:nvSpPr>
          <p:cNvPr id="5" name="TextBox 5"/>
          <p:cNvSpPr txBox="1"/>
          <p:nvPr/>
        </p:nvSpPr>
        <p:spPr>
          <a:xfrm>
            <a:off x="1028700" y="9239213"/>
            <a:ext cx="2840365" cy="291465"/>
          </a:xfrm>
          <a:prstGeom prst="rect">
            <a:avLst/>
          </a:prstGeom>
        </p:spPr>
        <p:txBody>
          <a:bodyPr lIns="0" tIns="0" rIns="0" bIns="0" rtlCol="0" anchor="t">
            <a:spAutoFit/>
          </a:bodyPr>
          <a:lstStyle/>
          <a:p>
            <a:pPr marL="0" lvl="0" indent="0" algn="l">
              <a:lnSpc>
                <a:spcPts val="2340"/>
              </a:lnSpc>
              <a:spcBef>
                <a:spcPct val="0"/>
              </a:spcBef>
            </a:pPr>
            <a:r>
              <a:rPr lang="en-US" sz="1800" b="1">
                <a:solidFill>
                  <a:srgbClr val="FFF8ED"/>
                </a:solidFill>
                <a:latin typeface="Titillium Web Semi-Bold"/>
                <a:ea typeface="Titillium Web Semi-Bold"/>
                <a:cs typeface="Titillium Web Semi-Bold"/>
                <a:sym typeface="Titillium Web Semi-Bold"/>
              </a:rPr>
              <a:t>Retour à la vue d'ensemble</a:t>
            </a:r>
          </a:p>
        </p:txBody>
      </p:sp>
      <p:grpSp>
        <p:nvGrpSpPr>
          <p:cNvPr id="6" name="Group 6"/>
          <p:cNvGrpSpPr/>
          <p:nvPr/>
        </p:nvGrpSpPr>
        <p:grpSpPr>
          <a:xfrm>
            <a:off x="0" y="1071563"/>
            <a:ext cx="6573730" cy="3656770"/>
            <a:chOff x="-1371600" y="57151"/>
            <a:chExt cx="8764974" cy="4875692"/>
          </a:xfrm>
        </p:grpSpPr>
        <p:sp>
          <p:nvSpPr>
            <p:cNvPr id="7" name="TextBox 7"/>
            <p:cNvSpPr txBox="1"/>
            <p:nvPr/>
          </p:nvSpPr>
          <p:spPr>
            <a:xfrm>
              <a:off x="0" y="57151"/>
              <a:ext cx="7393374" cy="4875692"/>
            </a:xfrm>
            <a:prstGeom prst="rect">
              <a:avLst/>
            </a:prstGeom>
          </p:spPr>
          <p:txBody>
            <a:bodyPr wrap="square" lIns="0" tIns="0" rIns="0" bIns="0" rtlCol="0" anchor="t">
              <a:spAutoFit/>
            </a:bodyPr>
            <a:lstStyle/>
            <a:p>
              <a:pPr>
                <a:lnSpc>
                  <a:spcPts val="7083"/>
                </a:lnSpc>
              </a:pPr>
              <a:r>
                <a:rPr lang="en-US" sz="6300">
                  <a:solidFill>
                    <a:srgbClr val="FFF8ED"/>
                  </a:solidFill>
                  <a:latin typeface="Anantason Expanded"/>
                  <a:cs typeface="Anantason Expanded"/>
                  <a:sym typeface="Anantason Expanded"/>
                </a:rPr>
                <a:t>Notre </a:t>
              </a:r>
              <a:r>
                <a:rPr lang="en-US" sz="6300" err="1">
                  <a:solidFill>
                    <a:srgbClr val="FFF8ED"/>
                  </a:solidFill>
                  <a:latin typeface="Anantason Expanded"/>
                  <a:cs typeface="Anantason Expanded"/>
                  <a:sym typeface="Anantason Expanded"/>
                </a:rPr>
                <a:t>Projet</a:t>
              </a:r>
              <a:r>
                <a:rPr lang="en-US" sz="6300">
                  <a:solidFill>
                    <a:srgbClr val="FFF8ED"/>
                  </a:solidFill>
                  <a:latin typeface="Anantason Expanded"/>
                  <a:cs typeface="Anantason Expanded"/>
                  <a:sym typeface="Anantason Expanded"/>
                </a:rPr>
                <a:t> CRM :</a:t>
              </a:r>
            </a:p>
            <a:p>
              <a:pPr>
                <a:lnSpc>
                  <a:spcPts val="7083"/>
                </a:lnSpc>
              </a:pPr>
              <a:endParaRPr lang="en-US" sz="6300">
                <a:solidFill>
                  <a:srgbClr val="FFF8ED"/>
                </a:solidFill>
                <a:latin typeface="Anantason Expanded"/>
                <a:cs typeface="Anantason Expanded"/>
              </a:endParaRPr>
            </a:p>
            <a:p>
              <a:pPr>
                <a:lnSpc>
                  <a:spcPts val="7083"/>
                </a:lnSpc>
              </a:pPr>
              <a:r>
                <a:rPr lang="en-US" sz="6300">
                  <a:solidFill>
                    <a:srgbClr val="FFF8ED"/>
                  </a:solidFill>
                  <a:latin typeface="Anantason Expanded"/>
                  <a:cs typeface="Anantason Expanded"/>
                </a:rPr>
                <a:t>TPGM Assist</a:t>
              </a:r>
            </a:p>
          </p:txBody>
        </p:sp>
        <p:sp>
          <p:nvSpPr>
            <p:cNvPr id="8" name="TextBox 8"/>
            <p:cNvSpPr txBox="1"/>
            <p:nvPr/>
          </p:nvSpPr>
          <p:spPr>
            <a:xfrm>
              <a:off x="-1371600" y="4009563"/>
              <a:ext cx="6362434" cy="623248"/>
            </a:xfrm>
            <a:prstGeom prst="rect">
              <a:avLst/>
            </a:prstGeom>
          </p:spPr>
          <p:txBody>
            <a:bodyPr lIns="0" tIns="0" rIns="0" bIns="0" rtlCol="0" anchor="t">
              <a:spAutoFit/>
            </a:bodyPr>
            <a:lstStyle/>
            <a:p>
              <a:pPr>
                <a:lnSpc>
                  <a:spcPts val="3779"/>
                </a:lnSpc>
                <a:spcBef>
                  <a:spcPct val="0"/>
                </a:spcBef>
              </a:pPr>
              <a:endParaRPr lang="en-US" sz="2650">
                <a:solidFill>
                  <a:srgbClr val="FFF8ED"/>
                </a:solidFill>
                <a:latin typeface="Titillium Web"/>
                <a:ea typeface="Calibri"/>
                <a:cs typeface="Calibri"/>
              </a:endParaRPr>
            </a:p>
          </p:txBody>
        </p:sp>
      </p:grpSp>
      <p:sp>
        <p:nvSpPr>
          <p:cNvPr id="11" name="TextBox 11"/>
          <p:cNvSpPr txBox="1"/>
          <p:nvPr/>
        </p:nvSpPr>
        <p:spPr>
          <a:xfrm>
            <a:off x="10331701" y="2651552"/>
            <a:ext cx="7573381" cy="674544"/>
          </a:xfrm>
          <a:prstGeom prst="rect">
            <a:avLst/>
          </a:prstGeom>
        </p:spPr>
        <p:txBody>
          <a:bodyPr wrap="square" lIns="0" tIns="0" rIns="0" bIns="0" rtlCol="0" anchor="t">
            <a:spAutoFit/>
          </a:bodyPr>
          <a:lstStyle/>
          <a:p>
            <a:pPr marL="285750" indent="-285750">
              <a:buFont typeface="Courier New" panose="02070309020205020404" pitchFamily="49" charset="0"/>
              <a:buChar char="o"/>
            </a:pPr>
            <a:r>
              <a:rPr lang="en-US">
                <a:solidFill>
                  <a:srgbClr val="001A13"/>
                </a:solidFill>
                <a:ea typeface="+mn-lt"/>
                <a:cs typeface="+mn-lt"/>
                <a:sym typeface="Titillium Web"/>
              </a:rPr>
              <a:t>Développement au </a:t>
            </a:r>
            <a:r>
              <a:rPr lang="en-US" err="1">
                <a:solidFill>
                  <a:srgbClr val="001A13"/>
                </a:solidFill>
                <a:ea typeface="+mn-lt"/>
                <a:cs typeface="+mn-lt"/>
                <a:sym typeface="Titillium Web"/>
              </a:rPr>
              <a:t>siège</a:t>
            </a:r>
            <a:r>
              <a:rPr lang="en-US">
                <a:solidFill>
                  <a:srgbClr val="001A13"/>
                </a:solidFill>
                <a:ea typeface="+mn-lt"/>
                <a:cs typeface="+mn-lt"/>
                <a:sym typeface="Titillium Web"/>
              </a:rPr>
              <a:t> TPGM CONSULTING – </a:t>
            </a:r>
            <a:r>
              <a:rPr lang="en-US" b="1">
                <a:solidFill>
                  <a:srgbClr val="001A13"/>
                </a:solidFill>
                <a:ea typeface="+mn-lt"/>
                <a:cs typeface="+mn-lt"/>
                <a:sym typeface="Titillium Web"/>
              </a:rPr>
              <a:t>Place des Bancs</a:t>
            </a:r>
            <a:r>
              <a:rPr lang="en-US">
                <a:solidFill>
                  <a:srgbClr val="001A13"/>
                </a:solidFill>
                <a:ea typeface="+mn-lt"/>
                <a:cs typeface="+mn-lt"/>
                <a:sym typeface="Titillium Web"/>
              </a:rPr>
              <a:t>.</a:t>
            </a:r>
            <a:endParaRPr lang="fr-FR">
              <a:sym typeface="Titillium Web"/>
            </a:endParaRPr>
          </a:p>
          <a:p>
            <a:pPr marL="285750" indent="-285750">
              <a:lnSpc>
                <a:spcPts val="3509"/>
              </a:lnSpc>
              <a:buFont typeface="Courier New" panose="02070309020205020404" pitchFamily="49" charset="0"/>
              <a:buChar char="o"/>
            </a:pPr>
            <a:r>
              <a:rPr lang="en-US">
                <a:solidFill>
                  <a:srgbClr val="001A13"/>
                </a:solidFill>
                <a:ea typeface="+mn-lt"/>
                <a:cs typeface="+mn-lt"/>
                <a:sym typeface="Titillium Web"/>
              </a:rPr>
              <a:t>Releases </a:t>
            </a:r>
            <a:r>
              <a:rPr lang="en-US" err="1">
                <a:solidFill>
                  <a:srgbClr val="001A13"/>
                </a:solidFill>
                <a:ea typeface="+mn-lt"/>
                <a:cs typeface="+mn-lt"/>
                <a:sym typeface="Titillium Web"/>
              </a:rPr>
              <a:t>testées</a:t>
            </a:r>
            <a:r>
              <a:rPr lang="en-US">
                <a:solidFill>
                  <a:srgbClr val="001A13"/>
                </a:solidFill>
                <a:ea typeface="+mn-lt"/>
                <a:cs typeface="+mn-lt"/>
                <a:sym typeface="Titillium Web"/>
              </a:rPr>
              <a:t> via un </a:t>
            </a:r>
            <a:r>
              <a:rPr lang="en-US" err="1">
                <a:solidFill>
                  <a:srgbClr val="001A13"/>
                </a:solidFill>
                <a:ea typeface="+mn-lt"/>
                <a:cs typeface="+mn-lt"/>
                <a:sym typeface="Titillium Web"/>
              </a:rPr>
              <a:t>environnement</a:t>
            </a:r>
            <a:r>
              <a:rPr lang="en-US">
                <a:solidFill>
                  <a:srgbClr val="001A13"/>
                </a:solidFill>
                <a:ea typeface="+mn-lt"/>
                <a:cs typeface="+mn-lt"/>
                <a:sym typeface="Titillium Web"/>
              </a:rPr>
              <a:t> cloud </a:t>
            </a:r>
            <a:r>
              <a:rPr lang="en-US" err="1">
                <a:solidFill>
                  <a:srgbClr val="001A13"/>
                </a:solidFill>
                <a:ea typeface="+mn-lt"/>
                <a:cs typeface="+mn-lt"/>
                <a:sym typeface="Titillium Web"/>
              </a:rPr>
              <a:t>sécurisé</a:t>
            </a:r>
            <a:r>
              <a:rPr lang="en-US">
                <a:solidFill>
                  <a:srgbClr val="001A13"/>
                </a:solidFill>
                <a:ea typeface="+mn-lt"/>
                <a:cs typeface="+mn-lt"/>
                <a:sym typeface="Titillium Web"/>
              </a:rPr>
              <a:t>.</a:t>
            </a:r>
            <a:endParaRPr lang="en-US" sz="2650">
              <a:ea typeface="+mn-lt"/>
              <a:cs typeface="+mn-lt"/>
            </a:endParaRPr>
          </a:p>
        </p:txBody>
      </p:sp>
      <p:sp>
        <p:nvSpPr>
          <p:cNvPr id="13" name="TextBox 9">
            <a:extLst>
              <a:ext uri="{FF2B5EF4-FFF2-40B4-BE49-F238E27FC236}">
                <a16:creationId xmlns:a16="http://schemas.microsoft.com/office/drawing/2014/main" id="{2EF3083B-7B09-C69C-4763-763828336221}"/>
              </a:ext>
            </a:extLst>
          </p:cNvPr>
          <p:cNvSpPr txBox="1"/>
          <p:nvPr/>
        </p:nvSpPr>
        <p:spPr>
          <a:xfrm>
            <a:off x="10080392" y="197634"/>
            <a:ext cx="7178907" cy="426335"/>
          </a:xfrm>
          <a:prstGeom prst="rect">
            <a:avLst/>
          </a:prstGeom>
        </p:spPr>
        <p:txBody>
          <a:bodyPr lIns="0" tIns="0" rIns="0" bIns="0" rtlCol="0" anchor="t">
            <a:spAutoFit/>
          </a:bodyPr>
          <a:lstStyle/>
          <a:p>
            <a:pPr>
              <a:lnSpc>
                <a:spcPts val="3509"/>
              </a:lnSpc>
            </a:pPr>
            <a:r>
              <a:rPr lang="en-US" sz="2650">
                <a:solidFill>
                  <a:srgbClr val="001A13"/>
                </a:solidFill>
                <a:ea typeface="Calibri"/>
                <a:cs typeface="Calibri"/>
              </a:rPr>
              <a:t>PRESENTATION DE NOTRE OUTIL MODEL(QQOQCP)</a:t>
            </a:r>
          </a:p>
        </p:txBody>
      </p:sp>
      <p:sp>
        <p:nvSpPr>
          <p:cNvPr id="19" name="TextBox 9">
            <a:extLst>
              <a:ext uri="{FF2B5EF4-FFF2-40B4-BE49-F238E27FC236}">
                <a16:creationId xmlns:a16="http://schemas.microsoft.com/office/drawing/2014/main" id="{A807CBA8-B614-747E-F649-3B7158609B03}"/>
              </a:ext>
            </a:extLst>
          </p:cNvPr>
          <p:cNvSpPr txBox="1"/>
          <p:nvPr/>
        </p:nvSpPr>
        <p:spPr>
          <a:xfrm>
            <a:off x="8075768" y="1071563"/>
            <a:ext cx="1197729"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QUI?</a:t>
            </a:r>
          </a:p>
        </p:txBody>
      </p:sp>
      <p:sp>
        <p:nvSpPr>
          <p:cNvPr id="20" name="TextBox 19">
            <a:extLst>
              <a:ext uri="{FF2B5EF4-FFF2-40B4-BE49-F238E27FC236}">
                <a16:creationId xmlns:a16="http://schemas.microsoft.com/office/drawing/2014/main" id="{34875502-2FBD-B761-3D7E-3BA10DFA5CCE}"/>
              </a:ext>
            </a:extLst>
          </p:cNvPr>
          <p:cNvSpPr txBox="1"/>
          <p:nvPr/>
        </p:nvSpPr>
        <p:spPr>
          <a:xfrm>
            <a:off x="10265417" y="1095991"/>
            <a:ext cx="76396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panose="02070309020205020404" pitchFamily="49" charset="0"/>
              <a:buChar char="o"/>
            </a:pPr>
            <a:r>
              <a:rPr lang="en-US" b="1"/>
              <a:t>EQUIPE TPGM Consulting</a:t>
            </a:r>
            <a:r>
              <a:rPr lang="en-US"/>
              <a:t> : Cabinet </a:t>
            </a:r>
            <a:r>
              <a:rPr lang="en-US" err="1"/>
              <a:t>spécialisé</a:t>
            </a:r>
            <a:r>
              <a:rPr lang="en-US"/>
              <a:t> </a:t>
            </a:r>
            <a:r>
              <a:rPr lang="en-US" err="1"/>
              <a:t>en</a:t>
            </a:r>
            <a:r>
              <a:rPr lang="en-US"/>
              <a:t> management de </a:t>
            </a:r>
            <a:r>
              <a:rPr lang="en-US" err="1"/>
              <a:t>projet</a:t>
            </a:r>
            <a:r>
              <a:rPr lang="en-US"/>
              <a:t> et pilotage IT.</a:t>
            </a:r>
          </a:p>
        </p:txBody>
      </p:sp>
      <p:sp>
        <p:nvSpPr>
          <p:cNvPr id="21" name="TextBox 9">
            <a:extLst>
              <a:ext uri="{FF2B5EF4-FFF2-40B4-BE49-F238E27FC236}">
                <a16:creationId xmlns:a16="http://schemas.microsoft.com/office/drawing/2014/main" id="{88557993-407B-1D0A-D696-C462D167813F}"/>
              </a:ext>
            </a:extLst>
          </p:cNvPr>
          <p:cNvSpPr txBox="1"/>
          <p:nvPr/>
        </p:nvSpPr>
        <p:spPr>
          <a:xfrm>
            <a:off x="8044453" y="1937148"/>
            <a:ext cx="1630215"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QUOI?</a:t>
            </a:r>
          </a:p>
        </p:txBody>
      </p:sp>
      <p:sp>
        <p:nvSpPr>
          <p:cNvPr id="22" name="TextBox 21">
            <a:extLst>
              <a:ext uri="{FF2B5EF4-FFF2-40B4-BE49-F238E27FC236}">
                <a16:creationId xmlns:a16="http://schemas.microsoft.com/office/drawing/2014/main" id="{B93B0C63-A432-C9F0-FCBF-A559CCBF7F54}"/>
              </a:ext>
            </a:extLst>
          </p:cNvPr>
          <p:cNvSpPr txBox="1"/>
          <p:nvPr/>
        </p:nvSpPr>
        <p:spPr>
          <a:xfrm>
            <a:off x="10265417" y="1910542"/>
            <a:ext cx="763966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panose="02070309020205020404" pitchFamily="49" charset="0"/>
              <a:buChar char="o"/>
            </a:pPr>
            <a:r>
              <a:rPr lang="en-US" b="1"/>
              <a:t>TPGM Assist</a:t>
            </a:r>
            <a:r>
              <a:rPr lang="en-US"/>
              <a:t> est un </a:t>
            </a:r>
            <a:r>
              <a:rPr lang="en-US" err="1"/>
              <a:t>outil</a:t>
            </a:r>
            <a:r>
              <a:rPr lang="en-US"/>
              <a:t> interne de gestion et de pilotage des incidents </a:t>
            </a:r>
            <a:r>
              <a:rPr lang="en-US" err="1"/>
              <a:t>sécurité</a:t>
            </a:r>
            <a:endParaRPr lang="en-US"/>
          </a:p>
        </p:txBody>
      </p:sp>
      <p:sp>
        <p:nvSpPr>
          <p:cNvPr id="23" name="TextBox 9">
            <a:extLst>
              <a:ext uri="{FF2B5EF4-FFF2-40B4-BE49-F238E27FC236}">
                <a16:creationId xmlns:a16="http://schemas.microsoft.com/office/drawing/2014/main" id="{9E037B9C-4153-A7BB-001B-4A2474FEFB36}"/>
              </a:ext>
            </a:extLst>
          </p:cNvPr>
          <p:cNvSpPr txBox="1"/>
          <p:nvPr/>
        </p:nvSpPr>
        <p:spPr>
          <a:xfrm>
            <a:off x="8075768" y="2701896"/>
            <a:ext cx="1197729"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OU?</a:t>
            </a:r>
          </a:p>
        </p:txBody>
      </p:sp>
      <p:sp>
        <p:nvSpPr>
          <p:cNvPr id="24" name="TextBox 9">
            <a:extLst>
              <a:ext uri="{FF2B5EF4-FFF2-40B4-BE49-F238E27FC236}">
                <a16:creationId xmlns:a16="http://schemas.microsoft.com/office/drawing/2014/main" id="{DEE4D916-422B-EB31-17B7-AA69639059B2}"/>
              </a:ext>
            </a:extLst>
          </p:cNvPr>
          <p:cNvSpPr txBox="1"/>
          <p:nvPr/>
        </p:nvSpPr>
        <p:spPr>
          <a:xfrm>
            <a:off x="8044453" y="3843465"/>
            <a:ext cx="1846458"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QUAND?</a:t>
            </a:r>
          </a:p>
        </p:txBody>
      </p:sp>
      <p:sp>
        <p:nvSpPr>
          <p:cNvPr id="9" name="TextBox 8">
            <a:extLst>
              <a:ext uri="{FF2B5EF4-FFF2-40B4-BE49-F238E27FC236}">
                <a16:creationId xmlns:a16="http://schemas.microsoft.com/office/drawing/2014/main" id="{0F8AC991-00F2-708C-2047-B3D91B4A83B1}"/>
              </a:ext>
            </a:extLst>
          </p:cNvPr>
          <p:cNvSpPr txBox="1"/>
          <p:nvPr/>
        </p:nvSpPr>
        <p:spPr>
          <a:xfrm>
            <a:off x="10271342" y="3781009"/>
            <a:ext cx="76337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panose="02070309020205020404" pitchFamily="49" charset="0"/>
              <a:buChar char="o"/>
            </a:pPr>
            <a:r>
              <a:rPr lang="en-US" err="1"/>
              <a:t>Utilisation</a:t>
            </a:r>
            <a:r>
              <a:rPr lang="en-US"/>
              <a:t> </a:t>
            </a:r>
            <a:r>
              <a:rPr lang="en-US" err="1"/>
              <a:t>en</a:t>
            </a:r>
            <a:r>
              <a:rPr lang="en-US"/>
              <a:t> temps </a:t>
            </a:r>
            <a:r>
              <a:rPr lang="en-US" err="1"/>
              <a:t>réel</a:t>
            </a:r>
            <a:endParaRPr lang="en-US"/>
          </a:p>
          <a:p>
            <a:pPr marL="285750" indent="-285750">
              <a:buFont typeface="Courier New" panose="02070309020205020404" pitchFamily="49" charset="0"/>
              <a:buChar char="o"/>
            </a:pPr>
            <a:r>
              <a:rPr lang="en-US"/>
              <a:t>Reporting </a:t>
            </a:r>
            <a:r>
              <a:rPr lang="en-US" err="1"/>
              <a:t>hebdomadaire</a:t>
            </a:r>
            <a:r>
              <a:rPr lang="en-US"/>
              <a:t> et </a:t>
            </a:r>
            <a:r>
              <a:rPr lang="en-US" err="1"/>
              <a:t>mensuel</a:t>
            </a:r>
            <a:endParaRPr lang="en-US"/>
          </a:p>
          <a:p>
            <a:pPr marL="285750" indent="-285750">
              <a:buFont typeface="Courier New" panose="02070309020205020404" pitchFamily="49" charset="0"/>
              <a:buChar char="o"/>
            </a:pPr>
            <a:r>
              <a:rPr lang="en-US" err="1"/>
              <a:t>Déploiement</a:t>
            </a:r>
            <a:r>
              <a:rPr lang="en-US"/>
              <a:t> </a:t>
            </a:r>
            <a:r>
              <a:rPr lang="en-US" err="1"/>
              <a:t>en</a:t>
            </a:r>
            <a:r>
              <a:rPr lang="en-US"/>
              <a:t> 4 à 6 </a:t>
            </a:r>
            <a:r>
              <a:rPr lang="en-US" err="1"/>
              <a:t>semaines</a:t>
            </a:r>
            <a:endParaRPr lang="en-US"/>
          </a:p>
        </p:txBody>
      </p:sp>
      <p:sp>
        <p:nvSpPr>
          <p:cNvPr id="25" name="TextBox 9">
            <a:extLst>
              <a:ext uri="{FF2B5EF4-FFF2-40B4-BE49-F238E27FC236}">
                <a16:creationId xmlns:a16="http://schemas.microsoft.com/office/drawing/2014/main" id="{ADDA39D3-CD5B-7312-F4EF-D932F016F2F6}"/>
              </a:ext>
            </a:extLst>
          </p:cNvPr>
          <p:cNvSpPr txBox="1"/>
          <p:nvPr/>
        </p:nvSpPr>
        <p:spPr>
          <a:xfrm>
            <a:off x="8044453" y="5207992"/>
            <a:ext cx="2287248"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COMMENT?</a:t>
            </a:r>
          </a:p>
        </p:txBody>
      </p:sp>
      <p:sp>
        <p:nvSpPr>
          <p:cNvPr id="26" name="TextBox 25">
            <a:extLst>
              <a:ext uri="{FF2B5EF4-FFF2-40B4-BE49-F238E27FC236}">
                <a16:creationId xmlns:a16="http://schemas.microsoft.com/office/drawing/2014/main" id="{C3BDA98D-E952-F533-8D8C-AEA6C57A6206}"/>
              </a:ext>
            </a:extLst>
          </p:cNvPr>
          <p:cNvSpPr txBox="1"/>
          <p:nvPr/>
        </p:nvSpPr>
        <p:spPr>
          <a:xfrm>
            <a:off x="10271342" y="5114961"/>
            <a:ext cx="763374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ourier New" panose="02070309020205020404" pitchFamily="49" charset="0"/>
              <a:buChar char="o"/>
            </a:pPr>
            <a:r>
              <a:rPr lang="en-US" err="1"/>
              <a:t>Centralisation</a:t>
            </a:r>
            <a:r>
              <a:rPr lang="en-US"/>
              <a:t> </a:t>
            </a:r>
            <a:r>
              <a:rPr lang="en-US" err="1"/>
              <a:t>automatisée</a:t>
            </a:r>
            <a:r>
              <a:rPr lang="en-US"/>
              <a:t> des incidents</a:t>
            </a:r>
          </a:p>
          <a:p>
            <a:pPr marL="285750" indent="-285750">
              <a:buFont typeface="Courier New" panose="02070309020205020404" pitchFamily="49" charset="0"/>
              <a:buChar char="o"/>
            </a:pPr>
            <a:r>
              <a:rPr lang="en-US"/>
              <a:t>Workflow </a:t>
            </a:r>
            <a:r>
              <a:rPr lang="en-US" err="1"/>
              <a:t>structuré</a:t>
            </a:r>
            <a:r>
              <a:rPr lang="en-US"/>
              <a:t> de </a:t>
            </a:r>
            <a:r>
              <a:rPr lang="en-US" err="1"/>
              <a:t>traitement</a:t>
            </a:r>
            <a:endParaRPr lang="en-US"/>
          </a:p>
          <a:p>
            <a:pPr marL="285750" indent="-285750">
              <a:buFont typeface="Courier New" panose="02070309020205020404" pitchFamily="49" charset="0"/>
              <a:buChar char="o"/>
            </a:pPr>
            <a:r>
              <a:rPr lang="en-US"/>
              <a:t>Tableaux de bord </a:t>
            </a:r>
            <a:r>
              <a:rPr lang="en-US" err="1"/>
              <a:t>dynamiques</a:t>
            </a:r>
            <a:endParaRPr lang="en-US"/>
          </a:p>
        </p:txBody>
      </p:sp>
      <p:sp>
        <p:nvSpPr>
          <p:cNvPr id="27" name="TextBox 9">
            <a:extLst>
              <a:ext uri="{FF2B5EF4-FFF2-40B4-BE49-F238E27FC236}">
                <a16:creationId xmlns:a16="http://schemas.microsoft.com/office/drawing/2014/main" id="{92B4D544-4B38-ECE0-1854-F72A8BAB09D9}"/>
              </a:ext>
            </a:extLst>
          </p:cNvPr>
          <p:cNvSpPr txBox="1"/>
          <p:nvPr/>
        </p:nvSpPr>
        <p:spPr>
          <a:xfrm>
            <a:off x="8075768" y="6443540"/>
            <a:ext cx="2287248" cy="426335"/>
          </a:xfrm>
          <a:prstGeom prst="rect">
            <a:avLst/>
          </a:prstGeom>
        </p:spPr>
        <p:txBody>
          <a:bodyPr wrap="square" lIns="0" tIns="0" rIns="0" bIns="0" rtlCol="0" anchor="t">
            <a:spAutoFit/>
          </a:bodyPr>
          <a:lstStyle/>
          <a:p>
            <a:pPr marL="457200" indent="-457200">
              <a:lnSpc>
                <a:spcPts val="3509"/>
              </a:lnSpc>
              <a:buFont typeface="Arial" panose="020B0604020202020204" pitchFamily="34" charset="0"/>
              <a:buChar char="•"/>
            </a:pPr>
            <a:r>
              <a:rPr lang="en-US" sz="2650">
                <a:solidFill>
                  <a:srgbClr val="001A13"/>
                </a:solidFill>
                <a:latin typeface="Calibri"/>
                <a:ea typeface="Calibri"/>
                <a:cs typeface="Calibri"/>
              </a:rPr>
              <a:t>POURQUOI?</a:t>
            </a:r>
          </a:p>
        </p:txBody>
      </p:sp>
      <p:sp>
        <p:nvSpPr>
          <p:cNvPr id="28" name="TextBox 27">
            <a:extLst>
              <a:ext uri="{FF2B5EF4-FFF2-40B4-BE49-F238E27FC236}">
                <a16:creationId xmlns:a16="http://schemas.microsoft.com/office/drawing/2014/main" id="{4EB6E59D-5163-2352-1FEB-1B26370013FB}"/>
              </a:ext>
            </a:extLst>
          </p:cNvPr>
          <p:cNvSpPr txBox="1"/>
          <p:nvPr/>
        </p:nvSpPr>
        <p:spPr>
          <a:xfrm>
            <a:off x="10331701" y="6396047"/>
            <a:ext cx="7573381"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Les </a:t>
            </a:r>
            <a:r>
              <a:rPr lang="en-US" err="1"/>
              <a:t>entreprises</a:t>
            </a:r>
            <a:r>
              <a:rPr lang="en-US"/>
              <a:t> font face à :</a:t>
            </a:r>
          </a:p>
          <a:p>
            <a:endParaRPr lang="en-US"/>
          </a:p>
          <a:p>
            <a:pPr marL="742950" lvl="1" indent="-285750">
              <a:buFont typeface="Courier New" panose="02070309020205020404" pitchFamily="49" charset="0"/>
              <a:buChar char="o"/>
            </a:pPr>
            <a:r>
              <a:rPr lang="en-US"/>
              <a:t>Multiplication des menaces cyber</a:t>
            </a:r>
          </a:p>
          <a:p>
            <a:pPr marL="742950" lvl="1" indent="-285750">
              <a:buFont typeface="Courier New" panose="02070309020205020404" pitchFamily="49" charset="0"/>
              <a:buChar char="o"/>
            </a:pPr>
            <a:r>
              <a:rPr lang="en-US"/>
              <a:t>Manque de </a:t>
            </a:r>
            <a:r>
              <a:rPr lang="en-US" err="1"/>
              <a:t>visibilité</a:t>
            </a:r>
            <a:r>
              <a:rPr lang="en-US"/>
              <a:t> </a:t>
            </a:r>
            <a:r>
              <a:rPr lang="en-US" err="1"/>
              <a:t>globale</a:t>
            </a:r>
            <a:endParaRPr lang="en-US"/>
          </a:p>
          <a:p>
            <a:pPr marL="742950" lvl="1" indent="-285750">
              <a:buFont typeface="Courier New" panose="02070309020205020404" pitchFamily="49" charset="0"/>
              <a:buChar char="o"/>
            </a:pPr>
            <a:r>
              <a:rPr lang="en-US" err="1"/>
              <a:t>Mauvaise</a:t>
            </a:r>
            <a:r>
              <a:rPr lang="en-US"/>
              <a:t> coordination entre équipes</a:t>
            </a:r>
          </a:p>
          <a:p>
            <a:pPr marL="742950" lvl="1" indent="-285750">
              <a:buFont typeface="Courier New" panose="02070309020205020404" pitchFamily="49" charset="0"/>
              <a:buChar char="o"/>
            </a:pPr>
            <a:r>
              <a:rPr lang="en-US"/>
              <a:t>Reporting non structure</a:t>
            </a:r>
          </a:p>
          <a:p>
            <a:endParaRPr lang="en-US"/>
          </a:p>
          <a:p>
            <a:r>
              <a:rPr lang="en-US"/>
              <a:t>TPGM Assist </a:t>
            </a:r>
            <a:r>
              <a:rPr lang="en-US" err="1"/>
              <a:t>permet</a:t>
            </a:r>
            <a:r>
              <a:rPr lang="en-US"/>
              <a:t> :</a:t>
            </a:r>
          </a:p>
          <a:p>
            <a:endParaRPr lang="en-US"/>
          </a:p>
          <a:p>
            <a:pPr marL="742950" lvl="1" indent="-285750">
              <a:buFont typeface="Courier New" panose="02070309020205020404" pitchFamily="49" charset="0"/>
              <a:buChar char="o"/>
            </a:pPr>
            <a:r>
              <a:rPr lang="en-US"/>
              <a:t>Une </a:t>
            </a:r>
            <a:r>
              <a:rPr lang="en-US" err="1"/>
              <a:t>meilleure</a:t>
            </a:r>
            <a:r>
              <a:rPr lang="en-US"/>
              <a:t> </a:t>
            </a:r>
            <a:r>
              <a:rPr lang="en-US" err="1"/>
              <a:t>réactivité</a:t>
            </a:r>
            <a:endParaRPr lang="en-US"/>
          </a:p>
          <a:p>
            <a:pPr marL="742950" lvl="1" indent="-285750">
              <a:buFont typeface="Courier New" panose="02070309020205020404" pitchFamily="49" charset="0"/>
              <a:buChar char="o"/>
            </a:pPr>
            <a:r>
              <a:rPr lang="en-US"/>
              <a:t>Une vision </a:t>
            </a:r>
            <a:r>
              <a:rPr lang="en-US" err="1"/>
              <a:t>consolidée</a:t>
            </a:r>
            <a:r>
              <a:rPr lang="en-US"/>
              <a:t> des </a:t>
            </a:r>
            <a:r>
              <a:rPr lang="en-US" err="1"/>
              <a:t>risques</a:t>
            </a:r>
            <a:endParaRPr lang="en-US"/>
          </a:p>
          <a:p>
            <a:pPr marL="742950" lvl="1" indent="-285750">
              <a:buFont typeface="Courier New" panose="02070309020205020404" pitchFamily="49" charset="0"/>
              <a:buChar char="o"/>
            </a:pPr>
            <a:r>
              <a:rPr lang="en-US"/>
              <a:t>Une </a:t>
            </a:r>
            <a:r>
              <a:rPr lang="en-US" err="1"/>
              <a:t>amélioration</a:t>
            </a:r>
            <a:r>
              <a:rPr lang="en-US"/>
              <a:t> de la satisfaction client</a:t>
            </a:r>
          </a:p>
          <a:p>
            <a:pPr marL="742950" lvl="1" indent="-285750">
              <a:buFont typeface="Courier New" panose="02070309020205020404" pitchFamily="49" charset="0"/>
              <a:buChar char="o"/>
            </a:pPr>
            <a:r>
              <a:rPr lang="en-US"/>
              <a:t>Une </a:t>
            </a:r>
            <a:r>
              <a:rPr lang="en-US" err="1"/>
              <a:t>prise</a:t>
            </a:r>
            <a:r>
              <a:rPr lang="en-US"/>
              <a:t> de </a:t>
            </a:r>
            <a:r>
              <a:rPr lang="en-US" err="1"/>
              <a:t>décision</a:t>
            </a:r>
            <a:r>
              <a:rPr lang="en-US"/>
              <a:t> </a:t>
            </a:r>
            <a:r>
              <a:rPr lang="en-US" err="1"/>
              <a:t>basée</a:t>
            </a:r>
            <a:r>
              <a:rPr lang="en-US"/>
              <a:t> sur des données </a:t>
            </a:r>
            <a:r>
              <a:rPr lang="en-US" err="1"/>
              <a:t>fiables</a:t>
            </a:r>
            <a:endParaRPr lang="en-US"/>
          </a:p>
        </p:txBody>
      </p:sp>
    </p:spTree>
    <p:extLst>
      <p:ext uri="{BB962C8B-B14F-4D97-AF65-F5344CB8AC3E}">
        <p14:creationId xmlns:p14="http://schemas.microsoft.com/office/powerpoint/2010/main" val="977793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AE0A1EE3-B65A-D32D-528C-1D33EE21845F}"/>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319775DC-829E-A53E-59EB-286B0899DD98}"/>
              </a:ext>
            </a:extLst>
          </p:cNvPr>
          <p:cNvSpPr txBox="1"/>
          <p:nvPr/>
        </p:nvSpPr>
        <p:spPr>
          <a:xfrm>
            <a:off x="5707017" y="1362844"/>
            <a:ext cx="6917725" cy="1000274"/>
          </a:xfrm>
          <a:prstGeom prst="rect">
            <a:avLst/>
          </a:prstGeom>
        </p:spPr>
        <p:txBody>
          <a:bodyPr wrap="square" lIns="0" tIns="0" rIns="0" bIns="0" rtlCol="0" anchor="t">
            <a:spAutoFit/>
          </a:bodyPr>
          <a:lstStyle/>
          <a:p>
            <a:pPr algn="ctr">
              <a:lnSpc>
                <a:spcPts val="7800"/>
              </a:lnSpc>
            </a:pPr>
            <a:r>
              <a:rPr lang="en-US" sz="6500" b="1">
                <a:solidFill>
                  <a:srgbClr val="FFF8ED"/>
                </a:solidFill>
                <a:latin typeface="Titillium Web Semi-Bold"/>
                <a:ea typeface="Calibri"/>
                <a:cs typeface="Calibri"/>
              </a:rPr>
              <a:t>PROJET EFFICIEO</a:t>
            </a:r>
          </a:p>
        </p:txBody>
      </p:sp>
      <p:grpSp>
        <p:nvGrpSpPr>
          <p:cNvPr id="12" name="Group 12">
            <a:extLst>
              <a:ext uri="{FF2B5EF4-FFF2-40B4-BE49-F238E27FC236}">
                <a16:creationId xmlns:a16="http://schemas.microsoft.com/office/drawing/2014/main" id="{63CAD466-4A2B-602F-85E5-0B381EE06551}"/>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5F288289-915C-BF97-747C-6AD494C65727}"/>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0874495E-A240-F3AA-C136-32D1731506AF}"/>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graphicFrame>
        <p:nvGraphicFramePr>
          <p:cNvPr id="2" name="Tableau 1">
            <a:extLst>
              <a:ext uri="{FF2B5EF4-FFF2-40B4-BE49-F238E27FC236}">
                <a16:creationId xmlns:a16="http://schemas.microsoft.com/office/drawing/2014/main" id="{C08EDD98-A69D-34B9-41FB-48183838EC92}"/>
              </a:ext>
            </a:extLst>
          </p:cNvPr>
          <p:cNvGraphicFramePr>
            <a:graphicFrameLocks noGrp="1"/>
          </p:cNvGraphicFramePr>
          <p:nvPr>
            <p:extLst>
              <p:ext uri="{D42A27DB-BD31-4B8C-83A1-F6EECF244321}">
                <p14:modId xmlns:p14="http://schemas.microsoft.com/office/powerpoint/2010/main" val="3944901906"/>
              </p:ext>
            </p:extLst>
          </p:nvPr>
        </p:nvGraphicFramePr>
        <p:xfrm>
          <a:off x="792266" y="2948940"/>
          <a:ext cx="16703468" cy="4389120"/>
        </p:xfrm>
        <a:graphic>
          <a:graphicData uri="http://schemas.openxmlformats.org/drawingml/2006/table">
            <a:tbl>
              <a:tblPr firstRow="1" bandRow="1">
                <a:tableStyleId>{073A0DAA-6AF3-43AB-8588-CEC1D06C72B9}</a:tableStyleId>
              </a:tblPr>
              <a:tblGrid>
                <a:gridCol w="8351734">
                  <a:extLst>
                    <a:ext uri="{9D8B030D-6E8A-4147-A177-3AD203B41FA5}">
                      <a16:colId xmlns:a16="http://schemas.microsoft.com/office/drawing/2014/main" val="1547490309"/>
                    </a:ext>
                  </a:extLst>
                </a:gridCol>
                <a:gridCol w="8351734">
                  <a:extLst>
                    <a:ext uri="{9D8B030D-6E8A-4147-A177-3AD203B41FA5}">
                      <a16:colId xmlns:a16="http://schemas.microsoft.com/office/drawing/2014/main" val="730366599"/>
                    </a:ext>
                  </a:extLst>
                </a:gridCol>
              </a:tblGrid>
              <a:tr h="4309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0" err="1">
                          <a:solidFill>
                            <a:srgbClr val="FFF8ED"/>
                          </a:solidFill>
                          <a:latin typeface="Titillium Web Semi-Bold"/>
                          <a:ea typeface="Calibri"/>
                          <a:cs typeface="Calibri"/>
                        </a:rPr>
                        <a:t>Contexte</a:t>
                      </a:r>
                      <a:r>
                        <a:rPr lang="en-US" sz="6000">
                          <a:solidFill>
                            <a:srgbClr val="FFF8ED"/>
                          </a:solidFill>
                          <a:latin typeface="Titillium Web Semi-Bold"/>
                          <a:ea typeface="Calibri"/>
                          <a:cs typeface="Calibri"/>
                        </a:rPr>
                        <a:t> du </a:t>
                      </a:r>
                      <a:r>
                        <a:rPr lang="en-US" sz="6000" err="1">
                          <a:solidFill>
                            <a:srgbClr val="FFF8ED"/>
                          </a:solidFill>
                          <a:latin typeface="Titillium Web Semi-Bold"/>
                          <a:ea typeface="Calibri"/>
                          <a:cs typeface="Calibri"/>
                        </a:rPr>
                        <a:t>projet</a:t>
                      </a:r>
                      <a:endParaRPr lang="en-US" sz="6000">
                        <a:solidFill>
                          <a:srgbClr val="FFF8ED"/>
                        </a:solidFill>
                        <a:latin typeface="Titillium Web Semi-Bold"/>
                        <a:ea typeface="Calibri"/>
                        <a:cs typeface="Calibri"/>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0">
                          <a:solidFill>
                            <a:srgbClr val="FFF8ED"/>
                          </a:solidFill>
                          <a:latin typeface="Titillium Web Semi-Bold"/>
                          <a:ea typeface="Calibri"/>
                          <a:cs typeface="Calibri"/>
                        </a:rPr>
                        <a:t>Objectif global du </a:t>
                      </a:r>
                      <a:r>
                        <a:rPr lang="en-US" sz="6000" err="1">
                          <a:solidFill>
                            <a:srgbClr val="FFF8ED"/>
                          </a:solidFill>
                          <a:latin typeface="Titillium Web Semi-Bold"/>
                          <a:ea typeface="Calibri"/>
                          <a:cs typeface="Calibri"/>
                        </a:rPr>
                        <a:t>projet</a:t>
                      </a:r>
                      <a:endParaRPr lang="en-US" sz="6000">
                        <a:solidFill>
                          <a:srgbClr val="FFF8ED"/>
                        </a:solidFill>
                        <a:latin typeface="Titillium Web Semi-Bold"/>
                        <a:ea typeface="Calibri"/>
                        <a:cs typeface="Calibri"/>
                      </a:endParaRPr>
                    </a:p>
                  </a:txBody>
                  <a:tcPr/>
                </a:tc>
                <a:extLst>
                  <a:ext uri="{0D108BD9-81ED-4DB2-BD59-A6C34878D82A}">
                    <a16:rowId xmlns:a16="http://schemas.microsoft.com/office/drawing/2014/main" val="3578282660"/>
                  </a:ext>
                </a:extLst>
              </a:tr>
              <a:tr h="2018760">
                <a:tc>
                  <a:txBody>
                    <a:bodyPr/>
                    <a:lstStyle/>
                    <a:p>
                      <a:pPr marL="228600" indent="-228600">
                        <a:buFont typeface=""/>
                        <a:buChar char="•"/>
                      </a:pPr>
                      <a:r>
                        <a:rPr lang="en-US" sz="3600">
                          <a:solidFill>
                            <a:schemeClr val="bg1"/>
                          </a:solidFill>
                          <a:latin typeface="Titillium Web Semi-Bold"/>
                        </a:rPr>
                        <a:t>Gestion des </a:t>
                      </a:r>
                      <a:r>
                        <a:rPr lang="en-US" sz="3600" err="1">
                          <a:solidFill>
                            <a:schemeClr val="bg1"/>
                          </a:solidFill>
                          <a:latin typeface="Titillium Web Semi-Bold"/>
                        </a:rPr>
                        <a:t>contrats</a:t>
                      </a:r>
                      <a:endParaRPr lang="en-US" sz="3600">
                        <a:solidFill>
                          <a:schemeClr val="bg1"/>
                        </a:solidFill>
                        <a:latin typeface="Titillium Web Semi-Bold"/>
                        <a:ea typeface="Calibri"/>
                        <a:cs typeface="Calibri"/>
                      </a:endParaRPr>
                    </a:p>
                    <a:p>
                      <a:pPr marL="228600" indent="-228600">
                        <a:buFont typeface=""/>
                        <a:buChar char="•"/>
                      </a:pPr>
                      <a:r>
                        <a:rPr lang="en-US" sz="3600">
                          <a:solidFill>
                            <a:schemeClr val="bg1"/>
                          </a:solidFill>
                          <a:latin typeface="Titillium Web Semi-Bold"/>
                        </a:rPr>
                        <a:t>Supervision des services</a:t>
                      </a:r>
                      <a:endParaRPr lang="en-US" sz="3600">
                        <a:solidFill>
                          <a:schemeClr val="bg1"/>
                        </a:solidFill>
                        <a:latin typeface="Titillium Web Semi-Bold"/>
                        <a:ea typeface="Calibri"/>
                        <a:cs typeface="Calibri"/>
                      </a:endParaRPr>
                    </a:p>
                    <a:p>
                      <a:pPr marL="228600" indent="-228600">
                        <a:buFont typeface=""/>
                        <a:buChar char="•"/>
                      </a:pPr>
                      <a:r>
                        <a:rPr lang="en-US" sz="3600" err="1">
                          <a:solidFill>
                            <a:schemeClr val="bg1"/>
                          </a:solidFill>
                          <a:latin typeface="Titillium Web Semi-Bold"/>
                        </a:rPr>
                        <a:t>Référentiel</a:t>
                      </a:r>
                      <a:r>
                        <a:rPr lang="en-US" sz="3600">
                          <a:solidFill>
                            <a:schemeClr val="bg1"/>
                          </a:solidFill>
                          <a:latin typeface="Titillium Web Semi-Bold"/>
                        </a:rPr>
                        <a:t> clients &amp; sites (CMDB)</a:t>
                      </a:r>
                      <a:endParaRPr lang="en-US" sz="3600">
                        <a:solidFill>
                          <a:schemeClr val="bg1"/>
                        </a:solidFill>
                        <a:latin typeface="Titillium Web Semi-Bold"/>
                        <a:ea typeface="Calibri"/>
                        <a:cs typeface="Calibri"/>
                      </a:endParaRPr>
                    </a:p>
                    <a:p>
                      <a:pPr marL="228600" indent="-228600">
                        <a:buFont typeface=""/>
                        <a:buChar char="•"/>
                      </a:pPr>
                      <a:r>
                        <a:rPr lang="en-US" sz="3600" err="1">
                          <a:solidFill>
                            <a:schemeClr val="bg1"/>
                          </a:solidFill>
                          <a:latin typeface="Titillium Web Semi-Bold"/>
                        </a:rPr>
                        <a:t>Portail</a:t>
                      </a:r>
                      <a:r>
                        <a:rPr lang="en-US" sz="3600">
                          <a:solidFill>
                            <a:schemeClr val="bg1"/>
                          </a:solidFill>
                          <a:latin typeface="Titillium Web Semi-Bold"/>
                        </a:rPr>
                        <a:t> client</a:t>
                      </a:r>
                      <a:endParaRPr lang="en-US" sz="3600">
                        <a:solidFill>
                          <a:schemeClr val="bg1"/>
                        </a:solidFill>
                        <a:latin typeface="Titillium Web Semi-Bold"/>
                        <a:ea typeface="Calibri"/>
                        <a:cs typeface="Calibri"/>
                      </a:endParaRPr>
                    </a:p>
                    <a:p>
                      <a:pPr marL="228600" indent="-228600">
                        <a:buFont typeface=""/>
                        <a:buChar char="•"/>
                      </a:pPr>
                      <a:r>
                        <a:rPr lang="en-US" sz="3600">
                          <a:solidFill>
                            <a:schemeClr val="bg1"/>
                          </a:solidFill>
                          <a:latin typeface="Titillium Web Semi-Bold"/>
                        </a:rPr>
                        <a:t>Gestion des incidents</a:t>
                      </a:r>
                      <a:endParaRPr lang="en-US" sz="3600">
                        <a:solidFill>
                          <a:schemeClr val="bg1"/>
                        </a:solidFill>
                        <a:latin typeface="Titillium Web Semi-Bold"/>
                        <a:ea typeface="Calibri"/>
                        <a:cs typeface="Calibri"/>
                      </a:endParaRPr>
                    </a:p>
                    <a:p>
                      <a:pPr marL="228600" indent="-228600">
                        <a:buFont typeface=""/>
                        <a:buChar char="•"/>
                      </a:pPr>
                      <a:r>
                        <a:rPr lang="en-US" sz="3600">
                          <a:solidFill>
                            <a:schemeClr val="bg1"/>
                          </a:solidFill>
                          <a:latin typeface="Titillium Web Semi-Bold"/>
                        </a:rPr>
                        <a:t>Reporting IT</a:t>
                      </a:r>
                      <a:endParaRPr lang="en-US" sz="3600">
                        <a:solidFill>
                          <a:schemeClr val="bg1"/>
                        </a:solidFill>
                        <a:latin typeface="Titillium Web Semi-Bold"/>
                        <a:ea typeface="Calibri"/>
                        <a:cs typeface="Calibri"/>
                      </a:endParaRPr>
                    </a:p>
                  </a:txBody>
                  <a:tcPr>
                    <a:solidFill>
                      <a:srgbClr val="044D3A"/>
                    </a:solidFill>
                  </a:tcPr>
                </a:tc>
                <a:tc>
                  <a:txBody>
                    <a:bodyPr/>
                    <a:lstStyle/>
                    <a:p>
                      <a:pPr marL="228600" indent="-228600">
                        <a:buFont typeface=""/>
                        <a:buChar char="•"/>
                      </a:pPr>
                      <a:r>
                        <a:rPr lang="en-US" sz="3600">
                          <a:solidFill>
                            <a:schemeClr val="bg1"/>
                          </a:solidFill>
                          <a:latin typeface="Titillium Web Semi-Bold"/>
                        </a:rPr>
                        <a:t>La </a:t>
                      </a:r>
                      <a:r>
                        <a:rPr lang="en-US" sz="3600" err="1">
                          <a:solidFill>
                            <a:schemeClr val="bg1"/>
                          </a:solidFill>
                          <a:latin typeface="Titillium Web Semi-Bold"/>
                        </a:rPr>
                        <a:t>centralisation</a:t>
                      </a:r>
                      <a:r>
                        <a:rPr lang="en-US" sz="3600">
                          <a:solidFill>
                            <a:schemeClr val="bg1"/>
                          </a:solidFill>
                          <a:latin typeface="Titillium Web Semi-Bold"/>
                        </a:rPr>
                        <a:t> des données</a:t>
                      </a:r>
                      <a:endParaRPr lang="en-US" sz="3600">
                        <a:solidFill>
                          <a:schemeClr val="bg1"/>
                        </a:solidFill>
                        <a:latin typeface="Titillium Web Semi-Bold"/>
                        <a:ea typeface="Calibri"/>
                        <a:cs typeface="Calibri"/>
                      </a:endParaRPr>
                    </a:p>
                    <a:p>
                      <a:pPr marL="228600" indent="-228600">
                        <a:buFont typeface=""/>
                        <a:buChar char="•"/>
                      </a:pPr>
                      <a:r>
                        <a:rPr lang="en-US" sz="3600" err="1">
                          <a:solidFill>
                            <a:schemeClr val="bg1"/>
                          </a:solidFill>
                          <a:latin typeface="Titillium Web Semi-Bold"/>
                        </a:rPr>
                        <a:t>L’amélioration</a:t>
                      </a:r>
                      <a:r>
                        <a:rPr lang="en-US" sz="3600">
                          <a:solidFill>
                            <a:schemeClr val="bg1"/>
                          </a:solidFill>
                          <a:latin typeface="Titillium Web Semi-Bold"/>
                        </a:rPr>
                        <a:t> du pilotage </a:t>
                      </a:r>
                      <a:r>
                        <a:rPr lang="en-US" sz="3600" err="1">
                          <a:solidFill>
                            <a:schemeClr val="bg1"/>
                          </a:solidFill>
                          <a:latin typeface="Titillium Web Semi-Bold"/>
                        </a:rPr>
                        <a:t>opérationnel</a:t>
                      </a:r>
                      <a:endParaRPr lang="en-US" sz="3600">
                        <a:solidFill>
                          <a:schemeClr val="bg1"/>
                        </a:solidFill>
                        <a:latin typeface="Titillium Web Semi-Bold"/>
                        <a:ea typeface="Calibri"/>
                        <a:cs typeface="Calibri"/>
                      </a:endParaRPr>
                    </a:p>
                    <a:p>
                      <a:pPr marL="228600" indent="-228600">
                        <a:buFont typeface=""/>
                        <a:buChar char="•"/>
                      </a:pPr>
                      <a:r>
                        <a:rPr lang="en-US" sz="3600" err="1">
                          <a:solidFill>
                            <a:schemeClr val="bg1"/>
                          </a:solidFill>
                          <a:latin typeface="Titillium Web Semi-Bold"/>
                        </a:rPr>
                        <a:t>L’industrialisation</a:t>
                      </a:r>
                      <a:r>
                        <a:rPr lang="en-US" sz="3600">
                          <a:solidFill>
                            <a:schemeClr val="bg1"/>
                          </a:solidFill>
                          <a:latin typeface="Titillium Web Semi-Bold"/>
                        </a:rPr>
                        <a:t> des processus IT</a:t>
                      </a:r>
                      <a:endParaRPr lang="en-US" sz="3600">
                        <a:solidFill>
                          <a:schemeClr val="bg1"/>
                        </a:solidFill>
                        <a:latin typeface="Titillium Web Semi-Bold"/>
                        <a:ea typeface="Calibri"/>
                        <a:cs typeface="Calibri"/>
                      </a:endParaRPr>
                    </a:p>
                    <a:p>
                      <a:pPr marL="228600" indent="-228600">
                        <a:buFont typeface=""/>
                        <a:buChar char="•"/>
                      </a:pPr>
                      <a:r>
                        <a:rPr lang="en-US" sz="3600" err="1">
                          <a:solidFill>
                            <a:schemeClr val="bg1"/>
                          </a:solidFill>
                          <a:latin typeface="Titillium Web Semi-Bold"/>
                        </a:rPr>
                        <a:t>L’amélioration</a:t>
                      </a:r>
                      <a:r>
                        <a:rPr lang="en-US" sz="3600">
                          <a:solidFill>
                            <a:schemeClr val="bg1"/>
                          </a:solidFill>
                          <a:latin typeface="Titillium Web Semi-Bold"/>
                        </a:rPr>
                        <a:t> de la satisfaction client</a:t>
                      </a:r>
                      <a:endParaRPr lang="en-US" sz="3600">
                        <a:solidFill>
                          <a:schemeClr val="bg1"/>
                        </a:solidFill>
                        <a:latin typeface="Titillium Web Semi-Bold"/>
                        <a:ea typeface="Calibri"/>
                        <a:cs typeface="Calibri"/>
                      </a:endParaRPr>
                    </a:p>
                  </a:txBody>
                  <a:tcPr>
                    <a:solidFill>
                      <a:srgbClr val="044D3A"/>
                    </a:solidFill>
                  </a:tcPr>
                </a:tc>
                <a:extLst>
                  <a:ext uri="{0D108BD9-81ED-4DB2-BD59-A6C34878D82A}">
                    <a16:rowId xmlns:a16="http://schemas.microsoft.com/office/drawing/2014/main" val="1804505353"/>
                  </a:ext>
                </a:extLst>
              </a:tr>
            </a:tbl>
          </a:graphicData>
        </a:graphic>
      </p:graphicFrame>
    </p:spTree>
    <p:extLst>
      <p:ext uri="{BB962C8B-B14F-4D97-AF65-F5344CB8AC3E}">
        <p14:creationId xmlns:p14="http://schemas.microsoft.com/office/powerpoint/2010/main" val="801843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104FE0E5-073B-7036-7F83-005693926BC2}"/>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7D75EB66-C68F-3B82-5A1A-8ED46B96C20D}"/>
              </a:ext>
            </a:extLst>
          </p:cNvPr>
          <p:cNvSpPr txBox="1"/>
          <p:nvPr/>
        </p:nvSpPr>
        <p:spPr>
          <a:xfrm>
            <a:off x="5707017" y="1991601"/>
            <a:ext cx="6917725" cy="1000274"/>
          </a:xfrm>
          <a:prstGeom prst="rect">
            <a:avLst/>
          </a:prstGeom>
        </p:spPr>
        <p:txBody>
          <a:bodyPr wrap="square" lIns="0" tIns="0" rIns="0" bIns="0" rtlCol="0" anchor="t">
            <a:spAutoFit/>
          </a:bodyPr>
          <a:lstStyle/>
          <a:p>
            <a:pPr algn="ctr">
              <a:lnSpc>
                <a:spcPts val="7800"/>
              </a:lnSpc>
            </a:pPr>
            <a:r>
              <a:rPr lang="en-US" sz="6500" b="1">
                <a:solidFill>
                  <a:srgbClr val="FFF8ED"/>
                </a:solidFill>
                <a:latin typeface="Titillium Web Semi-Bold"/>
                <a:ea typeface="Calibri"/>
                <a:cs typeface="Calibri"/>
              </a:rPr>
              <a:t>METHODOLOGIE</a:t>
            </a:r>
          </a:p>
        </p:txBody>
      </p:sp>
      <p:grpSp>
        <p:nvGrpSpPr>
          <p:cNvPr id="12" name="Group 12">
            <a:extLst>
              <a:ext uri="{FF2B5EF4-FFF2-40B4-BE49-F238E27FC236}">
                <a16:creationId xmlns:a16="http://schemas.microsoft.com/office/drawing/2014/main" id="{4F9EC46E-14FD-7226-7BB0-BB44A884785E}"/>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994CE80C-C235-FC79-FA46-414E67095A32}"/>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A9CC22C0-9A0D-21A4-36EC-327F386225F6}"/>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2" name="TextBox 1">
            <a:extLst>
              <a:ext uri="{FF2B5EF4-FFF2-40B4-BE49-F238E27FC236}">
                <a16:creationId xmlns:a16="http://schemas.microsoft.com/office/drawing/2014/main" id="{F1DB1742-070A-DBB1-B36F-1E52CFA84A65}"/>
              </a:ext>
            </a:extLst>
          </p:cNvPr>
          <p:cNvSpPr txBox="1"/>
          <p:nvPr/>
        </p:nvSpPr>
        <p:spPr>
          <a:xfrm>
            <a:off x="1753646" y="3186308"/>
            <a:ext cx="15407011" cy="51090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rPr>
              <a:t>Pour assurer </a:t>
            </a:r>
            <a:r>
              <a:rPr lang="en-US" sz="2800" err="1">
                <a:solidFill>
                  <a:schemeClr val="bg1"/>
                </a:solidFill>
              </a:rPr>
              <a:t>une</a:t>
            </a:r>
            <a:r>
              <a:rPr lang="en-US" sz="2800">
                <a:solidFill>
                  <a:schemeClr val="bg1"/>
                </a:solidFill>
              </a:rPr>
              <a:t> gestion </a:t>
            </a:r>
            <a:r>
              <a:rPr lang="en-US" sz="2800" err="1">
                <a:solidFill>
                  <a:schemeClr val="bg1"/>
                </a:solidFill>
              </a:rPr>
              <a:t>structurée</a:t>
            </a:r>
            <a:r>
              <a:rPr lang="en-US" sz="2800">
                <a:solidFill>
                  <a:schemeClr val="bg1"/>
                </a:solidFill>
              </a:rPr>
              <a:t> et </a:t>
            </a:r>
            <a:r>
              <a:rPr lang="en-US" sz="2800" err="1">
                <a:solidFill>
                  <a:schemeClr val="bg1"/>
                </a:solidFill>
              </a:rPr>
              <a:t>efficace</a:t>
            </a:r>
            <a:r>
              <a:rPr lang="en-US" sz="2800">
                <a:solidFill>
                  <a:schemeClr val="bg1"/>
                </a:solidFill>
              </a:rPr>
              <a:t>, nous </a:t>
            </a:r>
            <a:r>
              <a:rPr lang="en-US" sz="2800" err="1">
                <a:solidFill>
                  <a:schemeClr val="bg1"/>
                </a:solidFill>
              </a:rPr>
              <a:t>nous</a:t>
            </a:r>
            <a:r>
              <a:rPr lang="en-US" sz="2800">
                <a:solidFill>
                  <a:schemeClr val="bg1"/>
                </a:solidFill>
              </a:rPr>
              <a:t> </a:t>
            </a:r>
            <a:r>
              <a:rPr lang="en-US" sz="2800" err="1">
                <a:solidFill>
                  <a:schemeClr val="bg1"/>
                </a:solidFill>
              </a:rPr>
              <a:t>appuyons</a:t>
            </a:r>
            <a:r>
              <a:rPr lang="en-US" sz="2800">
                <a:solidFill>
                  <a:schemeClr val="bg1"/>
                </a:solidFill>
              </a:rPr>
              <a:t> sur les </a:t>
            </a:r>
            <a:r>
              <a:rPr lang="en-US" sz="2800" err="1">
                <a:solidFill>
                  <a:schemeClr val="bg1"/>
                </a:solidFill>
              </a:rPr>
              <a:t>outils</a:t>
            </a:r>
            <a:r>
              <a:rPr lang="en-US" sz="2800">
                <a:solidFill>
                  <a:schemeClr val="bg1"/>
                </a:solidFill>
              </a:rPr>
              <a:t> et </a:t>
            </a:r>
            <a:r>
              <a:rPr lang="en-US" sz="2800" err="1">
                <a:solidFill>
                  <a:schemeClr val="bg1"/>
                </a:solidFill>
              </a:rPr>
              <a:t>méthodes</a:t>
            </a:r>
            <a:r>
              <a:rPr lang="en-US" sz="2800">
                <a:solidFill>
                  <a:schemeClr val="bg1"/>
                </a:solidFill>
              </a:rPr>
              <a:t> </a:t>
            </a:r>
            <a:r>
              <a:rPr lang="en-US" sz="2800" err="1">
                <a:solidFill>
                  <a:schemeClr val="bg1"/>
                </a:solidFill>
              </a:rPr>
              <a:t>suivants</a:t>
            </a:r>
            <a:r>
              <a:rPr lang="en-US" sz="2800">
                <a:solidFill>
                  <a:schemeClr val="bg1"/>
                </a:solidFill>
              </a:rPr>
              <a:t> :</a:t>
            </a:r>
          </a:p>
          <a:p>
            <a:endParaRPr lang="en-US" sz="2800">
              <a:solidFill>
                <a:schemeClr val="bg1"/>
              </a:solidFill>
              <a:ea typeface="Calibri"/>
              <a:cs typeface="Calibri"/>
            </a:endParaRPr>
          </a:p>
          <a:p>
            <a:pPr marL="685800" lvl="1" indent="-228600">
              <a:buFont typeface=""/>
              <a:buChar char="•"/>
            </a:pPr>
            <a:r>
              <a:rPr lang="en-US" sz="2800" b="1">
                <a:solidFill>
                  <a:schemeClr val="bg1"/>
                </a:solidFill>
              </a:rPr>
              <a:t>WBS</a:t>
            </a:r>
            <a:r>
              <a:rPr lang="en-US" sz="2800">
                <a:solidFill>
                  <a:schemeClr val="bg1"/>
                </a:solidFill>
              </a:rPr>
              <a:t> : pour le </a:t>
            </a:r>
            <a:r>
              <a:rPr lang="en-US" sz="2800" err="1">
                <a:solidFill>
                  <a:schemeClr val="bg1"/>
                </a:solidFill>
              </a:rPr>
              <a:t>découpage</a:t>
            </a:r>
            <a:r>
              <a:rPr lang="en-US" sz="2800">
                <a:solidFill>
                  <a:schemeClr val="bg1"/>
                </a:solidFill>
              </a:rPr>
              <a:t> et la structuration des travaux</a:t>
            </a:r>
            <a:endParaRPr lang="en-US" sz="2800">
              <a:solidFill>
                <a:schemeClr val="bg1"/>
              </a:solidFill>
              <a:ea typeface="Calibri"/>
              <a:cs typeface="Calibri"/>
            </a:endParaRPr>
          </a:p>
          <a:p>
            <a:pPr marL="685800" lvl="1" indent="-228600">
              <a:buFont typeface=""/>
              <a:buChar char="•"/>
            </a:pPr>
            <a:r>
              <a:rPr lang="en-US" sz="2800" b="1" err="1">
                <a:solidFill>
                  <a:schemeClr val="bg1"/>
                </a:solidFill>
              </a:rPr>
              <a:t>Diagramme</a:t>
            </a:r>
            <a:r>
              <a:rPr lang="en-US" sz="2800" b="1">
                <a:solidFill>
                  <a:schemeClr val="bg1"/>
                </a:solidFill>
              </a:rPr>
              <a:t> de Gantt</a:t>
            </a:r>
            <a:r>
              <a:rPr lang="en-US" sz="2800">
                <a:solidFill>
                  <a:schemeClr val="bg1"/>
                </a:solidFill>
              </a:rPr>
              <a:t> : pour la planification et le </a:t>
            </a:r>
            <a:r>
              <a:rPr lang="en-US" sz="2800" err="1">
                <a:solidFill>
                  <a:schemeClr val="bg1"/>
                </a:solidFill>
              </a:rPr>
              <a:t>suivi</a:t>
            </a:r>
            <a:r>
              <a:rPr lang="en-US" sz="2800">
                <a:solidFill>
                  <a:schemeClr val="bg1"/>
                </a:solidFill>
              </a:rPr>
              <a:t> des </a:t>
            </a:r>
            <a:r>
              <a:rPr lang="en-US" sz="2800" err="1">
                <a:solidFill>
                  <a:schemeClr val="bg1"/>
                </a:solidFill>
              </a:rPr>
              <a:t>échéances</a:t>
            </a:r>
            <a:endParaRPr lang="en-US" sz="2800">
              <a:solidFill>
                <a:schemeClr val="bg1"/>
              </a:solidFill>
              <a:ea typeface="Calibri"/>
              <a:cs typeface="Calibri"/>
            </a:endParaRPr>
          </a:p>
          <a:p>
            <a:pPr marL="685800" lvl="1" indent="-228600">
              <a:buFont typeface=""/>
              <a:buChar char="•"/>
            </a:pPr>
            <a:r>
              <a:rPr lang="en-US" sz="2800" b="1">
                <a:solidFill>
                  <a:schemeClr val="bg1"/>
                </a:solidFill>
              </a:rPr>
              <a:t>Matrice RACI</a:t>
            </a:r>
            <a:r>
              <a:rPr lang="en-US" sz="2800">
                <a:solidFill>
                  <a:schemeClr val="bg1"/>
                </a:solidFill>
              </a:rPr>
              <a:t> : pour la clarification des </a:t>
            </a:r>
            <a:r>
              <a:rPr lang="en-US" sz="2800" err="1">
                <a:solidFill>
                  <a:schemeClr val="bg1"/>
                </a:solidFill>
              </a:rPr>
              <a:t>rôles</a:t>
            </a:r>
            <a:r>
              <a:rPr lang="en-US" sz="2800">
                <a:solidFill>
                  <a:schemeClr val="bg1"/>
                </a:solidFill>
              </a:rPr>
              <a:t> et des </a:t>
            </a:r>
            <a:r>
              <a:rPr lang="en-US" sz="2800" err="1">
                <a:solidFill>
                  <a:schemeClr val="bg1"/>
                </a:solidFill>
              </a:rPr>
              <a:t>responsabilités</a:t>
            </a:r>
            <a:endParaRPr lang="en-US" sz="2800">
              <a:solidFill>
                <a:schemeClr val="bg1"/>
              </a:solidFill>
              <a:ea typeface="Calibri"/>
              <a:cs typeface="Calibri"/>
            </a:endParaRPr>
          </a:p>
          <a:p>
            <a:pPr marL="685800" lvl="1" indent="-228600">
              <a:buFont typeface=""/>
              <a:buChar char="•"/>
            </a:pPr>
            <a:r>
              <a:rPr lang="en-US" sz="2800" b="1" err="1">
                <a:solidFill>
                  <a:schemeClr val="bg1"/>
                </a:solidFill>
              </a:rPr>
              <a:t>Méthode</a:t>
            </a:r>
            <a:r>
              <a:rPr lang="en-US" sz="2800" b="1">
                <a:solidFill>
                  <a:schemeClr val="bg1"/>
                </a:solidFill>
              </a:rPr>
              <a:t> </a:t>
            </a:r>
            <a:r>
              <a:rPr lang="en-US" sz="2800" b="1" err="1">
                <a:solidFill>
                  <a:schemeClr val="bg1"/>
                </a:solidFill>
              </a:rPr>
              <a:t>MoSCoW</a:t>
            </a:r>
            <a:r>
              <a:rPr lang="en-US" sz="2800">
                <a:solidFill>
                  <a:schemeClr val="bg1"/>
                </a:solidFill>
              </a:rPr>
              <a:t> : pour la </a:t>
            </a:r>
            <a:r>
              <a:rPr lang="en-US" sz="2800" err="1">
                <a:solidFill>
                  <a:schemeClr val="bg1"/>
                </a:solidFill>
              </a:rPr>
              <a:t>priorisation</a:t>
            </a:r>
            <a:r>
              <a:rPr lang="en-US" sz="2800">
                <a:solidFill>
                  <a:schemeClr val="bg1"/>
                </a:solidFill>
              </a:rPr>
              <a:t> des </a:t>
            </a:r>
            <a:r>
              <a:rPr lang="en-US" sz="2800" err="1">
                <a:solidFill>
                  <a:schemeClr val="bg1"/>
                </a:solidFill>
              </a:rPr>
              <a:t>besoins</a:t>
            </a:r>
            <a:endParaRPr lang="en-US" sz="2800">
              <a:solidFill>
                <a:schemeClr val="bg1"/>
              </a:solidFill>
              <a:ea typeface="Calibri"/>
              <a:cs typeface="Calibri"/>
            </a:endParaRPr>
          </a:p>
          <a:p>
            <a:pPr marL="685800" lvl="1" indent="-228600">
              <a:buFont typeface=""/>
              <a:buChar char="•"/>
            </a:pPr>
            <a:r>
              <a:rPr lang="en-US" sz="2800" b="1">
                <a:solidFill>
                  <a:schemeClr val="bg1"/>
                </a:solidFill>
              </a:rPr>
              <a:t>Gestion active des </a:t>
            </a:r>
            <a:r>
              <a:rPr lang="en-US" sz="2800" b="1" err="1">
                <a:solidFill>
                  <a:schemeClr val="bg1"/>
                </a:solidFill>
              </a:rPr>
              <a:t>risques</a:t>
            </a:r>
            <a:r>
              <a:rPr lang="en-US" sz="2800">
                <a:solidFill>
                  <a:schemeClr val="bg1"/>
                </a:solidFill>
              </a:rPr>
              <a:t> : pour </a:t>
            </a:r>
            <a:r>
              <a:rPr lang="en-US" sz="2800" err="1">
                <a:solidFill>
                  <a:schemeClr val="bg1"/>
                </a:solidFill>
              </a:rPr>
              <a:t>anticiper</a:t>
            </a:r>
            <a:r>
              <a:rPr lang="en-US" sz="2800">
                <a:solidFill>
                  <a:schemeClr val="bg1"/>
                </a:solidFill>
              </a:rPr>
              <a:t>, </a:t>
            </a:r>
            <a:r>
              <a:rPr lang="en-US" sz="2800" err="1">
                <a:solidFill>
                  <a:schemeClr val="bg1"/>
                </a:solidFill>
              </a:rPr>
              <a:t>analyser</a:t>
            </a:r>
            <a:r>
              <a:rPr lang="en-US" sz="2800">
                <a:solidFill>
                  <a:schemeClr val="bg1"/>
                </a:solidFill>
              </a:rPr>
              <a:t> et </a:t>
            </a:r>
            <a:r>
              <a:rPr lang="en-US" sz="2800" err="1">
                <a:solidFill>
                  <a:schemeClr val="bg1"/>
                </a:solidFill>
              </a:rPr>
              <a:t>maîtriser</a:t>
            </a:r>
            <a:r>
              <a:rPr lang="en-US" sz="2800">
                <a:solidFill>
                  <a:schemeClr val="bg1"/>
                </a:solidFill>
              </a:rPr>
              <a:t> les </a:t>
            </a:r>
            <a:r>
              <a:rPr lang="en-US" sz="2800" err="1">
                <a:solidFill>
                  <a:schemeClr val="bg1"/>
                </a:solidFill>
              </a:rPr>
              <a:t>aléas</a:t>
            </a:r>
            <a:r>
              <a:rPr lang="en-US" sz="2800">
                <a:solidFill>
                  <a:schemeClr val="bg1"/>
                </a:solidFill>
              </a:rPr>
              <a:t> du </a:t>
            </a:r>
            <a:r>
              <a:rPr lang="en-US" sz="2800" err="1">
                <a:solidFill>
                  <a:schemeClr val="bg1"/>
                </a:solidFill>
              </a:rPr>
              <a:t>projet</a:t>
            </a:r>
            <a:endParaRPr lang="en-US" sz="2800">
              <a:solidFill>
                <a:schemeClr val="bg1"/>
              </a:solidFill>
            </a:endParaRPr>
          </a:p>
          <a:p>
            <a:endParaRPr lang="en-US" sz="2800">
              <a:solidFill>
                <a:schemeClr val="bg1"/>
              </a:solidFill>
              <a:ea typeface="Calibri"/>
              <a:cs typeface="Calibri"/>
            </a:endParaRPr>
          </a:p>
          <a:p>
            <a:r>
              <a:rPr lang="en-US" sz="2800">
                <a:solidFill>
                  <a:schemeClr val="bg1"/>
                </a:solidFill>
              </a:rPr>
              <a:t>Le </a:t>
            </a:r>
            <a:r>
              <a:rPr lang="en-US" sz="2800" err="1">
                <a:solidFill>
                  <a:schemeClr val="bg1"/>
                </a:solidFill>
              </a:rPr>
              <a:t>projet</a:t>
            </a:r>
            <a:r>
              <a:rPr lang="en-US" sz="2800">
                <a:solidFill>
                  <a:schemeClr val="bg1"/>
                </a:solidFill>
              </a:rPr>
              <a:t> </a:t>
            </a:r>
            <a:r>
              <a:rPr lang="en-US" sz="2800" err="1">
                <a:solidFill>
                  <a:schemeClr val="bg1"/>
                </a:solidFill>
              </a:rPr>
              <a:t>impliquant</a:t>
            </a:r>
            <a:r>
              <a:rPr lang="en-US" sz="2800">
                <a:solidFill>
                  <a:schemeClr val="bg1"/>
                </a:solidFill>
              </a:rPr>
              <a:t> </a:t>
            </a:r>
            <a:r>
              <a:rPr lang="en-US" sz="2800" err="1">
                <a:solidFill>
                  <a:schemeClr val="bg1"/>
                </a:solidFill>
              </a:rPr>
              <a:t>plusieurs</a:t>
            </a:r>
            <a:r>
              <a:rPr lang="en-US" sz="2800">
                <a:solidFill>
                  <a:schemeClr val="bg1"/>
                </a:solidFill>
              </a:rPr>
              <a:t> </a:t>
            </a:r>
            <a:r>
              <a:rPr lang="en-US" sz="2800" err="1">
                <a:solidFill>
                  <a:schemeClr val="bg1"/>
                </a:solidFill>
              </a:rPr>
              <a:t>prestataires</a:t>
            </a:r>
            <a:r>
              <a:rPr lang="en-US" sz="2800">
                <a:solidFill>
                  <a:schemeClr val="bg1"/>
                </a:solidFill>
              </a:rPr>
              <a:t>, nous </a:t>
            </a:r>
            <a:r>
              <a:rPr lang="en-US" sz="2800" err="1">
                <a:solidFill>
                  <a:schemeClr val="bg1"/>
                </a:solidFill>
              </a:rPr>
              <a:t>mettons</a:t>
            </a:r>
            <a:r>
              <a:rPr lang="en-US" sz="2800">
                <a:solidFill>
                  <a:schemeClr val="bg1"/>
                </a:solidFill>
              </a:rPr>
              <a:t> </a:t>
            </a:r>
            <a:r>
              <a:rPr lang="en-US" sz="2800" err="1">
                <a:solidFill>
                  <a:schemeClr val="bg1"/>
                </a:solidFill>
              </a:rPr>
              <a:t>en</a:t>
            </a:r>
            <a:r>
              <a:rPr lang="en-US" sz="2800">
                <a:solidFill>
                  <a:schemeClr val="bg1"/>
                </a:solidFill>
              </a:rPr>
              <a:t> place </a:t>
            </a:r>
            <a:r>
              <a:rPr lang="en-US" sz="2800" err="1">
                <a:solidFill>
                  <a:schemeClr val="bg1"/>
                </a:solidFill>
              </a:rPr>
              <a:t>une</a:t>
            </a:r>
            <a:r>
              <a:rPr lang="en-US" sz="2800">
                <a:solidFill>
                  <a:schemeClr val="bg1"/>
                </a:solidFill>
              </a:rPr>
              <a:t> coordination </a:t>
            </a:r>
            <a:r>
              <a:rPr lang="en-US" sz="2800" err="1">
                <a:solidFill>
                  <a:schemeClr val="bg1"/>
                </a:solidFill>
              </a:rPr>
              <a:t>rigoureuse</a:t>
            </a:r>
            <a:r>
              <a:rPr lang="en-US" sz="2800">
                <a:solidFill>
                  <a:schemeClr val="bg1"/>
                </a:solidFill>
              </a:rPr>
              <a:t>, </a:t>
            </a:r>
            <a:r>
              <a:rPr lang="en-US" sz="2800" err="1">
                <a:solidFill>
                  <a:schemeClr val="bg1"/>
                </a:solidFill>
              </a:rPr>
              <a:t>réalisons</a:t>
            </a:r>
            <a:r>
              <a:rPr lang="en-US" sz="2800">
                <a:solidFill>
                  <a:schemeClr val="bg1"/>
                </a:solidFill>
              </a:rPr>
              <a:t> des arbitrages </a:t>
            </a:r>
            <a:r>
              <a:rPr lang="en-US" sz="2800" err="1">
                <a:solidFill>
                  <a:schemeClr val="bg1"/>
                </a:solidFill>
              </a:rPr>
              <a:t>réguliers</a:t>
            </a:r>
            <a:r>
              <a:rPr lang="en-US" sz="2800">
                <a:solidFill>
                  <a:schemeClr val="bg1"/>
                </a:solidFill>
              </a:rPr>
              <a:t> et </a:t>
            </a:r>
            <a:r>
              <a:rPr lang="en-US" sz="2800" err="1">
                <a:solidFill>
                  <a:schemeClr val="bg1"/>
                </a:solidFill>
              </a:rPr>
              <a:t>prenons</a:t>
            </a:r>
            <a:r>
              <a:rPr lang="en-US" sz="2800">
                <a:solidFill>
                  <a:schemeClr val="bg1"/>
                </a:solidFill>
              </a:rPr>
              <a:t> des </a:t>
            </a:r>
            <a:r>
              <a:rPr lang="en-US" sz="2800" err="1">
                <a:solidFill>
                  <a:schemeClr val="bg1"/>
                </a:solidFill>
              </a:rPr>
              <a:t>décisions</a:t>
            </a:r>
            <a:r>
              <a:rPr lang="en-US" sz="2800">
                <a:solidFill>
                  <a:schemeClr val="bg1"/>
                </a:solidFill>
              </a:rPr>
              <a:t> </a:t>
            </a:r>
            <a:r>
              <a:rPr lang="en-US" sz="2800" err="1">
                <a:solidFill>
                  <a:schemeClr val="bg1"/>
                </a:solidFill>
              </a:rPr>
              <a:t>structurantes</a:t>
            </a:r>
            <a:r>
              <a:rPr lang="en-US" sz="2800">
                <a:solidFill>
                  <a:schemeClr val="bg1"/>
                </a:solidFill>
              </a:rPr>
              <a:t> </a:t>
            </a:r>
            <a:r>
              <a:rPr lang="en-US" sz="2800" err="1">
                <a:solidFill>
                  <a:schemeClr val="bg1"/>
                </a:solidFill>
              </a:rPr>
              <a:t>afin</a:t>
            </a:r>
            <a:r>
              <a:rPr lang="en-US" sz="2800">
                <a:solidFill>
                  <a:schemeClr val="bg1"/>
                </a:solidFill>
              </a:rPr>
              <a:t> de </a:t>
            </a:r>
            <a:r>
              <a:rPr lang="en-US" sz="2800" err="1">
                <a:solidFill>
                  <a:schemeClr val="bg1"/>
                </a:solidFill>
              </a:rPr>
              <a:t>garantir</a:t>
            </a:r>
            <a:r>
              <a:rPr lang="en-US" sz="2800">
                <a:solidFill>
                  <a:schemeClr val="bg1"/>
                </a:solidFill>
              </a:rPr>
              <a:t> la </a:t>
            </a:r>
            <a:r>
              <a:rPr lang="en-US" sz="2800" err="1">
                <a:solidFill>
                  <a:schemeClr val="bg1"/>
                </a:solidFill>
              </a:rPr>
              <a:t>cohérence</a:t>
            </a:r>
            <a:r>
              <a:rPr lang="en-US" sz="2800">
                <a:solidFill>
                  <a:schemeClr val="bg1"/>
                </a:solidFill>
              </a:rPr>
              <a:t> et la </a:t>
            </a:r>
            <a:r>
              <a:rPr lang="en-US" sz="2800" err="1">
                <a:solidFill>
                  <a:schemeClr val="bg1"/>
                </a:solidFill>
              </a:rPr>
              <a:t>réussite</a:t>
            </a:r>
            <a:r>
              <a:rPr lang="en-US" sz="2800">
                <a:solidFill>
                  <a:schemeClr val="bg1"/>
                </a:solidFill>
              </a:rPr>
              <a:t> </a:t>
            </a:r>
            <a:r>
              <a:rPr lang="en-US" sz="2800" err="1">
                <a:solidFill>
                  <a:schemeClr val="bg1"/>
                </a:solidFill>
              </a:rPr>
              <a:t>globale</a:t>
            </a:r>
            <a:r>
              <a:rPr lang="en-US" sz="2800">
                <a:solidFill>
                  <a:schemeClr val="bg1"/>
                </a:solidFill>
              </a:rPr>
              <a:t> du </a:t>
            </a:r>
            <a:r>
              <a:rPr lang="en-US" sz="2800" err="1">
                <a:solidFill>
                  <a:schemeClr val="bg1"/>
                </a:solidFill>
              </a:rPr>
              <a:t>programme</a:t>
            </a:r>
            <a:r>
              <a:rPr lang="en-US" sz="2800">
                <a:solidFill>
                  <a:schemeClr val="bg1"/>
                </a:solidFill>
              </a:rPr>
              <a:t>.</a:t>
            </a:r>
            <a:endParaRPr lang="en-US" sz="2800">
              <a:solidFill>
                <a:schemeClr val="bg1"/>
              </a:solidFill>
              <a:ea typeface="Calibri"/>
              <a:cs typeface="Calibri"/>
            </a:endParaRPr>
          </a:p>
          <a:p>
            <a:pPr algn="ctr"/>
            <a:endParaRPr lang="en-US"/>
          </a:p>
        </p:txBody>
      </p:sp>
    </p:spTree>
    <p:extLst>
      <p:ext uri="{BB962C8B-B14F-4D97-AF65-F5344CB8AC3E}">
        <p14:creationId xmlns:p14="http://schemas.microsoft.com/office/powerpoint/2010/main" val="330684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F1FA76BC-F47A-53B7-0E90-990876CF4E0B}"/>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00970393-AA93-E1F6-0003-FB7DB5F85BC3}"/>
              </a:ext>
            </a:extLst>
          </p:cNvPr>
          <p:cNvSpPr txBox="1"/>
          <p:nvPr/>
        </p:nvSpPr>
        <p:spPr>
          <a:xfrm>
            <a:off x="5707017" y="286212"/>
            <a:ext cx="5522139" cy="954107"/>
          </a:xfrm>
          <a:prstGeom prst="rect">
            <a:avLst/>
          </a:prstGeom>
        </p:spPr>
        <p:txBody>
          <a:bodyPr wrap="square" lIns="0" tIns="0" rIns="0" bIns="0" rtlCol="0" anchor="t">
            <a:spAutoFit/>
          </a:bodyPr>
          <a:lstStyle/>
          <a:p>
            <a:pPr algn="ctr"/>
            <a:endParaRPr lang="en-US"/>
          </a:p>
          <a:p>
            <a:pPr algn="ctr"/>
            <a:endParaRPr lang="en-US" sz="4400">
              <a:solidFill>
                <a:schemeClr val="bg1"/>
              </a:solidFill>
              <a:ea typeface="Calibri"/>
              <a:cs typeface="Calibri"/>
            </a:endParaRPr>
          </a:p>
        </p:txBody>
      </p:sp>
      <p:grpSp>
        <p:nvGrpSpPr>
          <p:cNvPr id="12" name="Group 12">
            <a:extLst>
              <a:ext uri="{FF2B5EF4-FFF2-40B4-BE49-F238E27FC236}">
                <a16:creationId xmlns:a16="http://schemas.microsoft.com/office/drawing/2014/main" id="{61EE9C89-127A-0AFE-B0D5-910C4082B29D}"/>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54F17D89-6C55-91A5-C538-18B47B2E3A9F}"/>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937D0614-4D6A-B37F-7D3F-AAAFF80C60C7}"/>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4" name="ZoneTexte 3">
            <a:extLst>
              <a:ext uri="{FF2B5EF4-FFF2-40B4-BE49-F238E27FC236}">
                <a16:creationId xmlns:a16="http://schemas.microsoft.com/office/drawing/2014/main" id="{32CA52C4-763F-A974-FC46-08FA4B583188}"/>
              </a:ext>
            </a:extLst>
          </p:cNvPr>
          <p:cNvSpPr txBox="1"/>
          <p:nvPr/>
        </p:nvSpPr>
        <p:spPr>
          <a:xfrm>
            <a:off x="6146787" y="532433"/>
            <a:ext cx="625502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000" b="1">
                <a:solidFill>
                  <a:schemeClr val="bg1"/>
                </a:solidFill>
                <a:latin typeface="Titillium Web Semi-Bold"/>
                <a:ea typeface="Calibri"/>
                <a:cs typeface="Calibri"/>
              </a:rPr>
              <a:t>RESSOURCES</a:t>
            </a:r>
            <a:r>
              <a:rPr lang="fr-FR" sz="4000" b="1">
                <a:latin typeface="Titillium Web Semi-Bold"/>
                <a:ea typeface="Calibri"/>
                <a:cs typeface="Calibri"/>
              </a:rPr>
              <a:t> </a:t>
            </a:r>
            <a:r>
              <a:rPr lang="fr-FR" sz="4000" b="1">
                <a:solidFill>
                  <a:schemeClr val="bg1"/>
                </a:solidFill>
                <a:latin typeface="Titillium Web Semi-Bold"/>
                <a:ea typeface="Calibri"/>
                <a:cs typeface="Calibri"/>
              </a:rPr>
              <a:t>IDENTIFIEES</a:t>
            </a:r>
          </a:p>
        </p:txBody>
      </p:sp>
      <p:graphicFrame>
        <p:nvGraphicFramePr>
          <p:cNvPr id="5" name="Tableau 4">
            <a:extLst>
              <a:ext uri="{FF2B5EF4-FFF2-40B4-BE49-F238E27FC236}">
                <a16:creationId xmlns:a16="http://schemas.microsoft.com/office/drawing/2014/main" id="{25681F6E-22F2-C5EE-E353-FAA3BA3B136E}"/>
              </a:ext>
            </a:extLst>
          </p:cNvPr>
          <p:cNvGraphicFramePr>
            <a:graphicFrameLocks noGrp="1"/>
          </p:cNvGraphicFramePr>
          <p:nvPr>
            <p:extLst>
              <p:ext uri="{D42A27DB-BD31-4B8C-83A1-F6EECF244321}">
                <p14:modId xmlns:p14="http://schemas.microsoft.com/office/powerpoint/2010/main" val="133095608"/>
              </p:ext>
            </p:extLst>
          </p:nvPr>
        </p:nvGraphicFramePr>
        <p:xfrm>
          <a:off x="776832" y="1481982"/>
          <a:ext cx="16734336" cy="8274864"/>
        </p:xfrm>
        <a:graphic>
          <a:graphicData uri="http://schemas.openxmlformats.org/drawingml/2006/table">
            <a:tbl>
              <a:tblPr firstRow="1" bandRow="1">
                <a:tableStyleId>{073A0DAA-6AF3-43AB-8588-CEC1D06C72B9}</a:tableStyleId>
              </a:tblPr>
              <a:tblGrid>
                <a:gridCol w="5578112">
                  <a:extLst>
                    <a:ext uri="{9D8B030D-6E8A-4147-A177-3AD203B41FA5}">
                      <a16:colId xmlns:a16="http://schemas.microsoft.com/office/drawing/2014/main" val="3964312502"/>
                    </a:ext>
                  </a:extLst>
                </a:gridCol>
                <a:gridCol w="5578112">
                  <a:extLst>
                    <a:ext uri="{9D8B030D-6E8A-4147-A177-3AD203B41FA5}">
                      <a16:colId xmlns:a16="http://schemas.microsoft.com/office/drawing/2014/main" val="1180487944"/>
                    </a:ext>
                  </a:extLst>
                </a:gridCol>
                <a:gridCol w="5578112">
                  <a:extLst>
                    <a:ext uri="{9D8B030D-6E8A-4147-A177-3AD203B41FA5}">
                      <a16:colId xmlns:a16="http://schemas.microsoft.com/office/drawing/2014/main" val="2108423449"/>
                    </a:ext>
                  </a:extLst>
                </a:gridCol>
              </a:tblGrid>
              <a:tr h="15606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0">
                          <a:solidFill>
                            <a:schemeClr val="bg1"/>
                          </a:solidFill>
                          <a:latin typeface="Titillium Web Semi-Bold"/>
                          <a:ea typeface="Calibri"/>
                          <a:cs typeface="Calibri"/>
                        </a:rPr>
                        <a:t>RESSOURCES MATERIELLES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0">
                          <a:solidFill>
                            <a:schemeClr val="bg1"/>
                          </a:solidFill>
                          <a:latin typeface="Titillium Web Semi-Bold"/>
                          <a:ea typeface="Calibri"/>
                          <a:cs typeface="Calibri"/>
                        </a:rPr>
                        <a:t>RESSOURCES HUMAINES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4000">
                          <a:solidFill>
                            <a:schemeClr val="bg1"/>
                          </a:solidFill>
                          <a:latin typeface="Titillium Web Semi-Bold"/>
                          <a:ea typeface="Calibri"/>
                          <a:cs typeface="Calibri"/>
                        </a:rPr>
                        <a:t>RESSOURCES LOGIELLES</a:t>
                      </a:r>
                    </a:p>
                  </a:txBody>
                  <a:tcPr anchor="ctr"/>
                </a:tc>
                <a:extLst>
                  <a:ext uri="{0D108BD9-81ED-4DB2-BD59-A6C34878D82A}">
                    <a16:rowId xmlns:a16="http://schemas.microsoft.com/office/drawing/2014/main" val="549022077"/>
                  </a:ext>
                </a:extLst>
              </a:tr>
              <a:tr h="6714254">
                <a:tc>
                  <a:txBody>
                    <a:bodyPr/>
                    <a:lstStyle/>
                    <a:p>
                      <a:pPr marL="285750" indent="-285750">
                        <a:buFont typeface="Arial"/>
                        <a:buChar char="•"/>
                      </a:pPr>
                      <a:r>
                        <a:rPr lang="fr-FR" sz="2800">
                          <a:solidFill>
                            <a:schemeClr val="bg1"/>
                          </a:solidFill>
                          <a:latin typeface="Titillium Web Semi-Bold"/>
                          <a:ea typeface="Calibri"/>
                          <a:cs typeface="Calibri"/>
                        </a:rPr>
                        <a:t>Serveurs (physiques ou VM)</a:t>
                      </a:r>
                      <a:endParaRPr lang="en-US" sz="2800">
                        <a:solidFill>
                          <a:schemeClr val="bg1"/>
                        </a:solidFill>
                        <a:latin typeface="Titillium Web Semi-Bold"/>
                        <a:ea typeface="Calibri"/>
                        <a:cs typeface="Anantason Expanded Bold"/>
                      </a:endParaRPr>
                    </a:p>
                    <a:p>
                      <a:pPr marL="285750" indent="-285750">
                        <a:buFont typeface="Arial"/>
                        <a:buChar char="•"/>
                      </a:pPr>
                      <a:r>
                        <a:rPr lang="fr-FR" sz="2800">
                          <a:solidFill>
                            <a:schemeClr val="bg1"/>
                          </a:solidFill>
                          <a:latin typeface="Titillium Web Semi-Bold"/>
                          <a:ea typeface="Calibri"/>
                          <a:cs typeface="Calibri"/>
                        </a:rPr>
                        <a:t>Hébergement (On-</a:t>
                      </a:r>
                      <a:r>
                        <a:rPr lang="fr-FR" sz="2800" err="1">
                          <a:solidFill>
                            <a:schemeClr val="bg1"/>
                          </a:solidFill>
                          <a:latin typeface="Titillium Web Semi-Bold"/>
                          <a:ea typeface="Calibri"/>
                          <a:cs typeface="Calibri"/>
                        </a:rPr>
                        <a:t>premise</a:t>
                      </a:r>
                      <a:r>
                        <a:rPr lang="fr-FR" sz="2800">
                          <a:solidFill>
                            <a:schemeClr val="bg1"/>
                          </a:solidFill>
                          <a:latin typeface="Titillium Web Semi-Bold"/>
                          <a:ea typeface="Calibri"/>
                          <a:cs typeface="Calibri"/>
                        </a:rPr>
                        <a:t> ou Cloud)</a:t>
                      </a:r>
                      <a:endParaRPr lang="fr-FR" sz="2800">
                        <a:solidFill>
                          <a:schemeClr val="bg1"/>
                        </a:solidFill>
                        <a:latin typeface="Titillium Web Semi-Bold"/>
                        <a:ea typeface="Calibri"/>
                        <a:cs typeface="Anantason Expanded Bold"/>
                      </a:endParaRPr>
                    </a:p>
                    <a:p>
                      <a:pPr marL="285750" indent="-285750">
                        <a:buFont typeface="Arial"/>
                        <a:buChar char="•"/>
                      </a:pPr>
                      <a:r>
                        <a:rPr lang="fr-FR" sz="2800">
                          <a:solidFill>
                            <a:schemeClr val="bg1"/>
                          </a:solidFill>
                          <a:latin typeface="Titillium Web Semi-Bold"/>
                          <a:ea typeface="Calibri"/>
                          <a:cs typeface="Calibri"/>
                        </a:rPr>
                        <a:t>Bases de données</a:t>
                      </a:r>
                      <a:endParaRPr lang="fr-FR" sz="2800">
                        <a:solidFill>
                          <a:schemeClr val="bg1"/>
                        </a:solidFill>
                        <a:latin typeface="Titillium Web Semi-Bold"/>
                        <a:ea typeface="Calibri"/>
                        <a:cs typeface="Anantason Expanded Bold"/>
                      </a:endParaRPr>
                    </a:p>
                    <a:p>
                      <a:pPr marL="285750" indent="-285750">
                        <a:buFont typeface="Arial"/>
                        <a:buChar char="•"/>
                      </a:pPr>
                      <a:r>
                        <a:rPr lang="fr-FR" sz="2800">
                          <a:solidFill>
                            <a:schemeClr val="bg1"/>
                          </a:solidFill>
                          <a:latin typeface="Titillium Web Semi-Bold"/>
                          <a:ea typeface="Calibri"/>
                          <a:cs typeface="Calibri"/>
                        </a:rPr>
                        <a:t>Stockage sécurisé</a:t>
                      </a:r>
                      <a:endParaRPr lang="fr-FR" sz="2800">
                        <a:solidFill>
                          <a:schemeClr val="bg1"/>
                        </a:solidFill>
                        <a:latin typeface="Titillium Web Semi-Bold"/>
                        <a:ea typeface="Calibri"/>
                        <a:cs typeface="Anantason Expanded Bold"/>
                      </a:endParaRPr>
                    </a:p>
                    <a:p>
                      <a:pPr marL="285750" indent="-285750">
                        <a:buFont typeface="Arial"/>
                        <a:buChar char="•"/>
                      </a:pPr>
                      <a:r>
                        <a:rPr lang="fr-FR" sz="2800">
                          <a:solidFill>
                            <a:schemeClr val="bg1"/>
                          </a:solidFill>
                          <a:latin typeface="Titillium Web Semi-Bold"/>
                          <a:ea typeface="Calibri"/>
                          <a:cs typeface="Calibri"/>
                        </a:rPr>
                        <a:t>Réseau sécurisé (VPN, pare-feu)</a:t>
                      </a:r>
                      <a:endParaRPr lang="fr-FR" sz="2800">
                        <a:solidFill>
                          <a:schemeClr val="bg1"/>
                        </a:solidFill>
                        <a:latin typeface="Titillium Web Semi-Bold"/>
                        <a:ea typeface="Calibri"/>
                        <a:cs typeface="Anantason Expanded Bold"/>
                      </a:endParaRPr>
                    </a:p>
                  </a:txBody>
                  <a:tcPr>
                    <a:solidFill>
                      <a:srgbClr val="044D3A"/>
                    </a:solidFill>
                  </a:tcPr>
                </a:tc>
                <a:tc>
                  <a:txBody>
                    <a:bodyPr/>
                    <a:lstStyle/>
                    <a:p>
                      <a:pPr marL="457200" indent="-457200">
                        <a:buFont typeface="Arial"/>
                        <a:buChar char="•"/>
                      </a:pPr>
                      <a:r>
                        <a:rPr lang="fr-FR" sz="2800">
                          <a:solidFill>
                            <a:schemeClr val="bg1"/>
                          </a:solidFill>
                          <a:latin typeface="Titillium Web Semi-Bold"/>
                          <a:ea typeface="Calibri"/>
                          <a:cs typeface="Calibri"/>
                        </a:rPr>
                        <a:t>Sponsor</a:t>
                      </a:r>
                      <a:endParaRPr lang="fr-FR" sz="2800">
                        <a:solidFill>
                          <a:schemeClr val="bg1"/>
                        </a:solidFill>
                        <a:latin typeface="Titillium Web Semi-Bold"/>
                      </a:endParaRPr>
                    </a:p>
                    <a:p>
                      <a:pPr marL="457200" indent="-457200">
                        <a:buFont typeface="Arial"/>
                        <a:buChar char="•"/>
                      </a:pPr>
                      <a:r>
                        <a:rPr lang="fr-FR" sz="2800" err="1">
                          <a:solidFill>
                            <a:schemeClr val="bg1"/>
                          </a:solidFill>
                          <a:latin typeface="Titillium Web Semi-Bold"/>
                          <a:ea typeface="Calibri"/>
                          <a:cs typeface="Calibri"/>
                        </a:rPr>
                        <a:t>Ingenieure</a:t>
                      </a:r>
                      <a:r>
                        <a:rPr lang="fr-FR" sz="2800">
                          <a:solidFill>
                            <a:schemeClr val="bg1"/>
                          </a:solidFill>
                          <a:latin typeface="Titillium Web Semi-Bold"/>
                          <a:ea typeface="Calibri"/>
                          <a:cs typeface="Calibri"/>
                        </a:rPr>
                        <a:t> technique</a:t>
                      </a:r>
                    </a:p>
                    <a:p>
                      <a:pPr marL="457200" indent="-457200">
                        <a:buFont typeface="Arial"/>
                        <a:buChar char="•"/>
                      </a:pPr>
                      <a:r>
                        <a:rPr lang="fr-FR" sz="2800">
                          <a:solidFill>
                            <a:schemeClr val="bg1"/>
                          </a:solidFill>
                          <a:latin typeface="Titillium Web Semi-Bold"/>
                          <a:ea typeface="Calibri"/>
                          <a:cs typeface="Calibri"/>
                        </a:rPr>
                        <a:t>Cheffe de projet</a:t>
                      </a:r>
                    </a:p>
                    <a:p>
                      <a:pPr marL="457200" indent="-457200">
                        <a:buFont typeface="Arial"/>
                        <a:buChar char="•"/>
                      </a:pPr>
                      <a:r>
                        <a:rPr lang="fr-FR" sz="2800">
                          <a:solidFill>
                            <a:schemeClr val="bg1"/>
                          </a:solidFill>
                          <a:latin typeface="Titillium Web Semi-Bold"/>
                          <a:ea typeface="Calibri"/>
                          <a:cs typeface="Calibri"/>
                        </a:rPr>
                        <a:t>PMO</a:t>
                      </a:r>
                    </a:p>
                    <a:p>
                      <a:pPr marL="457200" indent="-457200">
                        <a:buFont typeface="Arial"/>
                        <a:buChar char="•"/>
                      </a:pPr>
                      <a:r>
                        <a:rPr lang="fr-FR" sz="2800">
                          <a:solidFill>
                            <a:schemeClr val="bg1"/>
                          </a:solidFill>
                          <a:latin typeface="Titillium Web Semi-Bold"/>
                          <a:ea typeface="Calibri"/>
                          <a:cs typeface="Calibri"/>
                        </a:rPr>
                        <a:t>Responsable de service</a:t>
                      </a:r>
                    </a:p>
                    <a:p>
                      <a:pPr marL="457200" indent="-457200">
                        <a:buFont typeface="Arial"/>
                        <a:buChar char="•"/>
                      </a:pPr>
                      <a:r>
                        <a:rPr lang="fr-FR" sz="2800">
                          <a:solidFill>
                            <a:schemeClr val="bg1"/>
                          </a:solidFill>
                          <a:latin typeface="Titillium Web Semi-Bold"/>
                          <a:ea typeface="Calibri"/>
                          <a:cs typeface="Calibri"/>
                        </a:rPr>
                        <a:t>Client</a:t>
                      </a:r>
                    </a:p>
                    <a:p>
                      <a:pPr marL="457200" indent="-457200">
                        <a:buFont typeface="Arial"/>
                        <a:buChar char="•"/>
                      </a:pPr>
                      <a:r>
                        <a:rPr lang="fr-FR" sz="2800">
                          <a:solidFill>
                            <a:schemeClr val="bg1"/>
                          </a:solidFill>
                          <a:latin typeface="Titillium Web Semi-Bold"/>
                          <a:ea typeface="Calibri"/>
                          <a:cs typeface="Calibri"/>
                        </a:rPr>
                        <a:t>Busines </a:t>
                      </a:r>
                      <a:r>
                        <a:rPr lang="fr-FR" sz="2800" err="1">
                          <a:solidFill>
                            <a:schemeClr val="bg1"/>
                          </a:solidFill>
                          <a:latin typeface="Titillium Web Semi-Bold"/>
                          <a:ea typeface="Calibri"/>
                          <a:cs typeface="Calibri"/>
                        </a:rPr>
                        <a:t>Analyst-receuil</a:t>
                      </a:r>
                      <a:r>
                        <a:rPr lang="fr-FR" sz="2800">
                          <a:solidFill>
                            <a:schemeClr val="bg1"/>
                          </a:solidFill>
                          <a:latin typeface="Titillium Web Semi-Bold"/>
                          <a:ea typeface="Calibri"/>
                          <a:cs typeface="Calibri"/>
                        </a:rPr>
                        <a:t> des besoins</a:t>
                      </a:r>
                    </a:p>
                    <a:p>
                      <a:pPr marL="457200" indent="-457200">
                        <a:buFont typeface="Arial"/>
                        <a:buChar char="•"/>
                      </a:pPr>
                      <a:r>
                        <a:rPr lang="fr-FR" sz="2800" err="1">
                          <a:solidFill>
                            <a:schemeClr val="bg1"/>
                          </a:solidFill>
                          <a:latin typeface="Titillium Web Semi-Bold"/>
                          <a:ea typeface="Calibri"/>
                          <a:cs typeface="Calibri"/>
                        </a:rPr>
                        <a:t>Ingenieure</a:t>
                      </a:r>
                      <a:r>
                        <a:rPr lang="fr-FR" sz="2800">
                          <a:solidFill>
                            <a:schemeClr val="bg1"/>
                          </a:solidFill>
                          <a:latin typeface="Titillium Web Semi-Bold"/>
                          <a:ea typeface="Calibri"/>
                          <a:cs typeface="Calibri"/>
                        </a:rPr>
                        <a:t>-technique</a:t>
                      </a:r>
                    </a:p>
                    <a:p>
                      <a:pPr marL="457200" indent="-457200">
                        <a:buFont typeface="Arial"/>
                        <a:buChar char="•"/>
                      </a:pPr>
                      <a:r>
                        <a:rPr lang="fr-FR" sz="2800">
                          <a:solidFill>
                            <a:schemeClr val="bg1"/>
                          </a:solidFill>
                          <a:latin typeface="Titillium Web Semi-Bold"/>
                          <a:ea typeface="Calibri"/>
                          <a:cs typeface="Calibri"/>
                        </a:rPr>
                        <a:t>Chargée de suivie et </a:t>
                      </a:r>
                      <a:r>
                        <a:rPr lang="fr-FR" sz="2800" err="1">
                          <a:solidFill>
                            <a:schemeClr val="bg1"/>
                          </a:solidFill>
                          <a:latin typeface="Titillium Web Semi-Bold"/>
                          <a:ea typeface="Calibri"/>
                          <a:cs typeface="Calibri"/>
                        </a:rPr>
                        <a:t>competences</a:t>
                      </a:r>
                      <a:endParaRPr lang="fr-FR" sz="2800">
                        <a:solidFill>
                          <a:schemeClr val="bg1"/>
                        </a:solidFill>
                        <a:latin typeface="Titillium Web Semi-Bold"/>
                        <a:ea typeface="Calibri"/>
                        <a:cs typeface="Calibri"/>
                      </a:endParaRPr>
                    </a:p>
                    <a:p>
                      <a:pPr marL="457200" indent="-457200">
                        <a:buFont typeface="Arial"/>
                        <a:buChar char="•"/>
                      </a:pPr>
                      <a:r>
                        <a:rPr lang="fr-FR" sz="2800">
                          <a:solidFill>
                            <a:schemeClr val="bg1"/>
                          </a:solidFill>
                          <a:latin typeface="Titillium Web Semi-Bold"/>
                          <a:ea typeface="Calibri"/>
                          <a:cs typeface="Calibri"/>
                        </a:rPr>
                        <a:t>Expert qualité</a:t>
                      </a:r>
                    </a:p>
                  </a:txBody>
                  <a:tcPr>
                    <a:solidFill>
                      <a:srgbClr val="044D3A"/>
                    </a:solidFill>
                  </a:tcPr>
                </a:tc>
                <a:tc>
                  <a:txBody>
                    <a:bodyPr/>
                    <a:lstStyle/>
                    <a:p>
                      <a:pPr marL="457200" indent="-457200">
                        <a:buFont typeface="Arial"/>
                        <a:buChar char="•"/>
                      </a:pPr>
                      <a:r>
                        <a:rPr lang="fr-FR" sz="2800">
                          <a:solidFill>
                            <a:schemeClr val="bg1"/>
                          </a:solidFill>
                          <a:latin typeface="Titillium Web Semi-Bold"/>
                          <a:ea typeface="Calibri"/>
                          <a:cs typeface="Calibri"/>
                        </a:rPr>
                        <a:t>Outil de gestion des contrats</a:t>
                      </a:r>
                      <a:endParaRPr lang="fr-FR" sz="2800">
                        <a:solidFill>
                          <a:schemeClr val="bg1"/>
                        </a:solidFill>
                        <a:latin typeface="Titillium Web Semi-Bold"/>
                      </a:endParaRPr>
                    </a:p>
                    <a:p>
                      <a:pPr marL="457200" indent="-457200">
                        <a:buFont typeface="Arial"/>
                        <a:buChar char="•"/>
                      </a:pPr>
                      <a:r>
                        <a:rPr lang="fr-FR" sz="2800">
                          <a:solidFill>
                            <a:schemeClr val="bg1"/>
                          </a:solidFill>
                          <a:latin typeface="Titillium Web Semi-Bold"/>
                          <a:ea typeface="Calibri"/>
                          <a:cs typeface="Calibri"/>
                        </a:rPr>
                        <a:t>Outils de supervision </a:t>
                      </a:r>
                    </a:p>
                    <a:p>
                      <a:pPr marL="457200" indent="-457200">
                        <a:buFont typeface="Arial"/>
                        <a:buChar char="•"/>
                      </a:pPr>
                      <a:r>
                        <a:rPr lang="fr-FR" sz="2800">
                          <a:solidFill>
                            <a:schemeClr val="bg1"/>
                          </a:solidFill>
                          <a:latin typeface="Titillium Web Semi-Bold"/>
                          <a:ea typeface="Calibri"/>
                          <a:cs typeface="Calibri"/>
                        </a:rPr>
                        <a:t>Outil de ITSM</a:t>
                      </a:r>
                    </a:p>
                    <a:p>
                      <a:pPr marL="457200" indent="-457200">
                        <a:buFont typeface="Arial"/>
                        <a:buChar char="•"/>
                      </a:pPr>
                      <a:r>
                        <a:rPr lang="fr-FR" sz="2800">
                          <a:solidFill>
                            <a:schemeClr val="bg1"/>
                          </a:solidFill>
                          <a:latin typeface="Titillium Web Semi-Bold"/>
                          <a:ea typeface="Calibri"/>
                          <a:cs typeface="Calibri"/>
                        </a:rPr>
                        <a:t>MS </a:t>
                      </a:r>
                      <a:r>
                        <a:rPr lang="fr-FR" sz="2800" err="1">
                          <a:solidFill>
                            <a:schemeClr val="bg1"/>
                          </a:solidFill>
                          <a:latin typeface="Titillium Web Semi-Bold"/>
                          <a:ea typeface="Calibri"/>
                          <a:cs typeface="Calibri"/>
                        </a:rPr>
                        <a:t>project</a:t>
                      </a:r>
                      <a:r>
                        <a:rPr lang="fr-FR" sz="2800">
                          <a:solidFill>
                            <a:schemeClr val="bg1"/>
                          </a:solidFill>
                          <a:latin typeface="Titillium Web Semi-Bold"/>
                          <a:ea typeface="Calibri"/>
                          <a:cs typeface="Calibri"/>
                        </a:rPr>
                        <a:t>/Gantt</a:t>
                      </a:r>
                    </a:p>
                    <a:p>
                      <a:pPr marL="457200" indent="-457200">
                        <a:buFont typeface="Arial"/>
                        <a:buChar char="•"/>
                      </a:pPr>
                      <a:r>
                        <a:rPr lang="fr-FR" sz="2800" err="1">
                          <a:solidFill>
                            <a:schemeClr val="bg1"/>
                          </a:solidFill>
                          <a:latin typeface="Titillium Web Semi-Bold"/>
                          <a:ea typeface="Calibri"/>
                          <a:cs typeface="Calibri"/>
                        </a:rPr>
                        <a:t>Outill</a:t>
                      </a:r>
                      <a:r>
                        <a:rPr lang="fr-FR" sz="2800">
                          <a:solidFill>
                            <a:schemeClr val="bg1"/>
                          </a:solidFill>
                          <a:latin typeface="Titillium Web Semi-Bold"/>
                          <a:ea typeface="Calibri"/>
                          <a:cs typeface="Calibri"/>
                        </a:rPr>
                        <a:t> collaboratif</a:t>
                      </a:r>
                    </a:p>
                    <a:p>
                      <a:pPr marL="457200" indent="-457200">
                        <a:buFont typeface="Arial"/>
                        <a:buChar char="•"/>
                      </a:pPr>
                      <a:r>
                        <a:rPr lang="fr-FR" sz="2800">
                          <a:solidFill>
                            <a:schemeClr val="bg1"/>
                          </a:solidFill>
                          <a:latin typeface="Titillium Web Semi-Bold"/>
                          <a:ea typeface="Calibri"/>
                          <a:cs typeface="Calibri"/>
                        </a:rPr>
                        <a:t>Outil BI</a:t>
                      </a:r>
                    </a:p>
                    <a:p>
                      <a:pPr marL="457200" indent="-457200">
                        <a:buFont typeface="Arial"/>
                        <a:buChar char="•"/>
                      </a:pPr>
                      <a:r>
                        <a:rPr lang="fr-FR" sz="2800">
                          <a:solidFill>
                            <a:schemeClr val="bg1"/>
                          </a:solidFill>
                          <a:latin typeface="Titillium Web Semi-Bold"/>
                          <a:ea typeface="Calibri"/>
                          <a:cs typeface="Calibri"/>
                        </a:rPr>
                        <a:t>Outil de gestion de risque</a:t>
                      </a:r>
                    </a:p>
                    <a:p>
                      <a:pPr marL="457200" indent="-457200">
                        <a:buFont typeface="Arial"/>
                        <a:buChar char="•"/>
                      </a:pPr>
                      <a:r>
                        <a:rPr lang="fr-FR" sz="2800">
                          <a:solidFill>
                            <a:schemeClr val="bg1"/>
                          </a:solidFill>
                          <a:latin typeface="Titillium Web Semi-Bold"/>
                          <a:ea typeface="Calibri"/>
                          <a:cs typeface="Calibri"/>
                        </a:rPr>
                        <a:t>Outils de suivi budgétaire</a:t>
                      </a:r>
                    </a:p>
                  </a:txBody>
                  <a:tcPr>
                    <a:solidFill>
                      <a:srgbClr val="044D3A"/>
                    </a:solidFill>
                  </a:tcPr>
                </a:tc>
                <a:extLst>
                  <a:ext uri="{0D108BD9-81ED-4DB2-BD59-A6C34878D82A}">
                    <a16:rowId xmlns:a16="http://schemas.microsoft.com/office/drawing/2014/main" val="854530472"/>
                  </a:ext>
                </a:extLst>
              </a:tr>
            </a:tbl>
          </a:graphicData>
        </a:graphic>
      </p:graphicFrame>
    </p:spTree>
    <p:extLst>
      <p:ext uri="{BB962C8B-B14F-4D97-AF65-F5344CB8AC3E}">
        <p14:creationId xmlns:p14="http://schemas.microsoft.com/office/powerpoint/2010/main" val="2118651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8E4DE75F-1958-B380-1220-6C29EC7EA75A}"/>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9C683766-DBA6-BC20-14F0-FF1EFFF68688}"/>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8CC1E4B4-339F-A3C1-71F9-5AAF070B0EC3}"/>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1279B2CA-5593-8C8E-2734-4AE2E883D513}"/>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7" name="ZoneTexte 3">
            <a:extLst>
              <a:ext uri="{FF2B5EF4-FFF2-40B4-BE49-F238E27FC236}">
                <a16:creationId xmlns:a16="http://schemas.microsoft.com/office/drawing/2014/main" id="{2195D420-B4C4-DA1F-A4F7-456714ABB9C2}"/>
              </a:ext>
            </a:extLst>
          </p:cNvPr>
          <p:cNvSpPr txBox="1"/>
          <p:nvPr/>
        </p:nvSpPr>
        <p:spPr>
          <a:xfrm>
            <a:off x="6766112" y="904931"/>
            <a:ext cx="4755775"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4000" b="1">
                <a:solidFill>
                  <a:schemeClr val="bg1"/>
                </a:solidFill>
                <a:latin typeface="Titillium Web Semi-Bold" panose="020B0604020202020204" charset="0"/>
                <a:ea typeface="Calibri"/>
                <a:cs typeface="Calibri"/>
              </a:rPr>
              <a:t>MACRO-PLANNING</a:t>
            </a:r>
          </a:p>
        </p:txBody>
      </p:sp>
      <p:pic>
        <p:nvPicPr>
          <p:cNvPr id="4" name="Image 3" descr="Une image contenant diagramme, texte, Plan, croquis&#10;&#10;Le contenu généré par l’IA peut être incorrect.">
            <a:extLst>
              <a:ext uri="{FF2B5EF4-FFF2-40B4-BE49-F238E27FC236}">
                <a16:creationId xmlns:a16="http://schemas.microsoft.com/office/drawing/2014/main" id="{50D5F055-21FE-957B-6980-F2CA42EE5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3268" y="1977736"/>
            <a:ext cx="14541461" cy="6331527"/>
          </a:xfrm>
          <a:prstGeom prst="rect">
            <a:avLst/>
          </a:prstGeom>
        </p:spPr>
      </p:pic>
    </p:spTree>
    <p:extLst>
      <p:ext uri="{BB962C8B-B14F-4D97-AF65-F5344CB8AC3E}">
        <p14:creationId xmlns:p14="http://schemas.microsoft.com/office/powerpoint/2010/main" val="751773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081460F9-AB06-F1B3-DFC2-283D34CCB682}"/>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3E3750A6-705B-DA2A-1002-4EB170343872}"/>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EBF5CF74-CFAC-CE16-0B00-D9DF31A8A925}"/>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B9EDEEDE-9CBA-E064-44CE-65CF5B0A6C49}"/>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4" name="ZoneTexte 3">
            <a:extLst>
              <a:ext uri="{FF2B5EF4-FFF2-40B4-BE49-F238E27FC236}">
                <a16:creationId xmlns:a16="http://schemas.microsoft.com/office/drawing/2014/main" id="{D1529514-2D54-59B3-D49A-56074CE48CBE}"/>
              </a:ext>
            </a:extLst>
          </p:cNvPr>
          <p:cNvSpPr txBox="1"/>
          <p:nvPr/>
        </p:nvSpPr>
        <p:spPr>
          <a:xfrm>
            <a:off x="7862500" y="292796"/>
            <a:ext cx="25629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4000" b="1">
                <a:solidFill>
                  <a:schemeClr val="bg1"/>
                </a:solidFill>
                <a:latin typeface="Titillium Web Semi-Bold" panose="020B0604020202020204" charset="0"/>
                <a:ea typeface="Calibri"/>
                <a:cs typeface="Calibri"/>
              </a:rPr>
              <a:t>BUDGET</a:t>
            </a:r>
            <a:endParaRPr lang="en-US">
              <a:solidFill>
                <a:schemeClr val="bg1"/>
              </a:solidFill>
              <a:latin typeface="Titillium Web Semi-Bold" panose="020B0604020202020204" charset="0"/>
            </a:endParaRPr>
          </a:p>
        </p:txBody>
      </p:sp>
      <p:graphicFrame>
        <p:nvGraphicFramePr>
          <p:cNvPr id="2" name="Tableau 1">
            <a:extLst>
              <a:ext uri="{FF2B5EF4-FFF2-40B4-BE49-F238E27FC236}">
                <a16:creationId xmlns:a16="http://schemas.microsoft.com/office/drawing/2014/main" id="{8A02121E-C57D-508D-B14D-F05924B1797D}"/>
              </a:ext>
            </a:extLst>
          </p:cNvPr>
          <p:cNvGraphicFramePr>
            <a:graphicFrameLocks noGrp="1"/>
          </p:cNvGraphicFramePr>
          <p:nvPr>
            <p:extLst>
              <p:ext uri="{D42A27DB-BD31-4B8C-83A1-F6EECF244321}">
                <p14:modId xmlns:p14="http://schemas.microsoft.com/office/powerpoint/2010/main" val="3227582191"/>
              </p:ext>
            </p:extLst>
          </p:nvPr>
        </p:nvGraphicFramePr>
        <p:xfrm>
          <a:off x="13059733" y="1182801"/>
          <a:ext cx="4759894" cy="2213759"/>
        </p:xfrm>
        <a:graphic>
          <a:graphicData uri="http://schemas.openxmlformats.org/drawingml/2006/table">
            <a:tbl>
              <a:tblPr firstRow="1" bandRow="1">
                <a:tableStyleId>{073A0DAA-6AF3-43AB-8588-CEC1D06C72B9}</a:tableStyleId>
              </a:tblPr>
              <a:tblGrid>
                <a:gridCol w="4759894">
                  <a:extLst>
                    <a:ext uri="{9D8B030D-6E8A-4147-A177-3AD203B41FA5}">
                      <a16:colId xmlns:a16="http://schemas.microsoft.com/office/drawing/2014/main" val="1775986118"/>
                    </a:ext>
                  </a:extLst>
                </a:gridCol>
              </a:tblGrid>
              <a:tr h="1339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0" i="0" kern="1200">
                          <a:solidFill>
                            <a:schemeClr val="lt1"/>
                          </a:solidFill>
                          <a:effectLst/>
                          <a:latin typeface="Anantason Expanded Bold" panose="020B0604020202020204" charset="-34"/>
                          <a:ea typeface="+mn-ea"/>
                          <a:cs typeface="Anantason Expanded Bold" panose="020B0604020202020204" charset="-34"/>
                        </a:rPr>
                        <a:t>Coût</a:t>
                      </a:r>
                      <a:r>
                        <a:rPr lang="fr-FR" sz="3600" b="1">
                          <a:solidFill>
                            <a:schemeClr val="bg1"/>
                          </a:solidFill>
                          <a:latin typeface="Anantason Expanded Bold"/>
                          <a:ea typeface="Calibri"/>
                          <a:cs typeface="Calibri"/>
                        </a:rPr>
                        <a:t> Matérielle</a:t>
                      </a:r>
                    </a:p>
                  </a:txBody>
                  <a:tcPr anchor="ctr"/>
                </a:tc>
                <a:extLst>
                  <a:ext uri="{0D108BD9-81ED-4DB2-BD59-A6C34878D82A}">
                    <a16:rowId xmlns:a16="http://schemas.microsoft.com/office/drawing/2014/main" val="349763903"/>
                  </a:ext>
                </a:extLst>
              </a:tr>
              <a:tr h="874119">
                <a:tc>
                  <a:txBody>
                    <a:bodyPr/>
                    <a:lstStyle/>
                    <a:p>
                      <a:pPr algn="ctr"/>
                      <a:r>
                        <a:rPr lang="fr-FR" sz="2000" b="1">
                          <a:solidFill>
                            <a:schemeClr val="bg1"/>
                          </a:solidFill>
                        </a:rPr>
                        <a:t>7 500€</a:t>
                      </a:r>
                    </a:p>
                  </a:txBody>
                  <a:tcPr anchor="ctr">
                    <a:solidFill>
                      <a:schemeClr val="tx1">
                        <a:lumMod val="50000"/>
                        <a:lumOff val="50000"/>
                      </a:schemeClr>
                    </a:solidFill>
                  </a:tcPr>
                </a:tc>
                <a:extLst>
                  <a:ext uri="{0D108BD9-81ED-4DB2-BD59-A6C34878D82A}">
                    <a16:rowId xmlns:a16="http://schemas.microsoft.com/office/drawing/2014/main" val="2977201367"/>
                  </a:ext>
                </a:extLst>
              </a:tr>
            </a:tbl>
          </a:graphicData>
        </a:graphic>
      </p:graphicFrame>
      <p:graphicFrame>
        <p:nvGraphicFramePr>
          <p:cNvPr id="3" name="Tableau 2">
            <a:extLst>
              <a:ext uri="{FF2B5EF4-FFF2-40B4-BE49-F238E27FC236}">
                <a16:creationId xmlns:a16="http://schemas.microsoft.com/office/drawing/2014/main" id="{738AC845-5615-3ECE-34B6-9D8011ADF065}"/>
              </a:ext>
            </a:extLst>
          </p:cNvPr>
          <p:cNvGraphicFramePr>
            <a:graphicFrameLocks noGrp="1"/>
          </p:cNvGraphicFramePr>
          <p:nvPr>
            <p:extLst>
              <p:ext uri="{D42A27DB-BD31-4B8C-83A1-F6EECF244321}">
                <p14:modId xmlns:p14="http://schemas.microsoft.com/office/powerpoint/2010/main" val="1825882353"/>
              </p:ext>
            </p:extLst>
          </p:nvPr>
        </p:nvGraphicFramePr>
        <p:xfrm>
          <a:off x="5494351" y="1182800"/>
          <a:ext cx="7085998" cy="6217920"/>
        </p:xfrm>
        <a:graphic>
          <a:graphicData uri="http://schemas.openxmlformats.org/drawingml/2006/table">
            <a:tbl>
              <a:tblPr firstRow="1" bandRow="1">
                <a:tableStyleId>{073A0DAA-6AF3-43AB-8588-CEC1D06C72B9}</a:tableStyleId>
              </a:tblPr>
              <a:tblGrid>
                <a:gridCol w="1867257">
                  <a:extLst>
                    <a:ext uri="{9D8B030D-6E8A-4147-A177-3AD203B41FA5}">
                      <a16:colId xmlns:a16="http://schemas.microsoft.com/office/drawing/2014/main" val="100930023"/>
                    </a:ext>
                  </a:extLst>
                </a:gridCol>
                <a:gridCol w="1012501">
                  <a:extLst>
                    <a:ext uri="{9D8B030D-6E8A-4147-A177-3AD203B41FA5}">
                      <a16:colId xmlns:a16="http://schemas.microsoft.com/office/drawing/2014/main" val="349495188"/>
                    </a:ext>
                  </a:extLst>
                </a:gridCol>
                <a:gridCol w="1550502">
                  <a:extLst>
                    <a:ext uri="{9D8B030D-6E8A-4147-A177-3AD203B41FA5}">
                      <a16:colId xmlns:a16="http://schemas.microsoft.com/office/drawing/2014/main" val="2102797230"/>
                    </a:ext>
                  </a:extLst>
                </a:gridCol>
                <a:gridCol w="1318750">
                  <a:extLst>
                    <a:ext uri="{9D8B030D-6E8A-4147-A177-3AD203B41FA5}">
                      <a16:colId xmlns:a16="http://schemas.microsoft.com/office/drawing/2014/main" val="2958962886"/>
                    </a:ext>
                  </a:extLst>
                </a:gridCol>
                <a:gridCol w="1336988">
                  <a:extLst>
                    <a:ext uri="{9D8B030D-6E8A-4147-A177-3AD203B41FA5}">
                      <a16:colId xmlns:a16="http://schemas.microsoft.com/office/drawing/2014/main" val="1349733769"/>
                    </a:ext>
                  </a:extLst>
                </a:gridCol>
              </a:tblGrid>
              <a:tr h="672923">
                <a:tc grid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1">
                          <a:solidFill>
                            <a:schemeClr val="bg1"/>
                          </a:solidFill>
                          <a:latin typeface="Anantason Expanded Bold"/>
                          <a:ea typeface="Calibri"/>
                          <a:cs typeface="Calibri"/>
                        </a:rPr>
                        <a:t>Ressources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1">
                          <a:solidFill>
                            <a:schemeClr val="bg1"/>
                          </a:solidFill>
                          <a:latin typeface="Anantason Expanded Bold"/>
                          <a:ea typeface="Calibri"/>
                          <a:cs typeface="Calibri"/>
                        </a:rPr>
                        <a:t>humaines</a:t>
                      </a:r>
                    </a:p>
                  </a:txBody>
                  <a:tcPr anchor="ctr"/>
                </a:tc>
                <a:tc hMerge="1">
                  <a:txBody>
                    <a:bodyPr/>
                    <a:lstStyle/>
                    <a:p>
                      <a:endParaRPr lang="fr-FR"/>
                    </a:p>
                  </a:txBody>
                  <a:tcP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val="762901212"/>
                  </a:ext>
                </a:extLst>
              </a:tr>
              <a:tr h="605872">
                <a:tc>
                  <a:txBody>
                    <a:bodyPr/>
                    <a:lstStyle/>
                    <a:p>
                      <a:pPr algn="ctr"/>
                      <a:r>
                        <a:rPr lang="fr-FR" b="1">
                          <a:solidFill>
                            <a:schemeClr val="bg1"/>
                          </a:solidFill>
                        </a:rPr>
                        <a:t>Noms et Rôles</a:t>
                      </a:r>
                    </a:p>
                  </a:txBody>
                  <a:tcPr anchor="ctr">
                    <a:solidFill>
                      <a:schemeClr val="tx1">
                        <a:lumMod val="50000"/>
                        <a:lumOff val="50000"/>
                      </a:schemeClr>
                    </a:solidFill>
                  </a:tcPr>
                </a:tc>
                <a:tc>
                  <a:txBody>
                    <a:bodyPr/>
                    <a:lstStyle/>
                    <a:p>
                      <a:pPr algn="ctr"/>
                      <a:r>
                        <a:rPr lang="fr-FR" b="1">
                          <a:solidFill>
                            <a:schemeClr val="bg1"/>
                          </a:solidFill>
                        </a:rPr>
                        <a:t>TJM(€)</a:t>
                      </a:r>
                    </a:p>
                  </a:txBody>
                  <a:tcPr anchor="ctr">
                    <a:solidFill>
                      <a:schemeClr val="tx1">
                        <a:lumMod val="50000"/>
                        <a:lumOff val="50000"/>
                      </a:schemeClr>
                    </a:solidFill>
                  </a:tcPr>
                </a:tc>
                <a:tc>
                  <a:txBody>
                    <a:bodyPr/>
                    <a:lstStyle/>
                    <a:p>
                      <a:pPr algn="ctr"/>
                      <a:r>
                        <a:rPr lang="fr-FR" b="1">
                          <a:solidFill>
                            <a:schemeClr val="bg1"/>
                          </a:solidFill>
                        </a:rPr>
                        <a:t>Disponibilité</a:t>
                      </a:r>
                    </a:p>
                  </a:txBody>
                  <a:tcPr anchor="ctr">
                    <a:solidFill>
                      <a:schemeClr val="tx1">
                        <a:lumMod val="50000"/>
                        <a:lumOff val="50000"/>
                      </a:schemeClr>
                    </a:solidFill>
                  </a:tcPr>
                </a:tc>
                <a:tc>
                  <a:txBody>
                    <a:bodyPr/>
                    <a:lstStyle/>
                    <a:p>
                      <a:pPr algn="ctr"/>
                      <a:r>
                        <a:rPr lang="fr-FR" b="1">
                          <a:solidFill>
                            <a:schemeClr val="bg1"/>
                          </a:solidFill>
                        </a:rPr>
                        <a:t>Jours facturés</a:t>
                      </a:r>
                    </a:p>
                  </a:txBody>
                  <a:tcPr anchor="ctr">
                    <a:solidFill>
                      <a:schemeClr val="tx1">
                        <a:lumMod val="50000"/>
                        <a:lumOff val="50000"/>
                      </a:schemeClr>
                    </a:solidFill>
                  </a:tcPr>
                </a:tc>
                <a:tc>
                  <a:txBody>
                    <a:bodyPr/>
                    <a:lstStyle/>
                    <a:p>
                      <a:pPr algn="ctr"/>
                      <a:r>
                        <a:rPr lang="fr-FR" b="1">
                          <a:solidFill>
                            <a:schemeClr val="bg1"/>
                          </a:solidFill>
                        </a:rPr>
                        <a:t>Couts total(€)</a:t>
                      </a:r>
                    </a:p>
                  </a:txBody>
                  <a:tcPr anchor="ctr">
                    <a:solidFill>
                      <a:schemeClr val="tx1">
                        <a:lumMod val="50000"/>
                        <a:lumOff val="50000"/>
                      </a:schemeClr>
                    </a:solidFill>
                  </a:tcPr>
                </a:tc>
                <a:extLst>
                  <a:ext uri="{0D108BD9-81ED-4DB2-BD59-A6C34878D82A}">
                    <a16:rowId xmlns:a16="http://schemas.microsoft.com/office/drawing/2014/main" val="3517177005"/>
                  </a:ext>
                </a:extLst>
              </a:tr>
              <a:tr h="865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Pauline Martin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Chef de </a:t>
                      </a:r>
                      <a:r>
                        <a:rPr lang="en-US" b="1" err="1">
                          <a:solidFill>
                            <a:schemeClr val="bg1"/>
                          </a:solidFill>
                        </a:rPr>
                        <a:t>projet</a:t>
                      </a:r>
                      <a:r>
                        <a:rPr lang="en-US" b="1">
                          <a:solidFill>
                            <a:schemeClr val="bg1"/>
                          </a:solidFill>
                        </a:rPr>
                        <a:t> senior</a:t>
                      </a:r>
                      <a:endParaRPr lang="en-US">
                        <a:solidFill>
                          <a:schemeClr val="bg1"/>
                        </a:solidFill>
                      </a:endParaRPr>
                    </a:p>
                  </a:txBody>
                  <a:tcPr anchor="ctr">
                    <a:solidFill>
                      <a:srgbClr val="044D3A"/>
                    </a:solidFill>
                  </a:tcPr>
                </a:tc>
                <a:tc>
                  <a:txBody>
                    <a:bodyPr/>
                    <a:lstStyle/>
                    <a:p>
                      <a:pPr algn="ctr"/>
                      <a:r>
                        <a:rPr lang="fr-FR">
                          <a:solidFill>
                            <a:schemeClr val="bg1"/>
                          </a:solidFill>
                        </a:rPr>
                        <a:t>550€</a:t>
                      </a:r>
                    </a:p>
                  </a:txBody>
                  <a:tcPr anchor="ctr">
                    <a:solidFill>
                      <a:srgbClr val="044D3A"/>
                    </a:solidFill>
                  </a:tcPr>
                </a:tc>
                <a:tc>
                  <a:txBody>
                    <a:bodyPr/>
                    <a:lstStyle/>
                    <a:p>
                      <a:pPr algn="ctr"/>
                      <a:r>
                        <a:rPr lang="fr-FR">
                          <a:solidFill>
                            <a:schemeClr val="bg1"/>
                          </a:solidFill>
                        </a:rPr>
                        <a:t>100%</a:t>
                      </a:r>
                    </a:p>
                  </a:txBody>
                  <a:tcPr anchor="ctr">
                    <a:solidFill>
                      <a:srgbClr val="044D3A"/>
                    </a:solidFill>
                  </a:tcPr>
                </a:tc>
                <a:tc>
                  <a:txBody>
                    <a:bodyPr/>
                    <a:lstStyle/>
                    <a:p>
                      <a:pPr algn="ctr"/>
                      <a:r>
                        <a:rPr lang="fr-FR">
                          <a:solidFill>
                            <a:schemeClr val="bg1"/>
                          </a:solidFill>
                        </a:rPr>
                        <a:t>505</a:t>
                      </a:r>
                    </a:p>
                  </a:txBody>
                  <a:tcPr anchor="ctr">
                    <a:solidFill>
                      <a:srgbClr val="044D3A"/>
                    </a:solidFill>
                  </a:tcPr>
                </a:tc>
                <a:tc>
                  <a:txBody>
                    <a:bodyPr/>
                    <a:lstStyle/>
                    <a:p>
                      <a:pPr algn="ctr"/>
                      <a:r>
                        <a:rPr lang="fr-FR">
                          <a:solidFill>
                            <a:schemeClr val="bg1"/>
                          </a:solidFill>
                        </a:rPr>
                        <a:t>277 750€</a:t>
                      </a:r>
                    </a:p>
                  </a:txBody>
                  <a:tcPr anchor="ctr">
                    <a:solidFill>
                      <a:srgbClr val="044D3A"/>
                    </a:solidFill>
                  </a:tcPr>
                </a:tc>
                <a:extLst>
                  <a:ext uri="{0D108BD9-81ED-4DB2-BD59-A6C34878D82A}">
                    <a16:rowId xmlns:a16="http://schemas.microsoft.com/office/drawing/2014/main" val="3563434760"/>
                  </a:ext>
                </a:extLst>
              </a:tr>
              <a:tr h="626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David Lefèvre – Business Analyst</a:t>
                      </a:r>
                      <a:endParaRPr lang="en-US">
                        <a:solidFill>
                          <a:schemeClr val="bg1"/>
                        </a:solidFill>
                      </a:endParaRPr>
                    </a:p>
                  </a:txBody>
                  <a:tcPr anchor="ctr">
                    <a:solidFill>
                      <a:srgbClr val="044D3A"/>
                    </a:solidFill>
                  </a:tcPr>
                </a:tc>
                <a:tc>
                  <a:txBody>
                    <a:bodyPr/>
                    <a:lstStyle/>
                    <a:p>
                      <a:pPr algn="ctr"/>
                      <a:r>
                        <a:rPr lang="fr-FR">
                          <a:solidFill>
                            <a:schemeClr val="bg1"/>
                          </a:solidFill>
                        </a:rPr>
                        <a:t>500€</a:t>
                      </a:r>
                    </a:p>
                  </a:txBody>
                  <a:tcPr anchor="ctr">
                    <a:solidFill>
                      <a:srgbClr val="044D3A"/>
                    </a:solidFill>
                  </a:tcPr>
                </a:tc>
                <a:tc>
                  <a:txBody>
                    <a:bodyPr/>
                    <a:lstStyle/>
                    <a:p>
                      <a:pPr algn="ctr"/>
                      <a:r>
                        <a:rPr lang="fr-FR">
                          <a:solidFill>
                            <a:schemeClr val="bg1"/>
                          </a:solidFill>
                        </a:rPr>
                        <a:t>100%</a:t>
                      </a:r>
                    </a:p>
                  </a:txBody>
                  <a:tcPr anchor="ctr">
                    <a:solidFill>
                      <a:srgbClr val="044D3A"/>
                    </a:solidFill>
                  </a:tcPr>
                </a:tc>
                <a:tc>
                  <a:txBody>
                    <a:bodyPr/>
                    <a:lstStyle/>
                    <a:p>
                      <a:pPr algn="ctr"/>
                      <a:r>
                        <a:rPr lang="fr-FR">
                          <a:solidFill>
                            <a:schemeClr val="bg1"/>
                          </a:solidFill>
                        </a:rPr>
                        <a:t>195</a:t>
                      </a:r>
                    </a:p>
                  </a:txBody>
                  <a:tcPr anchor="ctr">
                    <a:solidFill>
                      <a:srgbClr val="044D3A"/>
                    </a:solidFill>
                  </a:tcPr>
                </a:tc>
                <a:tc>
                  <a:txBody>
                    <a:bodyPr/>
                    <a:lstStyle/>
                    <a:p>
                      <a:pPr algn="ctr"/>
                      <a:r>
                        <a:rPr lang="fr-FR">
                          <a:solidFill>
                            <a:schemeClr val="bg1"/>
                          </a:solidFill>
                        </a:rPr>
                        <a:t>97 500€</a:t>
                      </a:r>
                    </a:p>
                  </a:txBody>
                  <a:tcPr anchor="ctr">
                    <a:solidFill>
                      <a:srgbClr val="044D3A"/>
                    </a:solidFill>
                  </a:tcPr>
                </a:tc>
                <a:extLst>
                  <a:ext uri="{0D108BD9-81ED-4DB2-BD59-A6C34878D82A}">
                    <a16:rowId xmlns:a16="http://schemas.microsoft.com/office/drawing/2014/main" val="397885387"/>
                  </a:ext>
                </a:extLst>
              </a:tr>
              <a:tr h="8655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Inès Boudjema – </a:t>
                      </a:r>
                      <a:r>
                        <a:rPr lang="en-US" b="1" err="1">
                          <a:solidFill>
                            <a:schemeClr val="bg1"/>
                          </a:solidFill>
                        </a:rPr>
                        <a:t>Ingénieure</a:t>
                      </a:r>
                      <a:r>
                        <a:rPr lang="en-US" b="1">
                          <a:solidFill>
                            <a:schemeClr val="bg1"/>
                          </a:solidFill>
                        </a:rPr>
                        <a:t> technique</a:t>
                      </a:r>
                      <a:endParaRPr lang="en-US">
                        <a:solidFill>
                          <a:schemeClr val="bg1"/>
                        </a:solidFill>
                      </a:endParaRPr>
                    </a:p>
                  </a:txBody>
                  <a:tcPr anchor="ctr">
                    <a:solidFill>
                      <a:srgbClr val="044D3A"/>
                    </a:solidFill>
                  </a:tcPr>
                </a:tc>
                <a:tc>
                  <a:txBody>
                    <a:bodyPr/>
                    <a:lstStyle/>
                    <a:p>
                      <a:pPr algn="ctr"/>
                      <a:r>
                        <a:rPr lang="fr-FR">
                          <a:solidFill>
                            <a:schemeClr val="bg1"/>
                          </a:solidFill>
                        </a:rPr>
                        <a:t>500€</a:t>
                      </a:r>
                    </a:p>
                  </a:txBody>
                  <a:tcPr anchor="ctr">
                    <a:solidFill>
                      <a:srgbClr val="044D3A"/>
                    </a:solidFill>
                  </a:tcPr>
                </a:tc>
                <a:tc>
                  <a:txBody>
                    <a:bodyPr/>
                    <a:lstStyle/>
                    <a:p>
                      <a:pPr algn="ctr"/>
                      <a:r>
                        <a:rPr lang="fr-FR">
                          <a:solidFill>
                            <a:schemeClr val="bg1"/>
                          </a:solidFill>
                        </a:rPr>
                        <a:t>100%</a:t>
                      </a:r>
                    </a:p>
                  </a:txBody>
                  <a:tcPr anchor="ctr">
                    <a:solidFill>
                      <a:srgbClr val="044D3A"/>
                    </a:solidFill>
                  </a:tcPr>
                </a:tc>
                <a:tc>
                  <a:txBody>
                    <a:bodyPr/>
                    <a:lstStyle/>
                    <a:p>
                      <a:pPr algn="ctr"/>
                      <a:r>
                        <a:rPr lang="fr-FR">
                          <a:solidFill>
                            <a:schemeClr val="bg1"/>
                          </a:solidFill>
                        </a:rPr>
                        <a:t>115</a:t>
                      </a:r>
                    </a:p>
                  </a:txBody>
                  <a:tcPr anchor="ctr">
                    <a:solidFill>
                      <a:srgbClr val="044D3A"/>
                    </a:solidFill>
                  </a:tcPr>
                </a:tc>
                <a:tc>
                  <a:txBody>
                    <a:bodyPr/>
                    <a:lstStyle/>
                    <a:p>
                      <a:pPr algn="ctr"/>
                      <a:r>
                        <a:rPr lang="fr-FR">
                          <a:solidFill>
                            <a:schemeClr val="bg1"/>
                          </a:solidFill>
                        </a:rPr>
                        <a:t>57 500€</a:t>
                      </a:r>
                    </a:p>
                  </a:txBody>
                  <a:tcPr anchor="ctr">
                    <a:solidFill>
                      <a:srgbClr val="044D3A"/>
                    </a:solidFill>
                  </a:tcPr>
                </a:tc>
                <a:extLst>
                  <a:ext uri="{0D108BD9-81ED-4DB2-BD59-A6C34878D82A}">
                    <a16:rowId xmlns:a16="http://schemas.microsoft.com/office/drawing/2014/main" val="4263971929"/>
                  </a:ext>
                </a:extLst>
              </a:tr>
              <a:tr h="60587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Thibaut Royer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PMO</a:t>
                      </a:r>
                      <a:endParaRPr lang="en-US">
                        <a:solidFill>
                          <a:schemeClr val="bg1"/>
                        </a:solidFill>
                      </a:endParaRPr>
                    </a:p>
                  </a:txBody>
                  <a:tcPr anchor="ctr">
                    <a:solidFill>
                      <a:srgbClr val="044D3A"/>
                    </a:solidFill>
                  </a:tcPr>
                </a:tc>
                <a:tc>
                  <a:txBody>
                    <a:bodyPr/>
                    <a:lstStyle/>
                    <a:p>
                      <a:pPr algn="ctr"/>
                      <a:r>
                        <a:rPr lang="fr-FR">
                          <a:solidFill>
                            <a:schemeClr val="bg1"/>
                          </a:solidFill>
                        </a:rPr>
                        <a:t>475€</a:t>
                      </a:r>
                    </a:p>
                  </a:txBody>
                  <a:tcPr anchor="ctr">
                    <a:solidFill>
                      <a:srgbClr val="044D3A"/>
                    </a:solidFill>
                  </a:tcPr>
                </a:tc>
                <a:tc>
                  <a:txBody>
                    <a:bodyPr/>
                    <a:lstStyle/>
                    <a:p>
                      <a:pPr algn="ctr"/>
                      <a:r>
                        <a:rPr lang="fr-FR">
                          <a:solidFill>
                            <a:schemeClr val="bg1"/>
                          </a:solidFill>
                        </a:rPr>
                        <a:t>100%</a:t>
                      </a:r>
                    </a:p>
                  </a:txBody>
                  <a:tcPr anchor="ctr">
                    <a:solidFill>
                      <a:srgbClr val="044D3A"/>
                    </a:solidFill>
                  </a:tcPr>
                </a:tc>
                <a:tc>
                  <a:txBody>
                    <a:bodyPr/>
                    <a:lstStyle/>
                    <a:p>
                      <a:pPr algn="ctr"/>
                      <a:r>
                        <a:rPr lang="fr-FR">
                          <a:solidFill>
                            <a:schemeClr val="bg1"/>
                          </a:solidFill>
                        </a:rPr>
                        <a:t>195</a:t>
                      </a:r>
                    </a:p>
                  </a:txBody>
                  <a:tcPr anchor="ctr">
                    <a:solidFill>
                      <a:srgbClr val="044D3A"/>
                    </a:solidFill>
                  </a:tcPr>
                </a:tc>
                <a:tc>
                  <a:txBody>
                    <a:bodyPr/>
                    <a:lstStyle/>
                    <a:p>
                      <a:pPr algn="ctr"/>
                      <a:r>
                        <a:rPr lang="fr-FR">
                          <a:solidFill>
                            <a:schemeClr val="bg1"/>
                          </a:solidFill>
                        </a:rPr>
                        <a:t>92 625€</a:t>
                      </a:r>
                    </a:p>
                  </a:txBody>
                  <a:tcPr anchor="ctr">
                    <a:solidFill>
                      <a:srgbClr val="044D3A"/>
                    </a:solidFill>
                  </a:tcPr>
                </a:tc>
                <a:extLst>
                  <a:ext uri="{0D108BD9-81ED-4DB2-BD59-A6C34878D82A}">
                    <a16:rowId xmlns:a16="http://schemas.microsoft.com/office/drawing/2014/main" val="198339959"/>
                  </a:ext>
                </a:extLst>
              </a:tr>
              <a:tr h="626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Élodie Tran – </a:t>
                      </a:r>
                      <a:r>
                        <a:rPr lang="en-US" b="1" err="1">
                          <a:solidFill>
                            <a:schemeClr val="bg1"/>
                          </a:solidFill>
                        </a:rPr>
                        <a:t>Chargée</a:t>
                      </a:r>
                      <a:r>
                        <a:rPr lang="en-US" b="1">
                          <a:solidFill>
                            <a:schemeClr val="bg1"/>
                          </a:solidFill>
                        </a:rPr>
                        <a:t> de </a:t>
                      </a:r>
                      <a:r>
                        <a:rPr lang="en-US" b="1" err="1">
                          <a:solidFill>
                            <a:schemeClr val="bg1"/>
                          </a:solidFill>
                        </a:rPr>
                        <a:t>suivi</a:t>
                      </a:r>
                      <a:endParaRPr lang="en-US">
                        <a:solidFill>
                          <a:schemeClr val="bg1"/>
                        </a:solidFill>
                      </a:endParaRPr>
                    </a:p>
                  </a:txBody>
                  <a:tcPr anchor="ctr">
                    <a:solidFill>
                      <a:srgbClr val="044D3A"/>
                    </a:solidFill>
                  </a:tcPr>
                </a:tc>
                <a:tc>
                  <a:txBody>
                    <a:bodyPr/>
                    <a:lstStyle/>
                    <a:p>
                      <a:pPr algn="ctr"/>
                      <a:r>
                        <a:rPr lang="fr-FR">
                          <a:solidFill>
                            <a:schemeClr val="bg1"/>
                          </a:solidFill>
                        </a:rPr>
                        <a:t>525€</a:t>
                      </a:r>
                    </a:p>
                  </a:txBody>
                  <a:tcPr anchor="ctr">
                    <a:solidFill>
                      <a:srgbClr val="044D3A"/>
                    </a:solidFill>
                  </a:tcPr>
                </a:tc>
                <a:tc>
                  <a:txBody>
                    <a:bodyPr/>
                    <a:lstStyle/>
                    <a:p>
                      <a:pPr algn="ctr"/>
                      <a:r>
                        <a:rPr lang="fr-FR">
                          <a:solidFill>
                            <a:schemeClr val="bg1"/>
                          </a:solidFill>
                        </a:rPr>
                        <a:t>50%</a:t>
                      </a:r>
                    </a:p>
                  </a:txBody>
                  <a:tcPr anchor="ctr">
                    <a:solidFill>
                      <a:srgbClr val="044D3A"/>
                    </a:solidFill>
                  </a:tcPr>
                </a:tc>
                <a:tc>
                  <a:txBody>
                    <a:bodyPr/>
                    <a:lstStyle/>
                    <a:p>
                      <a:pPr algn="ctr"/>
                      <a:r>
                        <a:rPr lang="fr-FR">
                          <a:solidFill>
                            <a:schemeClr val="bg1"/>
                          </a:solidFill>
                        </a:rPr>
                        <a:t>42,5</a:t>
                      </a:r>
                    </a:p>
                  </a:txBody>
                  <a:tcPr anchor="ctr">
                    <a:solidFill>
                      <a:srgbClr val="044D3A"/>
                    </a:solidFill>
                  </a:tcPr>
                </a:tc>
                <a:tc>
                  <a:txBody>
                    <a:bodyPr/>
                    <a:lstStyle/>
                    <a:p>
                      <a:pPr algn="ctr"/>
                      <a:r>
                        <a:rPr lang="fr-FR">
                          <a:solidFill>
                            <a:schemeClr val="bg1"/>
                          </a:solidFill>
                        </a:rPr>
                        <a:t>22 312€</a:t>
                      </a:r>
                    </a:p>
                  </a:txBody>
                  <a:tcPr anchor="ctr">
                    <a:solidFill>
                      <a:srgbClr val="044D3A"/>
                    </a:solidFill>
                  </a:tcPr>
                </a:tc>
                <a:extLst>
                  <a:ext uri="{0D108BD9-81ED-4DB2-BD59-A6C34878D82A}">
                    <a16:rowId xmlns:a16="http://schemas.microsoft.com/office/drawing/2014/main" val="1135280689"/>
                  </a:ext>
                </a:extLst>
              </a:tr>
              <a:tr h="626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solidFill>
                            <a:schemeClr val="bg1"/>
                          </a:solidFill>
                        </a:rPr>
                        <a:t>Julien Moreau – Expert </a:t>
                      </a:r>
                      <a:r>
                        <a:rPr lang="en-US" b="1" err="1">
                          <a:solidFill>
                            <a:schemeClr val="bg1"/>
                          </a:solidFill>
                        </a:rPr>
                        <a:t>qualité</a:t>
                      </a:r>
                      <a:endParaRPr lang="en-US">
                        <a:solidFill>
                          <a:schemeClr val="bg1"/>
                        </a:solidFill>
                      </a:endParaRPr>
                    </a:p>
                  </a:txBody>
                  <a:tcPr anchor="ctr">
                    <a:solidFill>
                      <a:srgbClr val="044D3A"/>
                    </a:solidFill>
                  </a:tcPr>
                </a:tc>
                <a:tc>
                  <a:txBody>
                    <a:bodyPr/>
                    <a:lstStyle/>
                    <a:p>
                      <a:pPr algn="ctr"/>
                      <a:r>
                        <a:rPr lang="fr-FR">
                          <a:solidFill>
                            <a:schemeClr val="bg1"/>
                          </a:solidFill>
                        </a:rPr>
                        <a:t>500€</a:t>
                      </a:r>
                    </a:p>
                  </a:txBody>
                  <a:tcPr anchor="ctr">
                    <a:solidFill>
                      <a:srgbClr val="044D3A"/>
                    </a:solidFill>
                  </a:tcPr>
                </a:tc>
                <a:tc>
                  <a:txBody>
                    <a:bodyPr/>
                    <a:lstStyle/>
                    <a:p>
                      <a:pPr algn="ctr"/>
                      <a:r>
                        <a:rPr lang="fr-FR">
                          <a:solidFill>
                            <a:schemeClr val="bg1"/>
                          </a:solidFill>
                        </a:rPr>
                        <a:t>80%</a:t>
                      </a:r>
                    </a:p>
                  </a:txBody>
                  <a:tcPr anchor="ctr">
                    <a:solidFill>
                      <a:srgbClr val="044D3A"/>
                    </a:solidFill>
                  </a:tcPr>
                </a:tc>
                <a:tc>
                  <a:txBody>
                    <a:bodyPr/>
                    <a:lstStyle/>
                    <a:p>
                      <a:pPr algn="ctr"/>
                      <a:r>
                        <a:rPr lang="fr-FR">
                          <a:solidFill>
                            <a:schemeClr val="bg1"/>
                          </a:solidFill>
                        </a:rPr>
                        <a:t>40</a:t>
                      </a:r>
                    </a:p>
                  </a:txBody>
                  <a:tcPr anchor="ctr">
                    <a:solidFill>
                      <a:srgbClr val="044D3A"/>
                    </a:solidFill>
                  </a:tcPr>
                </a:tc>
                <a:tc>
                  <a:txBody>
                    <a:bodyPr/>
                    <a:lstStyle/>
                    <a:p>
                      <a:pPr algn="ctr"/>
                      <a:r>
                        <a:rPr lang="fr-FR">
                          <a:solidFill>
                            <a:schemeClr val="bg1"/>
                          </a:solidFill>
                        </a:rPr>
                        <a:t>20 000€</a:t>
                      </a:r>
                    </a:p>
                  </a:txBody>
                  <a:tcPr anchor="ctr">
                    <a:solidFill>
                      <a:srgbClr val="044D3A"/>
                    </a:solidFill>
                  </a:tcPr>
                </a:tc>
                <a:extLst>
                  <a:ext uri="{0D108BD9-81ED-4DB2-BD59-A6C34878D82A}">
                    <a16:rowId xmlns:a16="http://schemas.microsoft.com/office/drawing/2014/main" val="1341851782"/>
                  </a:ext>
                </a:extLst>
              </a:tr>
            </a:tbl>
          </a:graphicData>
        </a:graphic>
      </p:graphicFrame>
      <p:graphicFrame>
        <p:nvGraphicFramePr>
          <p:cNvPr id="7" name="Tableau 6">
            <a:extLst>
              <a:ext uri="{FF2B5EF4-FFF2-40B4-BE49-F238E27FC236}">
                <a16:creationId xmlns:a16="http://schemas.microsoft.com/office/drawing/2014/main" id="{B892E03B-B352-E04B-EE2A-11A17EB7FBF6}"/>
              </a:ext>
            </a:extLst>
          </p:cNvPr>
          <p:cNvGraphicFramePr>
            <a:graphicFrameLocks noGrp="1"/>
          </p:cNvGraphicFramePr>
          <p:nvPr>
            <p:extLst>
              <p:ext uri="{D42A27DB-BD31-4B8C-83A1-F6EECF244321}">
                <p14:modId xmlns:p14="http://schemas.microsoft.com/office/powerpoint/2010/main" val="2298402655"/>
              </p:ext>
            </p:extLst>
          </p:nvPr>
        </p:nvGraphicFramePr>
        <p:xfrm>
          <a:off x="273852" y="1182800"/>
          <a:ext cx="4759894" cy="2249791"/>
        </p:xfrm>
        <a:graphic>
          <a:graphicData uri="http://schemas.openxmlformats.org/drawingml/2006/table">
            <a:tbl>
              <a:tblPr firstRow="1" bandRow="1">
                <a:tableStyleId>{073A0DAA-6AF3-43AB-8588-CEC1D06C72B9}</a:tableStyleId>
              </a:tblPr>
              <a:tblGrid>
                <a:gridCol w="4759894">
                  <a:extLst>
                    <a:ext uri="{9D8B030D-6E8A-4147-A177-3AD203B41FA5}">
                      <a16:colId xmlns:a16="http://schemas.microsoft.com/office/drawing/2014/main" val="1411038697"/>
                    </a:ext>
                  </a:extLst>
                </a:gridCol>
              </a:tblGrid>
              <a:tr h="13561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0" i="0" kern="1200">
                          <a:solidFill>
                            <a:schemeClr val="lt1"/>
                          </a:solidFill>
                          <a:effectLst/>
                          <a:latin typeface="Anantason Expanded Bold" panose="020B0604020202020204" charset="-34"/>
                          <a:ea typeface="+mn-ea"/>
                          <a:cs typeface="Anantason Expanded Bold" panose="020B0604020202020204" charset="-34"/>
                        </a:rPr>
                        <a:t>Coût</a:t>
                      </a:r>
                      <a:r>
                        <a:rPr lang="fr-FR" sz="3600" b="1">
                          <a:solidFill>
                            <a:schemeClr val="bg1"/>
                          </a:solidFill>
                          <a:latin typeface="Anantason Expanded Bold"/>
                          <a:ea typeface="Calibri"/>
                          <a:cs typeface="Calibri"/>
                        </a:rPr>
                        <a:t> Licences</a:t>
                      </a:r>
                    </a:p>
                  </a:txBody>
                  <a:tcPr anchor="ctr"/>
                </a:tc>
                <a:extLst>
                  <a:ext uri="{0D108BD9-81ED-4DB2-BD59-A6C34878D82A}">
                    <a16:rowId xmlns:a16="http://schemas.microsoft.com/office/drawing/2014/main" val="2228979645"/>
                  </a:ext>
                </a:extLst>
              </a:tr>
              <a:tr h="893632">
                <a:tc>
                  <a:txBody>
                    <a:bodyPr/>
                    <a:lstStyle/>
                    <a:p>
                      <a:pPr algn="ctr"/>
                      <a:r>
                        <a:rPr lang="fr-FR" b="1">
                          <a:solidFill>
                            <a:schemeClr val="bg1"/>
                          </a:solidFill>
                        </a:rPr>
                        <a:t>24 075€</a:t>
                      </a:r>
                    </a:p>
                  </a:txBody>
                  <a:tcPr anchor="ctr">
                    <a:solidFill>
                      <a:schemeClr val="tx1">
                        <a:lumMod val="50000"/>
                        <a:lumOff val="50000"/>
                      </a:schemeClr>
                    </a:solidFill>
                  </a:tcPr>
                </a:tc>
                <a:extLst>
                  <a:ext uri="{0D108BD9-81ED-4DB2-BD59-A6C34878D82A}">
                    <a16:rowId xmlns:a16="http://schemas.microsoft.com/office/drawing/2014/main" val="735529796"/>
                  </a:ext>
                </a:extLst>
              </a:tr>
            </a:tbl>
          </a:graphicData>
        </a:graphic>
      </p:graphicFrame>
      <p:graphicFrame>
        <p:nvGraphicFramePr>
          <p:cNvPr id="10" name="Tableau 9">
            <a:extLst>
              <a:ext uri="{FF2B5EF4-FFF2-40B4-BE49-F238E27FC236}">
                <a16:creationId xmlns:a16="http://schemas.microsoft.com/office/drawing/2014/main" id="{22867FFC-4E25-DCB3-CEF1-C9EF659C942A}"/>
              </a:ext>
            </a:extLst>
          </p:cNvPr>
          <p:cNvGraphicFramePr>
            <a:graphicFrameLocks noGrp="1"/>
          </p:cNvGraphicFramePr>
          <p:nvPr>
            <p:extLst>
              <p:ext uri="{D42A27DB-BD31-4B8C-83A1-F6EECF244321}">
                <p14:modId xmlns:p14="http://schemas.microsoft.com/office/powerpoint/2010/main" val="3984195715"/>
              </p:ext>
            </p:extLst>
          </p:nvPr>
        </p:nvGraphicFramePr>
        <p:xfrm>
          <a:off x="2941350" y="7745771"/>
          <a:ext cx="12192000" cy="2123440"/>
        </p:xfrm>
        <a:graphic>
          <a:graphicData uri="http://schemas.openxmlformats.org/drawingml/2006/table">
            <a:tbl>
              <a:tblPr firstRow="1" bandRow="1">
                <a:tableStyleId>{073A0DAA-6AF3-43AB-8588-CEC1D06C72B9}</a:tableStyleId>
              </a:tblPr>
              <a:tblGrid>
                <a:gridCol w="6096000">
                  <a:extLst>
                    <a:ext uri="{9D8B030D-6E8A-4147-A177-3AD203B41FA5}">
                      <a16:colId xmlns:a16="http://schemas.microsoft.com/office/drawing/2014/main" val="756230814"/>
                    </a:ext>
                  </a:extLst>
                </a:gridCol>
                <a:gridCol w="6096000">
                  <a:extLst>
                    <a:ext uri="{9D8B030D-6E8A-4147-A177-3AD203B41FA5}">
                      <a16:colId xmlns:a16="http://schemas.microsoft.com/office/drawing/2014/main" val="2593412183"/>
                    </a:ext>
                  </a:extLst>
                </a:gridCol>
              </a:tblGrid>
              <a:tr h="370840">
                <a:tc gridSpan="2">
                  <a:txBody>
                    <a:bodyPr/>
                    <a:lstStyle/>
                    <a:p>
                      <a:pPr algn="ctr"/>
                      <a:r>
                        <a:rPr lang="fr-FR" sz="3600"/>
                        <a:t>Budget Global Projet</a:t>
                      </a:r>
                    </a:p>
                  </a:txBody>
                  <a:tcPr anchor="ctr"/>
                </a:tc>
                <a:tc hMerge="1">
                  <a:txBody>
                    <a:bodyPr/>
                    <a:lstStyle/>
                    <a:p>
                      <a:endParaRPr lang="fr-FR"/>
                    </a:p>
                  </a:txBody>
                  <a:tcPr/>
                </a:tc>
                <a:extLst>
                  <a:ext uri="{0D108BD9-81ED-4DB2-BD59-A6C34878D82A}">
                    <a16:rowId xmlns:a16="http://schemas.microsoft.com/office/drawing/2014/main" val="292847278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1">
                          <a:solidFill>
                            <a:schemeClr val="bg1"/>
                          </a:solidFill>
                          <a:latin typeface="Anantason Expanded Bold"/>
                          <a:ea typeface="Calibri"/>
                          <a:cs typeface="Calibri"/>
                        </a:rPr>
                        <a:t>Ressources humaines</a:t>
                      </a:r>
                    </a:p>
                  </a:txBody>
                  <a:tcPr anchor="ctr">
                    <a:solidFill>
                      <a:srgbClr val="044D3A"/>
                    </a:solidFill>
                  </a:tcPr>
                </a:tc>
                <a:tc>
                  <a:txBody>
                    <a:bodyPr/>
                    <a:lstStyle/>
                    <a:p>
                      <a:pPr algn="ctr"/>
                      <a:r>
                        <a:rPr lang="fr-FR">
                          <a:solidFill>
                            <a:schemeClr val="bg1"/>
                          </a:solidFill>
                        </a:rPr>
                        <a:t>567 687€</a:t>
                      </a:r>
                    </a:p>
                  </a:txBody>
                  <a:tcPr anchor="ctr">
                    <a:solidFill>
                      <a:srgbClr val="044D3A"/>
                    </a:solidFill>
                  </a:tcPr>
                </a:tc>
                <a:extLst>
                  <a:ext uri="{0D108BD9-81ED-4DB2-BD59-A6C34878D82A}">
                    <a16:rowId xmlns:a16="http://schemas.microsoft.com/office/drawing/2014/main" val="249954990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kern="1200">
                          <a:solidFill>
                            <a:schemeClr val="lt1"/>
                          </a:solidFill>
                          <a:effectLst/>
                          <a:latin typeface="Anantason Expanded Bold" panose="020B0604020202020204" charset="-34"/>
                          <a:ea typeface="+mn-ea"/>
                          <a:cs typeface="Anantason Expanded Bold" panose="020B0604020202020204" charset="-34"/>
                        </a:rPr>
                        <a:t>Coût</a:t>
                      </a:r>
                      <a:r>
                        <a:rPr lang="fr-FR" sz="1800" b="1">
                          <a:solidFill>
                            <a:schemeClr val="bg1"/>
                          </a:solidFill>
                          <a:latin typeface="Anantason Expanded Bold"/>
                          <a:ea typeface="Calibri"/>
                          <a:cs typeface="Calibri"/>
                        </a:rPr>
                        <a:t> Licences + </a:t>
                      </a:r>
                      <a:r>
                        <a:rPr lang="fr-FR" sz="1800" b="0" i="0" kern="1200">
                          <a:solidFill>
                            <a:schemeClr val="lt1"/>
                          </a:solidFill>
                          <a:effectLst/>
                          <a:latin typeface="Anantason Expanded Bold" panose="020B0604020202020204" charset="-34"/>
                          <a:ea typeface="+mn-ea"/>
                          <a:cs typeface="Anantason Expanded Bold" panose="020B0604020202020204" charset="-34"/>
                        </a:rPr>
                        <a:t>Coût</a:t>
                      </a:r>
                      <a:r>
                        <a:rPr lang="fr-FR" sz="1800" b="1">
                          <a:solidFill>
                            <a:schemeClr val="bg1"/>
                          </a:solidFill>
                          <a:latin typeface="Anantason Expanded Bold"/>
                          <a:ea typeface="Calibri"/>
                          <a:cs typeface="Calibri"/>
                        </a:rPr>
                        <a:t> Logiciel</a:t>
                      </a:r>
                    </a:p>
                  </a:txBody>
                  <a:tcPr anchor="ctr">
                    <a:solidFill>
                      <a:srgbClr val="044D3A"/>
                    </a:solidFill>
                  </a:tcPr>
                </a:tc>
                <a:tc>
                  <a:txBody>
                    <a:bodyPr/>
                    <a:lstStyle/>
                    <a:p>
                      <a:pPr algn="ctr"/>
                      <a:r>
                        <a:rPr lang="fr-FR">
                          <a:solidFill>
                            <a:schemeClr val="bg1"/>
                          </a:solidFill>
                        </a:rPr>
                        <a:t>25 075€</a:t>
                      </a:r>
                    </a:p>
                  </a:txBody>
                  <a:tcPr anchor="ctr">
                    <a:solidFill>
                      <a:srgbClr val="044D3A"/>
                    </a:solidFill>
                  </a:tcPr>
                </a:tc>
                <a:extLst>
                  <a:ext uri="{0D108BD9-81ED-4DB2-BD59-A6C34878D82A}">
                    <a16:rowId xmlns:a16="http://schemas.microsoft.com/office/drawing/2014/main" val="337364408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800" b="0" i="0" kern="1200">
                          <a:solidFill>
                            <a:schemeClr val="lt1"/>
                          </a:solidFill>
                          <a:effectLst/>
                          <a:latin typeface="Anantason Expanded Bold" panose="020B0604020202020204" charset="-34"/>
                          <a:ea typeface="+mn-ea"/>
                          <a:cs typeface="Anantason Expanded Bold" panose="020B0604020202020204" charset="-34"/>
                        </a:rPr>
                        <a:t>Coût</a:t>
                      </a:r>
                      <a:r>
                        <a:rPr lang="fr-FR" sz="1800" b="1">
                          <a:solidFill>
                            <a:schemeClr val="bg1"/>
                          </a:solidFill>
                          <a:latin typeface="Anantason Expanded Bold"/>
                          <a:ea typeface="Calibri"/>
                          <a:cs typeface="Calibri"/>
                        </a:rPr>
                        <a:t> Matérielle + </a:t>
                      </a:r>
                      <a:r>
                        <a:rPr lang="fr-FR" sz="1800" b="0" i="0" kern="1200">
                          <a:solidFill>
                            <a:schemeClr val="lt1"/>
                          </a:solidFill>
                          <a:effectLst/>
                          <a:latin typeface="Anantason Expanded Bold" panose="020B0604020202020204" charset="-34"/>
                          <a:ea typeface="+mn-ea"/>
                          <a:cs typeface="Anantason Expanded Bold" panose="020B0604020202020204" charset="-34"/>
                        </a:rPr>
                        <a:t>Coût</a:t>
                      </a:r>
                      <a:r>
                        <a:rPr lang="fr-FR" sz="1800" b="1">
                          <a:solidFill>
                            <a:schemeClr val="bg1"/>
                          </a:solidFill>
                          <a:latin typeface="Anantason Expanded Bold"/>
                          <a:ea typeface="Calibri"/>
                          <a:cs typeface="Calibri"/>
                        </a:rPr>
                        <a:t> Locaux</a:t>
                      </a:r>
                    </a:p>
                  </a:txBody>
                  <a:tcPr anchor="ctr">
                    <a:solidFill>
                      <a:srgbClr val="044D3A"/>
                    </a:solidFill>
                  </a:tcPr>
                </a:tc>
                <a:tc>
                  <a:txBody>
                    <a:bodyPr/>
                    <a:lstStyle/>
                    <a:p>
                      <a:pPr algn="ctr"/>
                      <a:r>
                        <a:rPr lang="fr-FR">
                          <a:solidFill>
                            <a:schemeClr val="bg1"/>
                          </a:solidFill>
                        </a:rPr>
                        <a:t>19 983€</a:t>
                      </a:r>
                    </a:p>
                  </a:txBody>
                  <a:tcPr anchor="ctr">
                    <a:solidFill>
                      <a:srgbClr val="044D3A"/>
                    </a:solidFill>
                  </a:tcPr>
                </a:tc>
                <a:extLst>
                  <a:ext uri="{0D108BD9-81ED-4DB2-BD59-A6C34878D82A}">
                    <a16:rowId xmlns:a16="http://schemas.microsoft.com/office/drawing/2014/main" val="2109003808"/>
                  </a:ext>
                </a:extLst>
              </a:tr>
              <a:tr h="370840">
                <a:tc>
                  <a:txBody>
                    <a:bodyPr/>
                    <a:lstStyle/>
                    <a:p>
                      <a:pPr algn="ctr"/>
                      <a:r>
                        <a:rPr lang="fr-FR" b="1">
                          <a:solidFill>
                            <a:schemeClr val="bg1"/>
                          </a:solidFill>
                        </a:rPr>
                        <a:t>Budget total</a:t>
                      </a:r>
                    </a:p>
                  </a:txBody>
                  <a:tcPr anchor="ctr">
                    <a:solidFill>
                      <a:schemeClr val="tx1">
                        <a:lumMod val="50000"/>
                        <a:lumOff val="50000"/>
                      </a:schemeClr>
                    </a:solidFill>
                  </a:tcPr>
                </a:tc>
                <a:tc>
                  <a:txBody>
                    <a:bodyPr/>
                    <a:lstStyle/>
                    <a:p>
                      <a:pPr algn="ctr"/>
                      <a:r>
                        <a:rPr lang="fr-FR" b="1">
                          <a:solidFill>
                            <a:schemeClr val="bg1"/>
                          </a:solidFill>
                        </a:rPr>
                        <a:t>612 745€</a:t>
                      </a:r>
                    </a:p>
                  </a:txBody>
                  <a:tcPr anchor="ctr">
                    <a:solidFill>
                      <a:schemeClr val="tx1">
                        <a:lumMod val="50000"/>
                        <a:lumOff val="50000"/>
                      </a:schemeClr>
                    </a:solidFill>
                  </a:tcPr>
                </a:tc>
                <a:extLst>
                  <a:ext uri="{0D108BD9-81ED-4DB2-BD59-A6C34878D82A}">
                    <a16:rowId xmlns:a16="http://schemas.microsoft.com/office/drawing/2014/main" val="2667830357"/>
                  </a:ext>
                </a:extLst>
              </a:tr>
            </a:tbl>
          </a:graphicData>
        </a:graphic>
      </p:graphicFrame>
      <p:graphicFrame>
        <p:nvGraphicFramePr>
          <p:cNvPr id="5" name="Tableau 4">
            <a:extLst>
              <a:ext uri="{FF2B5EF4-FFF2-40B4-BE49-F238E27FC236}">
                <a16:creationId xmlns:a16="http://schemas.microsoft.com/office/drawing/2014/main" id="{9C4DA5D3-99E4-87B2-76AB-C0D73CBE6304}"/>
              </a:ext>
            </a:extLst>
          </p:cNvPr>
          <p:cNvGraphicFramePr>
            <a:graphicFrameLocks noGrp="1"/>
          </p:cNvGraphicFramePr>
          <p:nvPr>
            <p:extLst>
              <p:ext uri="{D42A27DB-BD31-4B8C-83A1-F6EECF244321}">
                <p14:modId xmlns:p14="http://schemas.microsoft.com/office/powerpoint/2010/main" val="560679414"/>
              </p:ext>
            </p:extLst>
          </p:nvPr>
        </p:nvGraphicFramePr>
        <p:xfrm>
          <a:off x="255073" y="5150929"/>
          <a:ext cx="4759894" cy="2249791"/>
        </p:xfrm>
        <a:graphic>
          <a:graphicData uri="http://schemas.openxmlformats.org/drawingml/2006/table">
            <a:tbl>
              <a:tblPr firstRow="1" bandRow="1">
                <a:tableStyleId>{073A0DAA-6AF3-43AB-8588-CEC1D06C72B9}</a:tableStyleId>
              </a:tblPr>
              <a:tblGrid>
                <a:gridCol w="4759894">
                  <a:extLst>
                    <a:ext uri="{9D8B030D-6E8A-4147-A177-3AD203B41FA5}">
                      <a16:colId xmlns:a16="http://schemas.microsoft.com/office/drawing/2014/main" val="1411038697"/>
                    </a:ext>
                  </a:extLst>
                </a:gridCol>
              </a:tblGrid>
              <a:tr h="135615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0" i="0" kern="1200">
                          <a:solidFill>
                            <a:schemeClr val="lt1"/>
                          </a:solidFill>
                          <a:effectLst/>
                          <a:latin typeface="Anantason Expanded Bold" panose="020B0604020202020204" charset="-34"/>
                          <a:ea typeface="+mn-ea"/>
                          <a:cs typeface="Anantason Expanded Bold" panose="020B0604020202020204" charset="-34"/>
                        </a:rPr>
                        <a:t>Coût</a:t>
                      </a:r>
                      <a:r>
                        <a:rPr lang="fr-FR" sz="3600" b="1">
                          <a:solidFill>
                            <a:schemeClr val="bg1"/>
                          </a:solidFill>
                          <a:latin typeface="Anantason Expanded Bold"/>
                          <a:ea typeface="Calibri"/>
                          <a:cs typeface="Calibri"/>
                        </a:rPr>
                        <a:t> Logiciel</a:t>
                      </a:r>
                    </a:p>
                  </a:txBody>
                  <a:tcPr anchor="ctr"/>
                </a:tc>
                <a:extLst>
                  <a:ext uri="{0D108BD9-81ED-4DB2-BD59-A6C34878D82A}">
                    <a16:rowId xmlns:a16="http://schemas.microsoft.com/office/drawing/2014/main" val="2228979645"/>
                  </a:ext>
                </a:extLst>
              </a:tr>
              <a:tr h="893632">
                <a:tc>
                  <a:txBody>
                    <a:bodyPr/>
                    <a:lstStyle/>
                    <a:p>
                      <a:pPr algn="ctr"/>
                      <a:r>
                        <a:rPr lang="fr-FR" b="1">
                          <a:solidFill>
                            <a:schemeClr val="bg1"/>
                          </a:solidFill>
                        </a:rPr>
                        <a:t>1 200€</a:t>
                      </a:r>
                    </a:p>
                  </a:txBody>
                  <a:tcPr anchor="ctr">
                    <a:solidFill>
                      <a:schemeClr val="tx1">
                        <a:lumMod val="50000"/>
                        <a:lumOff val="50000"/>
                      </a:schemeClr>
                    </a:solidFill>
                  </a:tcPr>
                </a:tc>
                <a:extLst>
                  <a:ext uri="{0D108BD9-81ED-4DB2-BD59-A6C34878D82A}">
                    <a16:rowId xmlns:a16="http://schemas.microsoft.com/office/drawing/2014/main" val="735529796"/>
                  </a:ext>
                </a:extLst>
              </a:tr>
            </a:tbl>
          </a:graphicData>
        </a:graphic>
      </p:graphicFrame>
      <p:graphicFrame>
        <p:nvGraphicFramePr>
          <p:cNvPr id="6" name="Tableau 5">
            <a:extLst>
              <a:ext uri="{FF2B5EF4-FFF2-40B4-BE49-F238E27FC236}">
                <a16:creationId xmlns:a16="http://schemas.microsoft.com/office/drawing/2014/main" id="{C4FB7033-C623-F61B-E8CA-980235E4D14D}"/>
              </a:ext>
            </a:extLst>
          </p:cNvPr>
          <p:cNvGraphicFramePr>
            <a:graphicFrameLocks noGrp="1"/>
          </p:cNvGraphicFramePr>
          <p:nvPr>
            <p:extLst>
              <p:ext uri="{D42A27DB-BD31-4B8C-83A1-F6EECF244321}">
                <p14:modId xmlns:p14="http://schemas.microsoft.com/office/powerpoint/2010/main" val="1248590593"/>
              </p:ext>
            </p:extLst>
          </p:nvPr>
        </p:nvGraphicFramePr>
        <p:xfrm>
          <a:off x="13059733" y="5186961"/>
          <a:ext cx="4759894" cy="2213759"/>
        </p:xfrm>
        <a:graphic>
          <a:graphicData uri="http://schemas.openxmlformats.org/drawingml/2006/table">
            <a:tbl>
              <a:tblPr firstRow="1" bandRow="1">
                <a:tableStyleId>{073A0DAA-6AF3-43AB-8588-CEC1D06C72B9}</a:tableStyleId>
              </a:tblPr>
              <a:tblGrid>
                <a:gridCol w="4759894">
                  <a:extLst>
                    <a:ext uri="{9D8B030D-6E8A-4147-A177-3AD203B41FA5}">
                      <a16:colId xmlns:a16="http://schemas.microsoft.com/office/drawing/2014/main" val="1775986118"/>
                    </a:ext>
                  </a:extLst>
                </a:gridCol>
              </a:tblGrid>
              <a:tr h="13396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b="0" i="0" kern="1200">
                          <a:solidFill>
                            <a:schemeClr val="lt1"/>
                          </a:solidFill>
                          <a:effectLst/>
                          <a:latin typeface="Anantason Expanded Bold" panose="020B0604020202020204" charset="-34"/>
                          <a:ea typeface="+mn-ea"/>
                          <a:cs typeface="Anantason Expanded Bold" panose="020B0604020202020204" charset="-34"/>
                        </a:rPr>
                        <a:t>Coût</a:t>
                      </a:r>
                      <a:r>
                        <a:rPr lang="fr-FR" sz="3600" b="1">
                          <a:solidFill>
                            <a:schemeClr val="bg1"/>
                          </a:solidFill>
                          <a:latin typeface="Anantason Expanded Bold"/>
                          <a:ea typeface="Calibri"/>
                          <a:cs typeface="Calibri"/>
                        </a:rPr>
                        <a:t> Locaux</a:t>
                      </a:r>
                    </a:p>
                  </a:txBody>
                  <a:tcPr anchor="ctr"/>
                </a:tc>
                <a:extLst>
                  <a:ext uri="{0D108BD9-81ED-4DB2-BD59-A6C34878D82A}">
                    <a16:rowId xmlns:a16="http://schemas.microsoft.com/office/drawing/2014/main" val="349763903"/>
                  </a:ext>
                </a:extLst>
              </a:tr>
              <a:tr h="874119">
                <a:tc>
                  <a:txBody>
                    <a:bodyPr/>
                    <a:lstStyle/>
                    <a:p>
                      <a:pPr algn="ctr"/>
                      <a:r>
                        <a:rPr lang="fr-FR" sz="2000" b="1">
                          <a:solidFill>
                            <a:schemeClr val="bg1"/>
                          </a:solidFill>
                        </a:rPr>
                        <a:t>12 483€</a:t>
                      </a:r>
                    </a:p>
                  </a:txBody>
                  <a:tcPr anchor="ctr">
                    <a:solidFill>
                      <a:schemeClr val="tx1">
                        <a:lumMod val="50000"/>
                        <a:lumOff val="50000"/>
                      </a:schemeClr>
                    </a:solidFill>
                  </a:tcPr>
                </a:tc>
                <a:extLst>
                  <a:ext uri="{0D108BD9-81ED-4DB2-BD59-A6C34878D82A}">
                    <a16:rowId xmlns:a16="http://schemas.microsoft.com/office/drawing/2014/main" val="2977201367"/>
                  </a:ext>
                </a:extLst>
              </a:tr>
            </a:tbl>
          </a:graphicData>
        </a:graphic>
      </p:graphicFrame>
    </p:spTree>
    <p:extLst>
      <p:ext uri="{BB962C8B-B14F-4D97-AF65-F5344CB8AC3E}">
        <p14:creationId xmlns:p14="http://schemas.microsoft.com/office/powerpoint/2010/main" val="1105848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00F4C3CB-263E-4957-C114-B95175BAC0E9}"/>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64C86B44-759A-AD0E-FBEC-17BCAD65B4EB}"/>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531D6FDD-01E4-2BF3-1F1A-9DC4F44511FD}"/>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6FC29C4C-B3C1-DE02-8243-44382D5D647C}"/>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7" name="ZoneTexte 3">
            <a:extLst>
              <a:ext uri="{FF2B5EF4-FFF2-40B4-BE49-F238E27FC236}">
                <a16:creationId xmlns:a16="http://schemas.microsoft.com/office/drawing/2014/main" id="{08A7C823-C20D-17BA-2705-23486F3C4B25}"/>
              </a:ext>
            </a:extLst>
          </p:cNvPr>
          <p:cNvSpPr txBox="1"/>
          <p:nvPr/>
        </p:nvSpPr>
        <p:spPr>
          <a:xfrm>
            <a:off x="5196509" y="474915"/>
            <a:ext cx="789498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4000" b="1">
                <a:solidFill>
                  <a:schemeClr val="bg1"/>
                </a:solidFill>
                <a:latin typeface="Titillium Web Semi-Bold" panose="020B0604020202020204" charset="0"/>
                <a:ea typeface="Calibri"/>
                <a:cs typeface="Calibri"/>
              </a:rPr>
              <a:t>RISQUE IDENTIFIES</a:t>
            </a:r>
          </a:p>
        </p:txBody>
      </p:sp>
      <p:graphicFrame>
        <p:nvGraphicFramePr>
          <p:cNvPr id="3" name="Tableau 2">
            <a:extLst>
              <a:ext uri="{FF2B5EF4-FFF2-40B4-BE49-F238E27FC236}">
                <a16:creationId xmlns:a16="http://schemas.microsoft.com/office/drawing/2014/main" id="{585CCDF3-D87D-E26D-3117-251640D66F5E}"/>
              </a:ext>
            </a:extLst>
          </p:cNvPr>
          <p:cNvGraphicFramePr>
            <a:graphicFrameLocks noGrp="1"/>
          </p:cNvGraphicFramePr>
          <p:nvPr>
            <p:extLst>
              <p:ext uri="{D42A27DB-BD31-4B8C-83A1-F6EECF244321}">
                <p14:modId xmlns:p14="http://schemas.microsoft.com/office/powerpoint/2010/main" val="348852080"/>
              </p:ext>
            </p:extLst>
          </p:nvPr>
        </p:nvGraphicFramePr>
        <p:xfrm>
          <a:off x="666258" y="1199094"/>
          <a:ext cx="16955484" cy="7888811"/>
        </p:xfrm>
        <a:graphic>
          <a:graphicData uri="http://schemas.openxmlformats.org/drawingml/2006/table">
            <a:tbl>
              <a:tblPr firstRow="1" bandRow="1">
                <a:tableStyleId>{073A0DAA-6AF3-43AB-8588-CEC1D06C72B9}</a:tableStyleId>
              </a:tblPr>
              <a:tblGrid>
                <a:gridCol w="2422212">
                  <a:extLst>
                    <a:ext uri="{9D8B030D-6E8A-4147-A177-3AD203B41FA5}">
                      <a16:colId xmlns:a16="http://schemas.microsoft.com/office/drawing/2014/main" val="3070127392"/>
                    </a:ext>
                  </a:extLst>
                </a:gridCol>
                <a:gridCol w="2422212">
                  <a:extLst>
                    <a:ext uri="{9D8B030D-6E8A-4147-A177-3AD203B41FA5}">
                      <a16:colId xmlns:a16="http://schemas.microsoft.com/office/drawing/2014/main" val="3120061671"/>
                    </a:ext>
                  </a:extLst>
                </a:gridCol>
                <a:gridCol w="2422212">
                  <a:extLst>
                    <a:ext uri="{9D8B030D-6E8A-4147-A177-3AD203B41FA5}">
                      <a16:colId xmlns:a16="http://schemas.microsoft.com/office/drawing/2014/main" val="604532207"/>
                    </a:ext>
                  </a:extLst>
                </a:gridCol>
                <a:gridCol w="2422212">
                  <a:extLst>
                    <a:ext uri="{9D8B030D-6E8A-4147-A177-3AD203B41FA5}">
                      <a16:colId xmlns:a16="http://schemas.microsoft.com/office/drawing/2014/main" val="298522216"/>
                    </a:ext>
                  </a:extLst>
                </a:gridCol>
                <a:gridCol w="2422212">
                  <a:extLst>
                    <a:ext uri="{9D8B030D-6E8A-4147-A177-3AD203B41FA5}">
                      <a16:colId xmlns:a16="http://schemas.microsoft.com/office/drawing/2014/main" val="3074032896"/>
                    </a:ext>
                  </a:extLst>
                </a:gridCol>
                <a:gridCol w="2422212">
                  <a:extLst>
                    <a:ext uri="{9D8B030D-6E8A-4147-A177-3AD203B41FA5}">
                      <a16:colId xmlns:a16="http://schemas.microsoft.com/office/drawing/2014/main" val="1314988737"/>
                    </a:ext>
                  </a:extLst>
                </a:gridCol>
                <a:gridCol w="2422212">
                  <a:extLst>
                    <a:ext uri="{9D8B030D-6E8A-4147-A177-3AD203B41FA5}">
                      <a16:colId xmlns:a16="http://schemas.microsoft.com/office/drawing/2014/main" val="3449522329"/>
                    </a:ext>
                  </a:extLst>
                </a:gridCol>
              </a:tblGrid>
              <a:tr h="432021">
                <a:tc>
                  <a:txBody>
                    <a:bodyPr/>
                    <a:lstStyle/>
                    <a:p>
                      <a:pPr algn="ctr">
                        <a:buNone/>
                      </a:pPr>
                      <a:r>
                        <a:rPr lang="en-US" b="1">
                          <a:solidFill>
                            <a:schemeClr val="bg1"/>
                          </a:solidFill>
                        </a:rPr>
                        <a:t>ID Risque</a:t>
                      </a:r>
                    </a:p>
                  </a:txBody>
                  <a:tcPr anchor="ctr"/>
                </a:tc>
                <a:tc>
                  <a:txBody>
                    <a:bodyPr/>
                    <a:lstStyle/>
                    <a:p>
                      <a:pPr algn="ctr">
                        <a:buNone/>
                      </a:pPr>
                      <a:r>
                        <a:rPr lang="en-US" b="1">
                          <a:solidFill>
                            <a:schemeClr val="bg1"/>
                          </a:solidFill>
                        </a:rPr>
                        <a:t>Description</a:t>
                      </a:r>
                    </a:p>
                  </a:txBody>
                  <a:tcPr anchor="ctr"/>
                </a:tc>
                <a:tc>
                  <a:txBody>
                    <a:bodyPr/>
                    <a:lstStyle/>
                    <a:p>
                      <a:pPr algn="ctr">
                        <a:buNone/>
                      </a:pPr>
                      <a:r>
                        <a:rPr lang="en-US" b="1" err="1">
                          <a:solidFill>
                            <a:schemeClr val="bg1"/>
                          </a:solidFill>
                        </a:rPr>
                        <a:t>Tâches</a:t>
                      </a:r>
                      <a:r>
                        <a:rPr lang="en-US" b="1">
                          <a:solidFill>
                            <a:schemeClr val="bg1"/>
                          </a:solidFill>
                        </a:rPr>
                        <a:t> </a:t>
                      </a:r>
                      <a:r>
                        <a:rPr lang="en-US" b="1" err="1">
                          <a:solidFill>
                            <a:schemeClr val="bg1"/>
                          </a:solidFill>
                        </a:rPr>
                        <a:t>concernées</a:t>
                      </a:r>
                      <a:endParaRPr lang="en-US" b="1">
                        <a:solidFill>
                          <a:schemeClr val="bg1"/>
                        </a:solidFill>
                      </a:endParaRPr>
                    </a:p>
                  </a:txBody>
                  <a:tcPr anchor="ctr"/>
                </a:tc>
                <a:tc>
                  <a:txBody>
                    <a:bodyPr/>
                    <a:lstStyle/>
                    <a:p>
                      <a:pPr algn="ctr">
                        <a:buNone/>
                      </a:pPr>
                      <a:r>
                        <a:rPr lang="en-US" b="1" err="1">
                          <a:solidFill>
                            <a:schemeClr val="bg1"/>
                          </a:solidFill>
                        </a:rPr>
                        <a:t>Gravité</a:t>
                      </a:r>
                      <a:r>
                        <a:rPr lang="en-US" b="1">
                          <a:solidFill>
                            <a:schemeClr val="bg1"/>
                          </a:solidFill>
                        </a:rPr>
                        <a:t> (1-5)</a:t>
                      </a:r>
                    </a:p>
                  </a:txBody>
                  <a:tcPr anchor="ctr"/>
                </a:tc>
                <a:tc>
                  <a:txBody>
                    <a:bodyPr/>
                    <a:lstStyle/>
                    <a:p>
                      <a:pPr algn="ctr">
                        <a:buNone/>
                      </a:pPr>
                      <a:r>
                        <a:rPr lang="en-US" b="1" err="1">
                          <a:solidFill>
                            <a:schemeClr val="bg1"/>
                          </a:solidFill>
                        </a:rPr>
                        <a:t>Probabilité</a:t>
                      </a:r>
                      <a:r>
                        <a:rPr lang="en-US" b="1">
                          <a:solidFill>
                            <a:schemeClr val="bg1"/>
                          </a:solidFill>
                        </a:rPr>
                        <a:t> (1-5)</a:t>
                      </a:r>
                    </a:p>
                  </a:txBody>
                  <a:tcPr anchor="ctr"/>
                </a:tc>
                <a:tc>
                  <a:txBody>
                    <a:bodyPr/>
                    <a:lstStyle/>
                    <a:p>
                      <a:pPr algn="ctr">
                        <a:buNone/>
                      </a:pPr>
                      <a:r>
                        <a:rPr lang="en-US" b="1" err="1">
                          <a:solidFill>
                            <a:schemeClr val="bg1"/>
                          </a:solidFill>
                        </a:rPr>
                        <a:t>Criticité</a:t>
                      </a:r>
                      <a:endParaRPr lang="en-US" b="1">
                        <a:solidFill>
                          <a:schemeClr val="bg1"/>
                        </a:solidFill>
                      </a:endParaRPr>
                    </a:p>
                  </a:txBody>
                  <a:tcPr anchor="ctr"/>
                </a:tc>
                <a:tc>
                  <a:txBody>
                    <a:bodyPr/>
                    <a:lstStyle/>
                    <a:p>
                      <a:pPr algn="ctr">
                        <a:buNone/>
                      </a:pPr>
                      <a:r>
                        <a:rPr lang="en-US" b="1" err="1">
                          <a:solidFill>
                            <a:schemeClr val="bg1"/>
                          </a:solidFill>
                        </a:rPr>
                        <a:t>Niveaux</a:t>
                      </a:r>
                      <a:endParaRPr lang="en-US" b="1">
                        <a:solidFill>
                          <a:schemeClr val="bg1"/>
                        </a:solidFill>
                      </a:endParaRPr>
                    </a:p>
                  </a:txBody>
                  <a:tcPr anchor="ctr"/>
                </a:tc>
                <a:extLst>
                  <a:ext uri="{0D108BD9-81ED-4DB2-BD59-A6C34878D82A}">
                    <a16:rowId xmlns:a16="http://schemas.microsoft.com/office/drawing/2014/main" val="313448120"/>
                  </a:ext>
                </a:extLst>
              </a:tr>
              <a:tr h="745679">
                <a:tc>
                  <a:txBody>
                    <a:bodyPr/>
                    <a:lstStyle/>
                    <a:p>
                      <a:pPr algn="ctr">
                        <a:buNone/>
                      </a:pPr>
                      <a:r>
                        <a:rPr lang="en-US" b="0">
                          <a:solidFill>
                            <a:schemeClr val="bg1"/>
                          </a:solidFill>
                        </a:rPr>
                        <a:t>R1</a:t>
                      </a:r>
                    </a:p>
                  </a:txBody>
                  <a:tcPr anchor="ctr">
                    <a:solidFill>
                      <a:srgbClr val="044D3A"/>
                    </a:solidFill>
                  </a:tcPr>
                </a:tc>
                <a:tc>
                  <a:txBody>
                    <a:bodyPr/>
                    <a:lstStyle/>
                    <a:p>
                      <a:pPr>
                        <a:buNone/>
                      </a:pPr>
                      <a:r>
                        <a:rPr lang="en-US" err="1">
                          <a:solidFill>
                            <a:schemeClr val="bg1"/>
                          </a:solidFill>
                        </a:rPr>
                        <a:t>Mauvaise</a:t>
                      </a:r>
                      <a:r>
                        <a:rPr lang="en-US">
                          <a:solidFill>
                            <a:schemeClr val="bg1"/>
                          </a:solidFill>
                        </a:rPr>
                        <a:t> </a:t>
                      </a:r>
                      <a:r>
                        <a:rPr lang="en-US" err="1">
                          <a:solidFill>
                            <a:schemeClr val="bg1"/>
                          </a:solidFill>
                        </a:rPr>
                        <a:t>définition</a:t>
                      </a:r>
                      <a:r>
                        <a:rPr lang="en-US">
                          <a:solidFill>
                            <a:schemeClr val="bg1"/>
                          </a:solidFill>
                        </a:rPr>
                        <a:t> des </a:t>
                      </a:r>
                      <a:r>
                        <a:rPr lang="en-US" err="1">
                          <a:solidFill>
                            <a:schemeClr val="bg1"/>
                          </a:solidFill>
                        </a:rPr>
                        <a:t>besoins</a:t>
                      </a:r>
                      <a:endParaRPr lang="en-US">
                        <a:solidFill>
                          <a:schemeClr val="bg1"/>
                        </a:solidFill>
                      </a:endParaRPr>
                    </a:p>
                  </a:txBody>
                  <a:tcPr anchor="ctr">
                    <a:solidFill>
                      <a:srgbClr val="044D3A"/>
                    </a:solidFill>
                  </a:tcPr>
                </a:tc>
                <a:tc>
                  <a:txBody>
                    <a:bodyPr/>
                    <a:lstStyle/>
                    <a:p>
                      <a:pPr algn="ctr">
                        <a:buNone/>
                      </a:pPr>
                      <a:r>
                        <a:rPr lang="en-US">
                          <a:solidFill>
                            <a:schemeClr val="bg1"/>
                          </a:solidFill>
                        </a:rPr>
                        <a:t>D, F</a:t>
                      </a:r>
                    </a:p>
                  </a:txBody>
                  <a:tcPr anchor="ctr">
                    <a:solidFill>
                      <a:srgbClr val="044D3A"/>
                    </a:solidFill>
                  </a:tcPr>
                </a:tc>
                <a:tc>
                  <a:txBody>
                    <a:bodyPr/>
                    <a:lstStyle/>
                    <a:p>
                      <a:pPr algn="ctr">
                        <a:buNone/>
                      </a:pPr>
                      <a:r>
                        <a:rPr lang="en-US">
                          <a:solidFill>
                            <a:schemeClr val="bg1"/>
                          </a:solidFill>
                        </a:rPr>
                        <a:t>5</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20</a:t>
                      </a:r>
                    </a:p>
                  </a:txBody>
                  <a:tcPr anchor="ctr">
                    <a:solidFill>
                      <a:srgbClr val="044D3A"/>
                    </a:solidFill>
                  </a:tcPr>
                </a:tc>
                <a:tc>
                  <a:txBody>
                    <a:bodyPr/>
                    <a:lstStyle/>
                    <a:p>
                      <a:pPr algn="ctr">
                        <a:buNone/>
                      </a:pPr>
                      <a:r>
                        <a:rPr lang="en-US" b="1">
                          <a:solidFill>
                            <a:srgbClr val="FF0000"/>
                          </a:solidFill>
                        </a:rPr>
                        <a:t>Critique</a:t>
                      </a:r>
                    </a:p>
                  </a:txBody>
                  <a:tcPr anchor="ctr">
                    <a:solidFill>
                      <a:srgbClr val="044D3A"/>
                    </a:solidFill>
                  </a:tcPr>
                </a:tc>
                <a:extLst>
                  <a:ext uri="{0D108BD9-81ED-4DB2-BD59-A6C34878D82A}">
                    <a16:rowId xmlns:a16="http://schemas.microsoft.com/office/drawing/2014/main" val="723427250"/>
                  </a:ext>
                </a:extLst>
              </a:tr>
              <a:tr h="745679">
                <a:tc>
                  <a:txBody>
                    <a:bodyPr/>
                    <a:lstStyle/>
                    <a:p>
                      <a:pPr algn="ctr">
                        <a:buNone/>
                      </a:pPr>
                      <a:r>
                        <a:rPr lang="en-US" b="0">
                          <a:solidFill>
                            <a:schemeClr val="bg1"/>
                          </a:solidFill>
                        </a:rPr>
                        <a:t>R2</a:t>
                      </a:r>
                    </a:p>
                  </a:txBody>
                  <a:tcPr anchor="ctr">
                    <a:solidFill>
                      <a:srgbClr val="044D3A"/>
                    </a:solidFill>
                  </a:tcPr>
                </a:tc>
                <a:tc>
                  <a:txBody>
                    <a:bodyPr/>
                    <a:lstStyle/>
                    <a:p>
                      <a:pPr>
                        <a:buNone/>
                      </a:pPr>
                      <a:r>
                        <a:rPr lang="en-US">
                          <a:solidFill>
                            <a:schemeClr val="bg1"/>
                          </a:solidFill>
                        </a:rPr>
                        <a:t>Retard dans la validation client</a:t>
                      </a:r>
                    </a:p>
                  </a:txBody>
                  <a:tcPr anchor="ctr">
                    <a:solidFill>
                      <a:srgbClr val="044D3A"/>
                    </a:solidFill>
                  </a:tcPr>
                </a:tc>
                <a:tc>
                  <a:txBody>
                    <a:bodyPr/>
                    <a:lstStyle/>
                    <a:p>
                      <a:pPr algn="ctr">
                        <a:buNone/>
                      </a:pPr>
                      <a:r>
                        <a:rPr lang="en-US">
                          <a:solidFill>
                            <a:schemeClr val="bg1"/>
                          </a:solidFill>
                        </a:rPr>
                        <a:t>L, AB</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16</a:t>
                      </a:r>
                    </a:p>
                  </a:txBody>
                  <a:tcPr anchor="ctr">
                    <a:solidFill>
                      <a:srgbClr val="044D3A"/>
                    </a:solidFill>
                  </a:tcPr>
                </a:tc>
                <a:tc>
                  <a:txBody>
                    <a:bodyPr/>
                    <a:lstStyle/>
                    <a:p>
                      <a:pPr algn="ctr">
                        <a:buNone/>
                      </a:pPr>
                      <a:r>
                        <a:rPr lang="en-US" b="1">
                          <a:solidFill>
                            <a:srgbClr val="FF0000"/>
                          </a:solidFill>
                        </a:rPr>
                        <a:t>Critique</a:t>
                      </a:r>
                    </a:p>
                  </a:txBody>
                  <a:tcPr anchor="ctr">
                    <a:solidFill>
                      <a:srgbClr val="044D3A"/>
                    </a:solidFill>
                  </a:tcPr>
                </a:tc>
                <a:extLst>
                  <a:ext uri="{0D108BD9-81ED-4DB2-BD59-A6C34878D82A}">
                    <a16:rowId xmlns:a16="http://schemas.microsoft.com/office/drawing/2014/main" val="772834149"/>
                  </a:ext>
                </a:extLst>
              </a:tr>
              <a:tr h="745679">
                <a:tc>
                  <a:txBody>
                    <a:bodyPr/>
                    <a:lstStyle/>
                    <a:p>
                      <a:pPr algn="ctr">
                        <a:buNone/>
                      </a:pPr>
                      <a:r>
                        <a:rPr lang="en-US" b="0">
                          <a:solidFill>
                            <a:schemeClr val="bg1"/>
                          </a:solidFill>
                        </a:rPr>
                        <a:t>R3</a:t>
                      </a:r>
                    </a:p>
                  </a:txBody>
                  <a:tcPr anchor="ctr">
                    <a:solidFill>
                      <a:srgbClr val="044D3A"/>
                    </a:solidFill>
                  </a:tcPr>
                </a:tc>
                <a:tc>
                  <a:txBody>
                    <a:bodyPr/>
                    <a:lstStyle/>
                    <a:p>
                      <a:pPr>
                        <a:buNone/>
                      </a:pPr>
                      <a:r>
                        <a:rPr lang="en-US">
                          <a:solidFill>
                            <a:schemeClr val="bg1"/>
                          </a:solidFill>
                        </a:rPr>
                        <a:t>Sous-estimation de la charge</a:t>
                      </a:r>
                    </a:p>
                  </a:txBody>
                  <a:tcPr anchor="ctr">
                    <a:solidFill>
                      <a:srgbClr val="044D3A"/>
                    </a:solidFill>
                  </a:tcPr>
                </a:tc>
                <a:tc>
                  <a:txBody>
                    <a:bodyPr/>
                    <a:lstStyle/>
                    <a:p>
                      <a:pPr algn="ctr">
                        <a:buNone/>
                      </a:pPr>
                      <a:r>
                        <a:rPr lang="en-US">
                          <a:solidFill>
                            <a:schemeClr val="bg1"/>
                          </a:solidFill>
                        </a:rPr>
                        <a:t>M, O</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12</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3857173307"/>
                  </a:ext>
                </a:extLst>
              </a:tr>
              <a:tr h="745679">
                <a:tc>
                  <a:txBody>
                    <a:bodyPr/>
                    <a:lstStyle/>
                    <a:p>
                      <a:pPr algn="ctr">
                        <a:buNone/>
                      </a:pPr>
                      <a:r>
                        <a:rPr lang="en-US" b="0">
                          <a:solidFill>
                            <a:schemeClr val="bg1"/>
                          </a:solidFill>
                        </a:rPr>
                        <a:t>R4</a:t>
                      </a:r>
                    </a:p>
                  </a:txBody>
                  <a:tcPr anchor="ctr">
                    <a:solidFill>
                      <a:srgbClr val="044D3A"/>
                    </a:solidFill>
                  </a:tcPr>
                </a:tc>
                <a:tc>
                  <a:txBody>
                    <a:bodyPr/>
                    <a:lstStyle/>
                    <a:p>
                      <a:pPr>
                        <a:buNone/>
                      </a:pPr>
                      <a:r>
                        <a:rPr lang="en-US">
                          <a:solidFill>
                            <a:schemeClr val="bg1"/>
                          </a:solidFill>
                        </a:rPr>
                        <a:t>Choix technique </a:t>
                      </a:r>
                      <a:r>
                        <a:rPr lang="en-US" err="1">
                          <a:solidFill>
                            <a:schemeClr val="bg1"/>
                          </a:solidFill>
                        </a:rPr>
                        <a:t>inadapté</a:t>
                      </a:r>
                    </a:p>
                  </a:txBody>
                  <a:tcPr anchor="ctr">
                    <a:solidFill>
                      <a:srgbClr val="044D3A"/>
                    </a:solidFill>
                  </a:tcPr>
                </a:tc>
                <a:tc>
                  <a:txBody>
                    <a:bodyPr/>
                    <a:lstStyle/>
                    <a:p>
                      <a:pPr algn="ctr">
                        <a:buNone/>
                      </a:pPr>
                      <a:r>
                        <a:rPr lang="en-US">
                          <a:solidFill>
                            <a:schemeClr val="bg1"/>
                          </a:solidFill>
                        </a:rPr>
                        <a:t>H, I, J</a:t>
                      </a:r>
                    </a:p>
                  </a:txBody>
                  <a:tcPr anchor="ctr">
                    <a:solidFill>
                      <a:srgbClr val="044D3A"/>
                    </a:solidFill>
                  </a:tcPr>
                </a:tc>
                <a:tc>
                  <a:txBody>
                    <a:bodyPr/>
                    <a:lstStyle/>
                    <a:p>
                      <a:pPr algn="ctr">
                        <a:buNone/>
                      </a:pPr>
                      <a:r>
                        <a:rPr lang="en-US">
                          <a:solidFill>
                            <a:schemeClr val="bg1"/>
                          </a:solidFill>
                        </a:rPr>
                        <a:t>5</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15</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2389997322"/>
                  </a:ext>
                </a:extLst>
              </a:tr>
              <a:tr h="745679">
                <a:tc>
                  <a:txBody>
                    <a:bodyPr/>
                    <a:lstStyle/>
                    <a:p>
                      <a:pPr algn="ctr">
                        <a:buNone/>
                      </a:pPr>
                      <a:r>
                        <a:rPr lang="en-US" b="0">
                          <a:solidFill>
                            <a:schemeClr val="bg1"/>
                          </a:solidFill>
                        </a:rPr>
                        <a:t>R5</a:t>
                      </a:r>
                    </a:p>
                  </a:txBody>
                  <a:tcPr anchor="ctr">
                    <a:solidFill>
                      <a:srgbClr val="044D3A"/>
                    </a:solidFill>
                  </a:tcPr>
                </a:tc>
                <a:tc>
                  <a:txBody>
                    <a:bodyPr/>
                    <a:lstStyle/>
                    <a:p>
                      <a:pPr>
                        <a:buNone/>
                      </a:pPr>
                      <a:r>
                        <a:rPr lang="en-US" err="1">
                          <a:solidFill>
                            <a:schemeClr val="bg1"/>
                          </a:solidFill>
                        </a:rPr>
                        <a:t>Ressources</a:t>
                      </a:r>
                      <a:r>
                        <a:rPr lang="en-US">
                          <a:solidFill>
                            <a:schemeClr val="bg1"/>
                          </a:solidFill>
                        </a:rPr>
                        <a:t> </a:t>
                      </a:r>
                      <a:r>
                        <a:rPr lang="en-US" err="1">
                          <a:solidFill>
                            <a:schemeClr val="bg1"/>
                          </a:solidFill>
                        </a:rPr>
                        <a:t>indisponibles</a:t>
                      </a:r>
                      <a:endParaRPr lang="en-US">
                        <a:solidFill>
                          <a:schemeClr val="bg1"/>
                        </a:solidFill>
                      </a:endParaRPr>
                    </a:p>
                  </a:txBody>
                  <a:tcPr anchor="ctr">
                    <a:solidFill>
                      <a:srgbClr val="044D3A"/>
                    </a:solidFill>
                  </a:tcPr>
                </a:tc>
                <a:tc>
                  <a:txBody>
                    <a:bodyPr/>
                    <a:lstStyle/>
                    <a:p>
                      <a:pPr algn="ctr">
                        <a:buNone/>
                      </a:pPr>
                      <a:r>
                        <a:rPr lang="en-US">
                          <a:solidFill>
                            <a:schemeClr val="bg1"/>
                          </a:solidFill>
                        </a:rPr>
                        <a:t>P, T</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12</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1752381353"/>
                  </a:ext>
                </a:extLst>
              </a:tr>
              <a:tr h="745679">
                <a:tc>
                  <a:txBody>
                    <a:bodyPr/>
                    <a:lstStyle/>
                    <a:p>
                      <a:pPr algn="ctr">
                        <a:buNone/>
                      </a:pPr>
                      <a:r>
                        <a:rPr lang="en-US" b="0">
                          <a:solidFill>
                            <a:schemeClr val="bg1"/>
                          </a:solidFill>
                        </a:rPr>
                        <a:t>R6</a:t>
                      </a:r>
                    </a:p>
                  </a:txBody>
                  <a:tcPr anchor="ctr">
                    <a:solidFill>
                      <a:srgbClr val="044D3A"/>
                    </a:solidFill>
                  </a:tcPr>
                </a:tc>
                <a:tc>
                  <a:txBody>
                    <a:bodyPr/>
                    <a:lstStyle/>
                    <a:p>
                      <a:pPr>
                        <a:buNone/>
                      </a:pPr>
                      <a:r>
                        <a:rPr lang="en-US" err="1">
                          <a:solidFill>
                            <a:schemeClr val="bg1"/>
                          </a:solidFill>
                        </a:rPr>
                        <a:t>Mauvaise</a:t>
                      </a:r>
                      <a:r>
                        <a:rPr lang="en-US">
                          <a:solidFill>
                            <a:schemeClr val="bg1"/>
                          </a:solidFill>
                        </a:rPr>
                        <a:t> communication </a:t>
                      </a:r>
                      <a:r>
                        <a:rPr lang="en-US" err="1">
                          <a:solidFill>
                            <a:schemeClr val="bg1"/>
                          </a:solidFill>
                        </a:rPr>
                        <a:t>projet</a:t>
                      </a:r>
                    </a:p>
                  </a:txBody>
                  <a:tcPr anchor="ctr">
                    <a:solidFill>
                      <a:srgbClr val="044D3A"/>
                    </a:solidFill>
                  </a:tcPr>
                </a:tc>
                <a:tc>
                  <a:txBody>
                    <a:bodyPr/>
                    <a:lstStyle/>
                    <a:p>
                      <a:pPr algn="ctr">
                        <a:buNone/>
                      </a:pPr>
                      <a:r>
                        <a:rPr lang="en-US">
                          <a:solidFill>
                            <a:schemeClr val="bg1"/>
                          </a:solidFill>
                        </a:rPr>
                        <a:t>W, Y</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12</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2686001268"/>
                  </a:ext>
                </a:extLst>
              </a:tr>
              <a:tr h="745679">
                <a:tc>
                  <a:txBody>
                    <a:bodyPr/>
                    <a:lstStyle/>
                    <a:p>
                      <a:pPr algn="ctr">
                        <a:buNone/>
                      </a:pPr>
                      <a:r>
                        <a:rPr lang="en-US" b="0">
                          <a:solidFill>
                            <a:schemeClr val="bg1"/>
                          </a:solidFill>
                        </a:rPr>
                        <a:t>R7</a:t>
                      </a:r>
                    </a:p>
                  </a:txBody>
                  <a:tcPr anchor="ctr">
                    <a:solidFill>
                      <a:srgbClr val="044D3A"/>
                    </a:solidFill>
                  </a:tcPr>
                </a:tc>
                <a:tc>
                  <a:txBody>
                    <a:bodyPr/>
                    <a:lstStyle/>
                    <a:p>
                      <a:pPr>
                        <a:buNone/>
                      </a:pPr>
                      <a:r>
                        <a:rPr lang="en-US" err="1">
                          <a:solidFill>
                            <a:schemeClr val="bg1"/>
                          </a:solidFill>
                        </a:rPr>
                        <a:t>Mauvaise</a:t>
                      </a:r>
                      <a:r>
                        <a:rPr lang="en-US">
                          <a:solidFill>
                            <a:schemeClr val="bg1"/>
                          </a:solidFill>
                        </a:rPr>
                        <a:t> gestion des </a:t>
                      </a:r>
                      <a:r>
                        <a:rPr lang="en-US" err="1">
                          <a:solidFill>
                            <a:schemeClr val="bg1"/>
                          </a:solidFill>
                        </a:rPr>
                        <a:t>risques</a:t>
                      </a:r>
                      <a:r>
                        <a:rPr lang="en-US">
                          <a:solidFill>
                            <a:schemeClr val="bg1"/>
                          </a:solidFill>
                        </a:rPr>
                        <a:t> </a:t>
                      </a:r>
                      <a:r>
                        <a:rPr lang="en-US" err="1">
                          <a:solidFill>
                            <a:schemeClr val="bg1"/>
                          </a:solidFill>
                        </a:rPr>
                        <a:t>initiaux</a:t>
                      </a:r>
                    </a:p>
                  </a:txBody>
                  <a:tcPr anchor="ctr">
                    <a:solidFill>
                      <a:srgbClr val="044D3A"/>
                    </a:solidFill>
                  </a:tcPr>
                </a:tc>
                <a:tc>
                  <a:txBody>
                    <a:bodyPr/>
                    <a:lstStyle/>
                    <a:p>
                      <a:pPr algn="ctr">
                        <a:buNone/>
                      </a:pPr>
                      <a:r>
                        <a:rPr lang="en-US">
                          <a:solidFill>
                            <a:schemeClr val="bg1"/>
                          </a:solidFill>
                        </a:rPr>
                        <a:t>C</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2</a:t>
                      </a:r>
                    </a:p>
                  </a:txBody>
                  <a:tcPr anchor="ctr">
                    <a:solidFill>
                      <a:srgbClr val="044D3A"/>
                    </a:solidFill>
                  </a:tcPr>
                </a:tc>
                <a:tc>
                  <a:txBody>
                    <a:bodyPr/>
                    <a:lstStyle/>
                    <a:p>
                      <a:pPr algn="ctr">
                        <a:buNone/>
                      </a:pPr>
                      <a:r>
                        <a:rPr lang="en-US">
                          <a:solidFill>
                            <a:schemeClr val="bg1"/>
                          </a:solidFill>
                        </a:rPr>
                        <a:t>8</a:t>
                      </a:r>
                    </a:p>
                  </a:txBody>
                  <a:tcPr anchor="ctr">
                    <a:solidFill>
                      <a:srgbClr val="044D3A"/>
                    </a:solidFill>
                  </a:tcPr>
                </a:tc>
                <a:tc>
                  <a:txBody>
                    <a:bodyPr/>
                    <a:lstStyle/>
                    <a:p>
                      <a:pPr algn="ctr">
                        <a:buNone/>
                      </a:pPr>
                      <a:r>
                        <a:rPr lang="en-US" b="1" err="1">
                          <a:solidFill>
                            <a:srgbClr val="FFFF00"/>
                          </a:solidFill>
                        </a:rPr>
                        <a:t>Modéré</a:t>
                      </a:r>
                      <a:endParaRPr lang="en-US" b="1">
                        <a:solidFill>
                          <a:srgbClr val="FFFF00"/>
                        </a:solidFill>
                      </a:endParaRPr>
                    </a:p>
                  </a:txBody>
                  <a:tcPr anchor="ctr">
                    <a:solidFill>
                      <a:srgbClr val="044D3A"/>
                    </a:solidFill>
                  </a:tcPr>
                </a:tc>
                <a:extLst>
                  <a:ext uri="{0D108BD9-81ED-4DB2-BD59-A6C34878D82A}">
                    <a16:rowId xmlns:a16="http://schemas.microsoft.com/office/drawing/2014/main" val="673188884"/>
                  </a:ext>
                </a:extLst>
              </a:tr>
              <a:tr h="745679">
                <a:tc>
                  <a:txBody>
                    <a:bodyPr/>
                    <a:lstStyle/>
                    <a:p>
                      <a:pPr algn="ctr">
                        <a:buNone/>
                      </a:pPr>
                      <a:r>
                        <a:rPr lang="en-US" b="0">
                          <a:solidFill>
                            <a:schemeClr val="bg1"/>
                          </a:solidFill>
                        </a:rPr>
                        <a:t>R8</a:t>
                      </a:r>
                    </a:p>
                  </a:txBody>
                  <a:tcPr anchor="ctr">
                    <a:solidFill>
                      <a:srgbClr val="044D3A"/>
                    </a:solidFill>
                  </a:tcPr>
                </a:tc>
                <a:tc>
                  <a:txBody>
                    <a:bodyPr/>
                    <a:lstStyle/>
                    <a:p>
                      <a:pPr>
                        <a:buNone/>
                      </a:pPr>
                      <a:r>
                        <a:rPr lang="en-US" err="1">
                          <a:solidFill>
                            <a:schemeClr val="bg1"/>
                          </a:solidFill>
                        </a:rPr>
                        <a:t>Problèmes</a:t>
                      </a:r>
                      <a:r>
                        <a:rPr lang="en-US">
                          <a:solidFill>
                            <a:schemeClr val="bg1"/>
                          </a:solidFill>
                        </a:rPr>
                        <a:t> </a:t>
                      </a:r>
                      <a:r>
                        <a:rPr lang="en-US" err="1">
                          <a:solidFill>
                            <a:schemeClr val="bg1"/>
                          </a:solidFill>
                        </a:rPr>
                        <a:t>lors</a:t>
                      </a:r>
                      <a:r>
                        <a:rPr lang="en-US">
                          <a:solidFill>
                            <a:schemeClr val="bg1"/>
                          </a:solidFill>
                        </a:rPr>
                        <a:t> de la </a:t>
                      </a:r>
                      <a:r>
                        <a:rPr lang="en-US" err="1">
                          <a:solidFill>
                            <a:schemeClr val="bg1"/>
                          </a:solidFill>
                        </a:rPr>
                        <a:t>recette</a:t>
                      </a:r>
                    </a:p>
                  </a:txBody>
                  <a:tcPr anchor="ctr">
                    <a:solidFill>
                      <a:srgbClr val="044D3A"/>
                    </a:solidFill>
                  </a:tcPr>
                </a:tc>
                <a:tc>
                  <a:txBody>
                    <a:bodyPr/>
                    <a:lstStyle/>
                    <a:p>
                      <a:pPr algn="ctr">
                        <a:buNone/>
                      </a:pPr>
                      <a:r>
                        <a:rPr lang="en-US">
                          <a:solidFill>
                            <a:schemeClr val="bg1"/>
                          </a:solidFill>
                        </a:rPr>
                        <a:t>AB</a:t>
                      </a:r>
                    </a:p>
                  </a:txBody>
                  <a:tcPr anchor="ctr">
                    <a:solidFill>
                      <a:srgbClr val="044D3A"/>
                    </a:solidFill>
                  </a:tcPr>
                </a:tc>
                <a:tc>
                  <a:txBody>
                    <a:bodyPr/>
                    <a:lstStyle/>
                    <a:p>
                      <a:pPr algn="ctr">
                        <a:buNone/>
                      </a:pPr>
                      <a:r>
                        <a:rPr lang="en-US">
                          <a:solidFill>
                            <a:schemeClr val="bg1"/>
                          </a:solidFill>
                        </a:rPr>
                        <a:t>4</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12</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2567819820"/>
                  </a:ext>
                </a:extLst>
              </a:tr>
              <a:tr h="745679">
                <a:tc>
                  <a:txBody>
                    <a:bodyPr/>
                    <a:lstStyle/>
                    <a:p>
                      <a:pPr algn="ctr">
                        <a:buNone/>
                      </a:pPr>
                      <a:r>
                        <a:rPr lang="en-US" b="0">
                          <a:solidFill>
                            <a:schemeClr val="bg1"/>
                          </a:solidFill>
                        </a:rPr>
                        <a:t>R9</a:t>
                      </a:r>
                    </a:p>
                  </a:txBody>
                  <a:tcPr anchor="ctr">
                    <a:solidFill>
                      <a:srgbClr val="044D3A"/>
                    </a:solidFill>
                  </a:tcPr>
                </a:tc>
                <a:tc>
                  <a:txBody>
                    <a:bodyPr/>
                    <a:lstStyle/>
                    <a:p>
                      <a:pPr>
                        <a:buNone/>
                      </a:pPr>
                      <a:r>
                        <a:rPr lang="en-US">
                          <a:solidFill>
                            <a:schemeClr val="bg1"/>
                          </a:solidFill>
                        </a:rPr>
                        <a:t>Non-</a:t>
                      </a:r>
                      <a:r>
                        <a:rPr lang="en-US" err="1">
                          <a:solidFill>
                            <a:schemeClr val="bg1"/>
                          </a:solidFill>
                        </a:rPr>
                        <a:t>adhésion</a:t>
                      </a:r>
                      <a:r>
                        <a:rPr lang="en-US">
                          <a:solidFill>
                            <a:schemeClr val="bg1"/>
                          </a:solidFill>
                        </a:rPr>
                        <a:t> des équipes</a:t>
                      </a:r>
                    </a:p>
                  </a:txBody>
                  <a:tcPr anchor="ctr">
                    <a:solidFill>
                      <a:srgbClr val="044D3A"/>
                    </a:solidFill>
                  </a:tcPr>
                </a:tc>
                <a:tc>
                  <a:txBody>
                    <a:bodyPr/>
                    <a:lstStyle/>
                    <a:p>
                      <a:pPr algn="ctr">
                        <a:buNone/>
                      </a:pPr>
                      <a:r>
                        <a:rPr lang="en-US">
                          <a:solidFill>
                            <a:schemeClr val="bg1"/>
                          </a:solidFill>
                        </a:rPr>
                        <a:t>U, V</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9</a:t>
                      </a:r>
                    </a:p>
                  </a:txBody>
                  <a:tcPr anchor="ctr">
                    <a:solidFill>
                      <a:srgbClr val="044D3A"/>
                    </a:solidFill>
                  </a:tcPr>
                </a:tc>
                <a:tc>
                  <a:txBody>
                    <a:bodyPr/>
                    <a:lstStyle/>
                    <a:p>
                      <a:pPr algn="ctr">
                        <a:buNone/>
                      </a:pPr>
                      <a:r>
                        <a:rPr lang="en-US" b="1" err="1">
                          <a:solidFill>
                            <a:srgbClr val="FFFF00"/>
                          </a:solidFill>
                        </a:rPr>
                        <a:t>Modéré</a:t>
                      </a:r>
                      <a:endParaRPr lang="en-US" b="1">
                        <a:solidFill>
                          <a:srgbClr val="FFFF00"/>
                        </a:solidFill>
                      </a:endParaRPr>
                    </a:p>
                  </a:txBody>
                  <a:tcPr anchor="ctr">
                    <a:solidFill>
                      <a:srgbClr val="044D3A"/>
                    </a:solidFill>
                  </a:tcPr>
                </a:tc>
                <a:extLst>
                  <a:ext uri="{0D108BD9-81ED-4DB2-BD59-A6C34878D82A}">
                    <a16:rowId xmlns:a16="http://schemas.microsoft.com/office/drawing/2014/main" val="3082737201"/>
                  </a:ext>
                </a:extLst>
              </a:tr>
              <a:tr h="745679">
                <a:tc>
                  <a:txBody>
                    <a:bodyPr/>
                    <a:lstStyle/>
                    <a:p>
                      <a:pPr algn="ctr">
                        <a:buNone/>
                      </a:pPr>
                      <a:r>
                        <a:rPr lang="en-US" b="0">
                          <a:solidFill>
                            <a:schemeClr val="bg1"/>
                          </a:solidFill>
                        </a:rPr>
                        <a:t>R10</a:t>
                      </a:r>
                    </a:p>
                  </a:txBody>
                  <a:tcPr anchor="ctr">
                    <a:solidFill>
                      <a:srgbClr val="044D3A"/>
                    </a:solidFill>
                  </a:tcPr>
                </a:tc>
                <a:tc>
                  <a:txBody>
                    <a:bodyPr/>
                    <a:lstStyle/>
                    <a:p>
                      <a:pPr>
                        <a:buNone/>
                      </a:pPr>
                      <a:r>
                        <a:rPr lang="en-US">
                          <a:solidFill>
                            <a:schemeClr val="bg1"/>
                          </a:solidFill>
                        </a:rPr>
                        <a:t>Retards </a:t>
                      </a:r>
                      <a:r>
                        <a:rPr lang="en-US" err="1">
                          <a:solidFill>
                            <a:schemeClr val="bg1"/>
                          </a:solidFill>
                        </a:rPr>
                        <a:t>cumulés</a:t>
                      </a:r>
                      <a:r>
                        <a:rPr lang="en-US">
                          <a:solidFill>
                            <a:schemeClr val="bg1"/>
                          </a:solidFill>
                        </a:rPr>
                        <a:t> sur chemin critique</a:t>
                      </a:r>
                    </a:p>
                  </a:txBody>
                  <a:tcPr anchor="ctr">
                    <a:solidFill>
                      <a:srgbClr val="044D3A"/>
                    </a:solidFill>
                  </a:tcPr>
                </a:tc>
                <a:tc>
                  <a:txBody>
                    <a:bodyPr/>
                    <a:lstStyle/>
                    <a:p>
                      <a:pPr algn="ctr">
                        <a:buNone/>
                      </a:pPr>
                      <a:r>
                        <a:rPr lang="en-US">
                          <a:solidFill>
                            <a:schemeClr val="bg1"/>
                          </a:solidFill>
                        </a:rPr>
                        <a:t>N</a:t>
                      </a:r>
                    </a:p>
                  </a:txBody>
                  <a:tcPr anchor="ctr">
                    <a:solidFill>
                      <a:srgbClr val="044D3A"/>
                    </a:solidFill>
                  </a:tcPr>
                </a:tc>
                <a:tc>
                  <a:txBody>
                    <a:bodyPr/>
                    <a:lstStyle/>
                    <a:p>
                      <a:pPr algn="ctr">
                        <a:buNone/>
                      </a:pPr>
                      <a:r>
                        <a:rPr lang="en-US">
                          <a:solidFill>
                            <a:schemeClr val="bg1"/>
                          </a:solidFill>
                        </a:rPr>
                        <a:t>5</a:t>
                      </a:r>
                    </a:p>
                  </a:txBody>
                  <a:tcPr anchor="ctr">
                    <a:solidFill>
                      <a:srgbClr val="044D3A"/>
                    </a:solidFill>
                  </a:tcPr>
                </a:tc>
                <a:tc>
                  <a:txBody>
                    <a:bodyPr/>
                    <a:lstStyle/>
                    <a:p>
                      <a:pPr algn="ctr">
                        <a:buNone/>
                      </a:pPr>
                      <a:r>
                        <a:rPr lang="en-US">
                          <a:solidFill>
                            <a:schemeClr val="bg1"/>
                          </a:solidFill>
                        </a:rPr>
                        <a:t>3</a:t>
                      </a:r>
                    </a:p>
                  </a:txBody>
                  <a:tcPr anchor="ctr">
                    <a:solidFill>
                      <a:srgbClr val="044D3A"/>
                    </a:solidFill>
                  </a:tcPr>
                </a:tc>
                <a:tc>
                  <a:txBody>
                    <a:bodyPr/>
                    <a:lstStyle/>
                    <a:p>
                      <a:pPr algn="ctr">
                        <a:buNone/>
                      </a:pPr>
                      <a:r>
                        <a:rPr lang="en-US">
                          <a:solidFill>
                            <a:schemeClr val="bg1"/>
                          </a:solidFill>
                        </a:rPr>
                        <a:t>15</a:t>
                      </a:r>
                    </a:p>
                  </a:txBody>
                  <a:tcPr anchor="ctr">
                    <a:solidFill>
                      <a:srgbClr val="044D3A"/>
                    </a:solidFill>
                  </a:tcPr>
                </a:tc>
                <a:tc>
                  <a:txBody>
                    <a:bodyPr/>
                    <a:lstStyle/>
                    <a:p>
                      <a:pPr algn="ctr">
                        <a:buNone/>
                      </a:pPr>
                      <a:r>
                        <a:rPr lang="en-US" b="1" err="1">
                          <a:solidFill>
                            <a:srgbClr val="FFC000"/>
                          </a:solidFill>
                        </a:rPr>
                        <a:t>Élevé</a:t>
                      </a:r>
                      <a:endParaRPr lang="en-US" b="1">
                        <a:solidFill>
                          <a:srgbClr val="FFC000"/>
                        </a:solidFill>
                      </a:endParaRPr>
                    </a:p>
                  </a:txBody>
                  <a:tcPr anchor="ctr">
                    <a:solidFill>
                      <a:srgbClr val="044D3A"/>
                    </a:solidFill>
                  </a:tcPr>
                </a:tc>
                <a:extLst>
                  <a:ext uri="{0D108BD9-81ED-4DB2-BD59-A6C34878D82A}">
                    <a16:rowId xmlns:a16="http://schemas.microsoft.com/office/drawing/2014/main" val="3007557546"/>
                  </a:ext>
                </a:extLst>
              </a:tr>
            </a:tbl>
          </a:graphicData>
        </a:graphic>
      </p:graphicFrame>
    </p:spTree>
    <p:extLst>
      <p:ext uri="{BB962C8B-B14F-4D97-AF65-F5344CB8AC3E}">
        <p14:creationId xmlns:p14="http://schemas.microsoft.com/office/powerpoint/2010/main" val="4078968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D209ACEF-1E03-9CF7-9D98-AD80600E79BB}"/>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F1208A0B-D715-6034-1337-9D829426A4C8}"/>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E37D6B41-85C4-6799-0F35-6AC1F66DACA0}"/>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60FA0CBE-B52B-6366-E6D1-E319C3415F2A}"/>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7" name="ZoneTexte 3">
            <a:extLst>
              <a:ext uri="{FF2B5EF4-FFF2-40B4-BE49-F238E27FC236}">
                <a16:creationId xmlns:a16="http://schemas.microsoft.com/office/drawing/2014/main" id="{63CE8818-E9B0-0330-C553-A3B60DFA02B2}"/>
              </a:ext>
            </a:extLst>
          </p:cNvPr>
          <p:cNvSpPr txBox="1"/>
          <p:nvPr/>
        </p:nvSpPr>
        <p:spPr>
          <a:xfrm>
            <a:off x="6409443" y="992296"/>
            <a:ext cx="546911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fr-FR" sz="4000" b="1">
                <a:solidFill>
                  <a:schemeClr val="bg1"/>
                </a:solidFill>
                <a:latin typeface="Titillium Web Semi-Bold" panose="020B0604020202020204" charset="0"/>
                <a:ea typeface="Calibri"/>
                <a:cs typeface="Calibri"/>
              </a:rPr>
              <a:t>MATRICE DES RISQUES</a:t>
            </a:r>
          </a:p>
        </p:txBody>
      </p:sp>
      <p:graphicFrame>
        <p:nvGraphicFramePr>
          <p:cNvPr id="2" name="Tableau 1">
            <a:extLst>
              <a:ext uri="{FF2B5EF4-FFF2-40B4-BE49-F238E27FC236}">
                <a16:creationId xmlns:a16="http://schemas.microsoft.com/office/drawing/2014/main" id="{F50FC35B-3441-E837-D13C-3DE6AA12404C}"/>
              </a:ext>
            </a:extLst>
          </p:cNvPr>
          <p:cNvGraphicFramePr>
            <a:graphicFrameLocks noGrp="1"/>
          </p:cNvGraphicFramePr>
          <p:nvPr>
            <p:extLst>
              <p:ext uri="{D42A27DB-BD31-4B8C-83A1-F6EECF244321}">
                <p14:modId xmlns:p14="http://schemas.microsoft.com/office/powerpoint/2010/main" val="633480060"/>
              </p:ext>
            </p:extLst>
          </p:nvPr>
        </p:nvGraphicFramePr>
        <p:xfrm>
          <a:off x="2917722" y="2534470"/>
          <a:ext cx="13219470" cy="5218060"/>
        </p:xfrm>
        <a:graphic>
          <a:graphicData uri="http://schemas.openxmlformats.org/drawingml/2006/table">
            <a:tbl>
              <a:tblPr firstRow="1" bandRow="1">
                <a:tableStyleId>{2D5ABB26-0587-4C30-8999-92F81FD0307C}</a:tableStyleId>
              </a:tblPr>
              <a:tblGrid>
                <a:gridCol w="2643894">
                  <a:extLst>
                    <a:ext uri="{9D8B030D-6E8A-4147-A177-3AD203B41FA5}">
                      <a16:colId xmlns:a16="http://schemas.microsoft.com/office/drawing/2014/main" val="2096173302"/>
                    </a:ext>
                  </a:extLst>
                </a:gridCol>
                <a:gridCol w="2643894">
                  <a:extLst>
                    <a:ext uri="{9D8B030D-6E8A-4147-A177-3AD203B41FA5}">
                      <a16:colId xmlns:a16="http://schemas.microsoft.com/office/drawing/2014/main" val="2653754688"/>
                    </a:ext>
                  </a:extLst>
                </a:gridCol>
                <a:gridCol w="2643894">
                  <a:extLst>
                    <a:ext uri="{9D8B030D-6E8A-4147-A177-3AD203B41FA5}">
                      <a16:colId xmlns:a16="http://schemas.microsoft.com/office/drawing/2014/main" val="2342260676"/>
                    </a:ext>
                  </a:extLst>
                </a:gridCol>
                <a:gridCol w="2643894">
                  <a:extLst>
                    <a:ext uri="{9D8B030D-6E8A-4147-A177-3AD203B41FA5}">
                      <a16:colId xmlns:a16="http://schemas.microsoft.com/office/drawing/2014/main" val="1237756945"/>
                    </a:ext>
                  </a:extLst>
                </a:gridCol>
                <a:gridCol w="2643894">
                  <a:extLst>
                    <a:ext uri="{9D8B030D-6E8A-4147-A177-3AD203B41FA5}">
                      <a16:colId xmlns:a16="http://schemas.microsoft.com/office/drawing/2014/main" val="2616042437"/>
                    </a:ext>
                  </a:extLst>
                </a:gridCol>
              </a:tblGrid>
              <a:tr h="104361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153474586"/>
                  </a:ext>
                </a:extLst>
              </a:tr>
              <a:tr h="104361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3159882999"/>
                  </a:ext>
                </a:extLst>
              </a:tr>
              <a:tr h="104361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938077560"/>
                  </a:ext>
                </a:extLst>
              </a:tr>
              <a:tr h="104361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116333124"/>
                  </a:ext>
                </a:extLst>
              </a:tr>
              <a:tr h="1043612">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50000"/>
                        <a:lumOff val="50000"/>
                      </a:schemeClr>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fr-F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1290397721"/>
                  </a:ext>
                </a:extLst>
              </a:tr>
            </a:tbl>
          </a:graphicData>
        </a:graphic>
      </p:graphicFrame>
      <p:cxnSp>
        <p:nvCxnSpPr>
          <p:cNvPr id="6" name="Connecteur droit avec flèche 5">
            <a:extLst>
              <a:ext uri="{FF2B5EF4-FFF2-40B4-BE49-F238E27FC236}">
                <a16:creationId xmlns:a16="http://schemas.microsoft.com/office/drawing/2014/main" id="{32B74627-F052-BF82-D749-2A49FFFA86B9}"/>
              </a:ext>
            </a:extLst>
          </p:cNvPr>
          <p:cNvCxnSpPr>
            <a:cxnSpLocks/>
          </p:cNvCxnSpPr>
          <p:nvPr/>
        </p:nvCxnSpPr>
        <p:spPr>
          <a:xfrm>
            <a:off x="2917722" y="7752530"/>
            <a:ext cx="14199256" cy="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cxnSp>
        <p:nvCxnSpPr>
          <p:cNvPr id="9" name="Connecteur droit avec flèche 8">
            <a:extLst>
              <a:ext uri="{FF2B5EF4-FFF2-40B4-BE49-F238E27FC236}">
                <a16:creationId xmlns:a16="http://schemas.microsoft.com/office/drawing/2014/main" id="{5E752C43-BD1B-6A60-5D17-0DE2125A0CB6}"/>
              </a:ext>
            </a:extLst>
          </p:cNvPr>
          <p:cNvCxnSpPr>
            <a:cxnSpLocks/>
          </p:cNvCxnSpPr>
          <p:nvPr/>
        </p:nvCxnSpPr>
        <p:spPr>
          <a:xfrm flipV="1">
            <a:off x="2917722" y="1519084"/>
            <a:ext cx="0" cy="624418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1" name="Rectangle 20">
            <a:extLst>
              <a:ext uri="{FF2B5EF4-FFF2-40B4-BE49-F238E27FC236}">
                <a16:creationId xmlns:a16="http://schemas.microsoft.com/office/drawing/2014/main" id="{E575FCDE-BCCB-E877-6A82-681FF44322F5}"/>
              </a:ext>
            </a:extLst>
          </p:cNvPr>
          <p:cNvSpPr/>
          <p:nvPr/>
        </p:nvSpPr>
        <p:spPr>
          <a:xfrm>
            <a:off x="3625645" y="8980182"/>
            <a:ext cx="2580967" cy="1047134"/>
          </a:xfrm>
          <a:prstGeom prst="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chemeClr val="tx1"/>
                </a:solidFill>
              </a:rPr>
              <a:t>Mineur</a:t>
            </a:r>
          </a:p>
        </p:txBody>
      </p:sp>
      <p:sp>
        <p:nvSpPr>
          <p:cNvPr id="22" name="Rectangle 21">
            <a:extLst>
              <a:ext uri="{FF2B5EF4-FFF2-40B4-BE49-F238E27FC236}">
                <a16:creationId xmlns:a16="http://schemas.microsoft.com/office/drawing/2014/main" id="{F02BF72A-C736-06A4-6705-25CEBD259956}"/>
              </a:ext>
            </a:extLst>
          </p:cNvPr>
          <p:cNvSpPr/>
          <p:nvPr/>
        </p:nvSpPr>
        <p:spPr>
          <a:xfrm>
            <a:off x="6771968" y="8980182"/>
            <a:ext cx="2580967" cy="1047134"/>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chemeClr val="tx1"/>
                </a:solidFill>
              </a:rPr>
              <a:t>Modéré</a:t>
            </a:r>
          </a:p>
        </p:txBody>
      </p:sp>
      <p:sp>
        <p:nvSpPr>
          <p:cNvPr id="23" name="Rectangle 22">
            <a:extLst>
              <a:ext uri="{FF2B5EF4-FFF2-40B4-BE49-F238E27FC236}">
                <a16:creationId xmlns:a16="http://schemas.microsoft.com/office/drawing/2014/main" id="{EBD186E0-CEE6-2470-C163-3EBBB2D69F5E}"/>
              </a:ext>
            </a:extLst>
          </p:cNvPr>
          <p:cNvSpPr/>
          <p:nvPr/>
        </p:nvSpPr>
        <p:spPr>
          <a:xfrm>
            <a:off x="9918291" y="8980182"/>
            <a:ext cx="2580967" cy="104713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chemeClr val="tx1"/>
                </a:solidFill>
              </a:rPr>
              <a:t>Important</a:t>
            </a:r>
          </a:p>
        </p:txBody>
      </p:sp>
      <p:sp>
        <p:nvSpPr>
          <p:cNvPr id="24" name="Rectangle 23">
            <a:extLst>
              <a:ext uri="{FF2B5EF4-FFF2-40B4-BE49-F238E27FC236}">
                <a16:creationId xmlns:a16="http://schemas.microsoft.com/office/drawing/2014/main" id="{A6AE91BB-FCFA-4066-17D9-D5A72EA6DCCF}"/>
              </a:ext>
            </a:extLst>
          </p:cNvPr>
          <p:cNvSpPr/>
          <p:nvPr/>
        </p:nvSpPr>
        <p:spPr>
          <a:xfrm>
            <a:off x="13064614" y="8980182"/>
            <a:ext cx="2580967" cy="1047134"/>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a:solidFill>
                  <a:schemeClr val="tx1"/>
                </a:solidFill>
              </a:rPr>
              <a:t>Majeur</a:t>
            </a:r>
          </a:p>
        </p:txBody>
      </p:sp>
      <p:sp>
        <p:nvSpPr>
          <p:cNvPr id="27" name="Organigramme : Connecteur 26">
            <a:extLst>
              <a:ext uri="{FF2B5EF4-FFF2-40B4-BE49-F238E27FC236}">
                <a16:creationId xmlns:a16="http://schemas.microsoft.com/office/drawing/2014/main" id="{F3DFB0F9-864F-ABF8-323A-32C183147659}"/>
              </a:ext>
            </a:extLst>
          </p:cNvPr>
          <p:cNvSpPr/>
          <p:nvPr/>
        </p:nvSpPr>
        <p:spPr>
          <a:xfrm>
            <a:off x="15768263" y="3145547"/>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R1</a:t>
            </a:r>
          </a:p>
        </p:txBody>
      </p:sp>
      <p:sp>
        <p:nvSpPr>
          <p:cNvPr id="28" name="Organigramme : Connecteur 27">
            <a:extLst>
              <a:ext uri="{FF2B5EF4-FFF2-40B4-BE49-F238E27FC236}">
                <a16:creationId xmlns:a16="http://schemas.microsoft.com/office/drawing/2014/main" id="{4EC22AA9-F313-5AB3-F76F-ED303FDC56E4}"/>
              </a:ext>
            </a:extLst>
          </p:cNvPr>
          <p:cNvSpPr/>
          <p:nvPr/>
        </p:nvSpPr>
        <p:spPr>
          <a:xfrm>
            <a:off x="13134792" y="3186311"/>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R2</a:t>
            </a:r>
          </a:p>
        </p:txBody>
      </p:sp>
      <p:sp>
        <p:nvSpPr>
          <p:cNvPr id="30" name="Organigramme : Connecteur 29">
            <a:extLst>
              <a:ext uri="{FF2B5EF4-FFF2-40B4-BE49-F238E27FC236}">
                <a16:creationId xmlns:a16="http://schemas.microsoft.com/office/drawing/2014/main" id="{21F0074F-2003-0737-E7EB-E6E39D086104}"/>
              </a:ext>
            </a:extLst>
          </p:cNvPr>
          <p:cNvSpPr/>
          <p:nvPr/>
        </p:nvSpPr>
        <p:spPr>
          <a:xfrm>
            <a:off x="12861018" y="4517041"/>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R5</a:t>
            </a:r>
          </a:p>
        </p:txBody>
      </p:sp>
      <p:sp>
        <p:nvSpPr>
          <p:cNvPr id="32" name="Organigramme : Connecteur 31">
            <a:extLst>
              <a:ext uri="{FF2B5EF4-FFF2-40B4-BE49-F238E27FC236}">
                <a16:creationId xmlns:a16="http://schemas.microsoft.com/office/drawing/2014/main" id="{86FD729B-4833-C902-AD95-7E86AB9C9502}"/>
              </a:ext>
            </a:extLst>
          </p:cNvPr>
          <p:cNvSpPr/>
          <p:nvPr/>
        </p:nvSpPr>
        <p:spPr>
          <a:xfrm>
            <a:off x="13473129" y="4013096"/>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R8</a:t>
            </a:r>
          </a:p>
        </p:txBody>
      </p:sp>
      <p:sp>
        <p:nvSpPr>
          <p:cNvPr id="33" name="Organigramme : Connecteur 32">
            <a:extLst>
              <a:ext uri="{FF2B5EF4-FFF2-40B4-BE49-F238E27FC236}">
                <a16:creationId xmlns:a16="http://schemas.microsoft.com/office/drawing/2014/main" id="{EC674253-F7FC-07C9-E284-747666E412B2}"/>
              </a:ext>
            </a:extLst>
          </p:cNvPr>
          <p:cNvSpPr/>
          <p:nvPr/>
        </p:nvSpPr>
        <p:spPr>
          <a:xfrm>
            <a:off x="10515207" y="3186311"/>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R6</a:t>
            </a:r>
          </a:p>
        </p:txBody>
      </p:sp>
      <p:sp>
        <p:nvSpPr>
          <p:cNvPr id="34" name="Organigramme : Connecteur 33">
            <a:extLst>
              <a:ext uri="{FF2B5EF4-FFF2-40B4-BE49-F238E27FC236}">
                <a16:creationId xmlns:a16="http://schemas.microsoft.com/office/drawing/2014/main" id="{ABABF151-DBF2-FB05-9A82-F5BB9D714807}"/>
              </a:ext>
            </a:extLst>
          </p:cNvPr>
          <p:cNvSpPr/>
          <p:nvPr/>
        </p:nvSpPr>
        <p:spPr>
          <a:xfrm>
            <a:off x="13134792" y="5368993"/>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R7</a:t>
            </a:r>
          </a:p>
        </p:txBody>
      </p:sp>
      <p:sp>
        <p:nvSpPr>
          <p:cNvPr id="35" name="Organigramme : Connecteur 34">
            <a:extLst>
              <a:ext uri="{FF2B5EF4-FFF2-40B4-BE49-F238E27FC236}">
                <a16:creationId xmlns:a16="http://schemas.microsoft.com/office/drawing/2014/main" id="{23A0026B-FE0D-B47D-A67F-F52D7A522115}"/>
              </a:ext>
            </a:extLst>
          </p:cNvPr>
          <p:cNvSpPr/>
          <p:nvPr/>
        </p:nvSpPr>
        <p:spPr>
          <a:xfrm>
            <a:off x="10524585" y="4291882"/>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R9</a:t>
            </a:r>
          </a:p>
        </p:txBody>
      </p:sp>
      <p:sp>
        <p:nvSpPr>
          <p:cNvPr id="31" name="Organigramme : Connecteur 30">
            <a:extLst>
              <a:ext uri="{FF2B5EF4-FFF2-40B4-BE49-F238E27FC236}">
                <a16:creationId xmlns:a16="http://schemas.microsoft.com/office/drawing/2014/main" id="{336E5B9F-145E-4478-38DB-29E5E9098416}"/>
              </a:ext>
            </a:extLst>
          </p:cNvPr>
          <p:cNvSpPr/>
          <p:nvPr/>
        </p:nvSpPr>
        <p:spPr>
          <a:xfrm>
            <a:off x="15768263" y="4224031"/>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R4</a:t>
            </a:r>
          </a:p>
        </p:txBody>
      </p:sp>
      <p:sp>
        <p:nvSpPr>
          <p:cNvPr id="37" name="ZoneTexte 36">
            <a:extLst>
              <a:ext uri="{FF2B5EF4-FFF2-40B4-BE49-F238E27FC236}">
                <a16:creationId xmlns:a16="http://schemas.microsoft.com/office/drawing/2014/main" id="{5FAEB13A-6134-C487-CB75-41E333D8197A}"/>
              </a:ext>
            </a:extLst>
          </p:cNvPr>
          <p:cNvSpPr txBox="1"/>
          <p:nvPr/>
        </p:nvSpPr>
        <p:spPr>
          <a:xfrm>
            <a:off x="8115609" y="8202183"/>
            <a:ext cx="1727589" cy="707886"/>
          </a:xfrm>
          <a:prstGeom prst="rect">
            <a:avLst/>
          </a:prstGeom>
          <a:noFill/>
        </p:spPr>
        <p:txBody>
          <a:bodyPr wrap="none" rtlCol="0">
            <a:spAutoFit/>
          </a:bodyPr>
          <a:lstStyle/>
          <a:p>
            <a:r>
              <a:rPr lang="fr-FR" sz="4000" b="1">
                <a:solidFill>
                  <a:schemeClr val="bg1"/>
                </a:solidFill>
              </a:rPr>
              <a:t>Gravité</a:t>
            </a:r>
          </a:p>
        </p:txBody>
      </p:sp>
      <p:sp>
        <p:nvSpPr>
          <p:cNvPr id="38" name="ZoneTexte 37">
            <a:extLst>
              <a:ext uri="{FF2B5EF4-FFF2-40B4-BE49-F238E27FC236}">
                <a16:creationId xmlns:a16="http://schemas.microsoft.com/office/drawing/2014/main" id="{A288EB6C-3E3A-6C42-85AA-78E62D3EF7CB}"/>
              </a:ext>
            </a:extLst>
          </p:cNvPr>
          <p:cNvSpPr txBox="1"/>
          <p:nvPr/>
        </p:nvSpPr>
        <p:spPr>
          <a:xfrm rot="16200000">
            <a:off x="830889" y="4789556"/>
            <a:ext cx="2523704" cy="707886"/>
          </a:xfrm>
          <a:prstGeom prst="rect">
            <a:avLst/>
          </a:prstGeom>
          <a:noFill/>
        </p:spPr>
        <p:txBody>
          <a:bodyPr wrap="none" rtlCol="0">
            <a:spAutoFit/>
          </a:bodyPr>
          <a:lstStyle/>
          <a:p>
            <a:r>
              <a:rPr lang="fr-FR" sz="4000" b="1">
                <a:solidFill>
                  <a:schemeClr val="bg1"/>
                </a:solidFill>
              </a:rPr>
              <a:t>Probabilité</a:t>
            </a:r>
          </a:p>
        </p:txBody>
      </p:sp>
      <p:cxnSp>
        <p:nvCxnSpPr>
          <p:cNvPr id="42" name="Connecteur droit 41">
            <a:extLst>
              <a:ext uri="{FF2B5EF4-FFF2-40B4-BE49-F238E27FC236}">
                <a16:creationId xmlns:a16="http://schemas.microsoft.com/office/drawing/2014/main" id="{E8A9A5D2-32A8-8CE8-D826-CA2E1AA591AC}"/>
              </a:ext>
            </a:extLst>
          </p:cNvPr>
          <p:cNvCxnSpPr/>
          <p:nvPr/>
        </p:nvCxnSpPr>
        <p:spPr>
          <a:xfrm flipH="1">
            <a:off x="2669458" y="3554361"/>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3" name="Connecteur droit 42">
            <a:extLst>
              <a:ext uri="{FF2B5EF4-FFF2-40B4-BE49-F238E27FC236}">
                <a16:creationId xmlns:a16="http://schemas.microsoft.com/office/drawing/2014/main" id="{19BAE891-0FB3-3672-FEF9-301D70369AD7}"/>
              </a:ext>
            </a:extLst>
          </p:cNvPr>
          <p:cNvCxnSpPr/>
          <p:nvPr/>
        </p:nvCxnSpPr>
        <p:spPr>
          <a:xfrm flipH="1">
            <a:off x="2677176" y="4596777"/>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4" name="Connecteur droit 43">
            <a:extLst>
              <a:ext uri="{FF2B5EF4-FFF2-40B4-BE49-F238E27FC236}">
                <a16:creationId xmlns:a16="http://schemas.microsoft.com/office/drawing/2014/main" id="{F714FAF9-6A00-A841-2B63-C5033C493036}"/>
              </a:ext>
            </a:extLst>
          </p:cNvPr>
          <p:cNvCxnSpPr/>
          <p:nvPr/>
        </p:nvCxnSpPr>
        <p:spPr>
          <a:xfrm flipH="1">
            <a:off x="2692612" y="5639193"/>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5" name="Connecteur droit 44">
            <a:extLst>
              <a:ext uri="{FF2B5EF4-FFF2-40B4-BE49-F238E27FC236}">
                <a16:creationId xmlns:a16="http://schemas.microsoft.com/office/drawing/2014/main" id="{0BD7891E-45D9-C7A5-C2DE-FE88F6CBB7BE}"/>
              </a:ext>
            </a:extLst>
          </p:cNvPr>
          <p:cNvCxnSpPr/>
          <p:nvPr/>
        </p:nvCxnSpPr>
        <p:spPr>
          <a:xfrm flipH="1">
            <a:off x="2711292" y="6684704"/>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6" name="Connecteur droit 45">
            <a:extLst>
              <a:ext uri="{FF2B5EF4-FFF2-40B4-BE49-F238E27FC236}">
                <a16:creationId xmlns:a16="http://schemas.microsoft.com/office/drawing/2014/main" id="{87AD041F-C6B6-C76C-3967-CAC29AEC0BA1}"/>
              </a:ext>
            </a:extLst>
          </p:cNvPr>
          <p:cNvCxnSpPr/>
          <p:nvPr/>
        </p:nvCxnSpPr>
        <p:spPr>
          <a:xfrm flipH="1">
            <a:off x="2718172" y="7752530"/>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47" name="Connecteur droit 46">
            <a:extLst>
              <a:ext uri="{FF2B5EF4-FFF2-40B4-BE49-F238E27FC236}">
                <a16:creationId xmlns:a16="http://schemas.microsoft.com/office/drawing/2014/main" id="{586E0F88-E2B8-8DF0-82DC-6A13B8250EBB}"/>
              </a:ext>
            </a:extLst>
          </p:cNvPr>
          <p:cNvCxnSpPr>
            <a:cxnSpLocks/>
          </p:cNvCxnSpPr>
          <p:nvPr/>
        </p:nvCxnSpPr>
        <p:spPr>
          <a:xfrm flipV="1">
            <a:off x="5562304" y="7746050"/>
            <a:ext cx="0" cy="197038"/>
          </a:xfrm>
          <a:prstGeom prst="line">
            <a:avLst/>
          </a:prstGeom>
          <a:ln w="76200"/>
        </p:spPr>
        <p:style>
          <a:lnRef idx="1">
            <a:schemeClr val="dk1"/>
          </a:lnRef>
          <a:fillRef idx="0">
            <a:schemeClr val="dk1"/>
          </a:fillRef>
          <a:effectRef idx="0">
            <a:schemeClr val="dk1"/>
          </a:effectRef>
          <a:fontRef idx="minor">
            <a:schemeClr val="tx1"/>
          </a:fontRef>
        </p:style>
      </p:cxnSp>
      <p:cxnSp>
        <p:nvCxnSpPr>
          <p:cNvPr id="53" name="Connecteur droit 52">
            <a:extLst>
              <a:ext uri="{FF2B5EF4-FFF2-40B4-BE49-F238E27FC236}">
                <a16:creationId xmlns:a16="http://schemas.microsoft.com/office/drawing/2014/main" id="{74C08C5B-08A6-4592-60EA-0F211E143F10}"/>
              </a:ext>
            </a:extLst>
          </p:cNvPr>
          <p:cNvCxnSpPr>
            <a:cxnSpLocks/>
          </p:cNvCxnSpPr>
          <p:nvPr/>
        </p:nvCxnSpPr>
        <p:spPr>
          <a:xfrm flipV="1">
            <a:off x="8232352" y="7738971"/>
            <a:ext cx="0" cy="197038"/>
          </a:xfrm>
          <a:prstGeom prst="line">
            <a:avLst/>
          </a:prstGeom>
          <a:ln w="76200"/>
        </p:spPr>
        <p:style>
          <a:lnRef idx="1">
            <a:schemeClr val="dk1"/>
          </a:lnRef>
          <a:fillRef idx="0">
            <a:schemeClr val="dk1"/>
          </a:fillRef>
          <a:effectRef idx="0">
            <a:schemeClr val="dk1"/>
          </a:effectRef>
          <a:fontRef idx="minor">
            <a:schemeClr val="tx1"/>
          </a:fontRef>
        </p:style>
      </p:cxnSp>
      <p:cxnSp>
        <p:nvCxnSpPr>
          <p:cNvPr id="54" name="Connecteur droit 53">
            <a:extLst>
              <a:ext uri="{FF2B5EF4-FFF2-40B4-BE49-F238E27FC236}">
                <a16:creationId xmlns:a16="http://schemas.microsoft.com/office/drawing/2014/main" id="{DD346E77-6DED-BA05-67C4-BAC70BC1E2AD}"/>
              </a:ext>
            </a:extLst>
          </p:cNvPr>
          <p:cNvCxnSpPr>
            <a:cxnSpLocks/>
          </p:cNvCxnSpPr>
          <p:nvPr/>
        </p:nvCxnSpPr>
        <p:spPr>
          <a:xfrm flipV="1">
            <a:off x="10853632" y="7738971"/>
            <a:ext cx="0" cy="197038"/>
          </a:xfrm>
          <a:prstGeom prst="line">
            <a:avLst/>
          </a:prstGeom>
          <a:ln w="76200"/>
        </p:spPr>
        <p:style>
          <a:lnRef idx="1">
            <a:schemeClr val="dk1"/>
          </a:lnRef>
          <a:fillRef idx="0">
            <a:schemeClr val="dk1"/>
          </a:fillRef>
          <a:effectRef idx="0">
            <a:schemeClr val="dk1"/>
          </a:effectRef>
          <a:fontRef idx="minor">
            <a:schemeClr val="tx1"/>
          </a:fontRef>
        </p:style>
      </p:cxnSp>
      <p:cxnSp>
        <p:nvCxnSpPr>
          <p:cNvPr id="55" name="Connecteur droit 54">
            <a:extLst>
              <a:ext uri="{FF2B5EF4-FFF2-40B4-BE49-F238E27FC236}">
                <a16:creationId xmlns:a16="http://schemas.microsoft.com/office/drawing/2014/main" id="{C8B4C4EA-B66E-EEA0-A1C9-F96E574A0174}"/>
              </a:ext>
            </a:extLst>
          </p:cNvPr>
          <p:cNvCxnSpPr>
            <a:cxnSpLocks/>
          </p:cNvCxnSpPr>
          <p:nvPr/>
        </p:nvCxnSpPr>
        <p:spPr>
          <a:xfrm flipV="1">
            <a:off x="13487104" y="7738971"/>
            <a:ext cx="0" cy="197038"/>
          </a:xfrm>
          <a:prstGeom prst="line">
            <a:avLst/>
          </a:prstGeom>
          <a:ln w="76200"/>
        </p:spPr>
        <p:style>
          <a:lnRef idx="1">
            <a:schemeClr val="dk1"/>
          </a:lnRef>
          <a:fillRef idx="0">
            <a:schemeClr val="dk1"/>
          </a:fillRef>
          <a:effectRef idx="0">
            <a:schemeClr val="dk1"/>
          </a:effectRef>
          <a:fontRef idx="minor">
            <a:schemeClr val="tx1"/>
          </a:fontRef>
        </p:style>
      </p:cxnSp>
      <p:cxnSp>
        <p:nvCxnSpPr>
          <p:cNvPr id="56" name="Connecteur droit 55">
            <a:extLst>
              <a:ext uri="{FF2B5EF4-FFF2-40B4-BE49-F238E27FC236}">
                <a16:creationId xmlns:a16="http://schemas.microsoft.com/office/drawing/2014/main" id="{530F11BE-B1CA-DBF8-7CF8-1C9336EF7358}"/>
              </a:ext>
            </a:extLst>
          </p:cNvPr>
          <p:cNvCxnSpPr>
            <a:cxnSpLocks/>
          </p:cNvCxnSpPr>
          <p:nvPr/>
        </p:nvCxnSpPr>
        <p:spPr>
          <a:xfrm flipV="1">
            <a:off x="16121656" y="7730909"/>
            <a:ext cx="0" cy="197038"/>
          </a:xfrm>
          <a:prstGeom prst="line">
            <a:avLst/>
          </a:prstGeom>
          <a:ln w="76200"/>
        </p:spPr>
        <p:style>
          <a:lnRef idx="1">
            <a:schemeClr val="dk1"/>
          </a:lnRef>
          <a:fillRef idx="0">
            <a:schemeClr val="dk1"/>
          </a:fillRef>
          <a:effectRef idx="0">
            <a:schemeClr val="dk1"/>
          </a:effectRef>
          <a:fontRef idx="minor">
            <a:schemeClr val="tx1"/>
          </a:fontRef>
        </p:style>
      </p:cxnSp>
      <p:cxnSp>
        <p:nvCxnSpPr>
          <p:cNvPr id="57" name="Connecteur droit 56">
            <a:extLst>
              <a:ext uri="{FF2B5EF4-FFF2-40B4-BE49-F238E27FC236}">
                <a16:creationId xmlns:a16="http://schemas.microsoft.com/office/drawing/2014/main" id="{1BA38237-CB48-BDB7-6A82-EE4908BF17ED}"/>
              </a:ext>
            </a:extLst>
          </p:cNvPr>
          <p:cNvCxnSpPr/>
          <p:nvPr/>
        </p:nvCxnSpPr>
        <p:spPr>
          <a:xfrm flipH="1">
            <a:off x="2692612" y="2534470"/>
            <a:ext cx="248264" cy="0"/>
          </a:xfrm>
          <a:prstGeom prst="line">
            <a:avLst/>
          </a:prstGeom>
          <a:ln w="76200"/>
        </p:spPr>
        <p:style>
          <a:lnRef idx="1">
            <a:schemeClr val="dk1"/>
          </a:lnRef>
          <a:fillRef idx="0">
            <a:schemeClr val="dk1"/>
          </a:fillRef>
          <a:effectRef idx="0">
            <a:schemeClr val="dk1"/>
          </a:effectRef>
          <a:fontRef idx="minor">
            <a:schemeClr val="tx1"/>
          </a:fontRef>
        </p:style>
      </p:cxnSp>
      <p:cxnSp>
        <p:nvCxnSpPr>
          <p:cNvPr id="58" name="Connecteur droit 57">
            <a:extLst>
              <a:ext uri="{FF2B5EF4-FFF2-40B4-BE49-F238E27FC236}">
                <a16:creationId xmlns:a16="http://schemas.microsoft.com/office/drawing/2014/main" id="{F229456C-0656-C552-CFBC-34DBEDD5A190}"/>
              </a:ext>
            </a:extLst>
          </p:cNvPr>
          <p:cNvCxnSpPr>
            <a:cxnSpLocks/>
          </p:cNvCxnSpPr>
          <p:nvPr/>
        </p:nvCxnSpPr>
        <p:spPr>
          <a:xfrm flipV="1">
            <a:off x="2917722" y="7763264"/>
            <a:ext cx="0" cy="197038"/>
          </a:xfrm>
          <a:prstGeom prst="line">
            <a:avLst/>
          </a:prstGeom>
          <a:ln w="76200"/>
        </p:spPr>
        <p:style>
          <a:lnRef idx="1">
            <a:schemeClr val="dk1"/>
          </a:lnRef>
          <a:fillRef idx="0">
            <a:schemeClr val="dk1"/>
          </a:fillRef>
          <a:effectRef idx="0">
            <a:schemeClr val="dk1"/>
          </a:effectRef>
          <a:fontRef idx="minor">
            <a:schemeClr val="tx1"/>
          </a:fontRef>
        </p:style>
      </p:cxnSp>
      <p:sp>
        <p:nvSpPr>
          <p:cNvPr id="60" name="ZoneTexte 59">
            <a:extLst>
              <a:ext uri="{FF2B5EF4-FFF2-40B4-BE49-F238E27FC236}">
                <a16:creationId xmlns:a16="http://schemas.microsoft.com/office/drawing/2014/main" id="{822D5EE3-E1F9-2841-440C-4997BE12A1B8}"/>
              </a:ext>
            </a:extLst>
          </p:cNvPr>
          <p:cNvSpPr txBox="1"/>
          <p:nvPr/>
        </p:nvSpPr>
        <p:spPr>
          <a:xfrm>
            <a:off x="2760467" y="7971035"/>
            <a:ext cx="314510" cy="400110"/>
          </a:xfrm>
          <a:prstGeom prst="rect">
            <a:avLst/>
          </a:prstGeom>
          <a:noFill/>
        </p:spPr>
        <p:txBody>
          <a:bodyPr wrap="square" rtlCol="0">
            <a:spAutoFit/>
          </a:bodyPr>
          <a:lstStyle/>
          <a:p>
            <a:r>
              <a:rPr lang="fr-FR" sz="2000" b="1">
                <a:solidFill>
                  <a:schemeClr val="bg1"/>
                </a:solidFill>
              </a:rPr>
              <a:t>0</a:t>
            </a:r>
          </a:p>
        </p:txBody>
      </p:sp>
      <p:sp>
        <p:nvSpPr>
          <p:cNvPr id="62" name="ZoneTexte 61">
            <a:extLst>
              <a:ext uri="{FF2B5EF4-FFF2-40B4-BE49-F238E27FC236}">
                <a16:creationId xmlns:a16="http://schemas.microsoft.com/office/drawing/2014/main" id="{BB9680E9-2A87-6ABC-E3F8-046F18A66A55}"/>
              </a:ext>
            </a:extLst>
          </p:cNvPr>
          <p:cNvSpPr txBox="1"/>
          <p:nvPr/>
        </p:nvSpPr>
        <p:spPr>
          <a:xfrm>
            <a:off x="2408155" y="7552475"/>
            <a:ext cx="314510" cy="400110"/>
          </a:xfrm>
          <a:prstGeom prst="rect">
            <a:avLst/>
          </a:prstGeom>
          <a:noFill/>
        </p:spPr>
        <p:txBody>
          <a:bodyPr wrap="square" rtlCol="0">
            <a:spAutoFit/>
          </a:bodyPr>
          <a:lstStyle/>
          <a:p>
            <a:r>
              <a:rPr lang="fr-FR" sz="2000" b="1">
                <a:solidFill>
                  <a:schemeClr val="bg1"/>
                </a:solidFill>
              </a:rPr>
              <a:t>0</a:t>
            </a:r>
          </a:p>
        </p:txBody>
      </p:sp>
      <p:sp>
        <p:nvSpPr>
          <p:cNvPr id="63" name="ZoneTexte 62">
            <a:extLst>
              <a:ext uri="{FF2B5EF4-FFF2-40B4-BE49-F238E27FC236}">
                <a16:creationId xmlns:a16="http://schemas.microsoft.com/office/drawing/2014/main" id="{71D83BB7-865B-797F-48C0-B10292491BAB}"/>
              </a:ext>
            </a:extLst>
          </p:cNvPr>
          <p:cNvSpPr txBox="1"/>
          <p:nvPr/>
        </p:nvSpPr>
        <p:spPr>
          <a:xfrm>
            <a:off x="5405049" y="7910584"/>
            <a:ext cx="314510" cy="400110"/>
          </a:xfrm>
          <a:prstGeom prst="rect">
            <a:avLst/>
          </a:prstGeom>
          <a:noFill/>
        </p:spPr>
        <p:txBody>
          <a:bodyPr wrap="square" rtlCol="0">
            <a:spAutoFit/>
          </a:bodyPr>
          <a:lstStyle/>
          <a:p>
            <a:r>
              <a:rPr lang="fr-FR" sz="2000" b="1">
                <a:solidFill>
                  <a:schemeClr val="bg1"/>
                </a:solidFill>
              </a:rPr>
              <a:t>1</a:t>
            </a:r>
          </a:p>
        </p:txBody>
      </p:sp>
      <p:sp>
        <p:nvSpPr>
          <p:cNvPr id="64" name="ZoneTexte 63">
            <a:extLst>
              <a:ext uri="{FF2B5EF4-FFF2-40B4-BE49-F238E27FC236}">
                <a16:creationId xmlns:a16="http://schemas.microsoft.com/office/drawing/2014/main" id="{9E9C2CBF-6129-1CDE-71FC-7256F27A031B}"/>
              </a:ext>
            </a:extLst>
          </p:cNvPr>
          <p:cNvSpPr txBox="1"/>
          <p:nvPr/>
        </p:nvSpPr>
        <p:spPr>
          <a:xfrm>
            <a:off x="8075097" y="7904529"/>
            <a:ext cx="314510" cy="400110"/>
          </a:xfrm>
          <a:prstGeom prst="rect">
            <a:avLst/>
          </a:prstGeom>
          <a:noFill/>
        </p:spPr>
        <p:txBody>
          <a:bodyPr wrap="square" rtlCol="0">
            <a:spAutoFit/>
          </a:bodyPr>
          <a:lstStyle/>
          <a:p>
            <a:r>
              <a:rPr lang="fr-FR" sz="2000" b="1">
                <a:solidFill>
                  <a:schemeClr val="bg1"/>
                </a:solidFill>
              </a:rPr>
              <a:t>2</a:t>
            </a:r>
          </a:p>
        </p:txBody>
      </p:sp>
      <p:sp>
        <p:nvSpPr>
          <p:cNvPr id="65" name="ZoneTexte 64">
            <a:extLst>
              <a:ext uri="{FF2B5EF4-FFF2-40B4-BE49-F238E27FC236}">
                <a16:creationId xmlns:a16="http://schemas.microsoft.com/office/drawing/2014/main" id="{527D5D60-F698-1F70-B66E-686E3BC575A0}"/>
              </a:ext>
            </a:extLst>
          </p:cNvPr>
          <p:cNvSpPr txBox="1"/>
          <p:nvPr/>
        </p:nvSpPr>
        <p:spPr>
          <a:xfrm>
            <a:off x="10695838" y="7910584"/>
            <a:ext cx="314510" cy="400110"/>
          </a:xfrm>
          <a:prstGeom prst="rect">
            <a:avLst/>
          </a:prstGeom>
          <a:noFill/>
        </p:spPr>
        <p:txBody>
          <a:bodyPr wrap="square" rtlCol="0">
            <a:spAutoFit/>
          </a:bodyPr>
          <a:lstStyle/>
          <a:p>
            <a:r>
              <a:rPr lang="fr-FR" sz="2000" b="1">
                <a:solidFill>
                  <a:schemeClr val="bg1"/>
                </a:solidFill>
              </a:rPr>
              <a:t>3</a:t>
            </a:r>
          </a:p>
        </p:txBody>
      </p:sp>
      <p:sp>
        <p:nvSpPr>
          <p:cNvPr id="66" name="ZoneTexte 65">
            <a:extLst>
              <a:ext uri="{FF2B5EF4-FFF2-40B4-BE49-F238E27FC236}">
                <a16:creationId xmlns:a16="http://schemas.microsoft.com/office/drawing/2014/main" id="{81E2FC1D-69DE-816E-582D-0747C672B2DE}"/>
              </a:ext>
            </a:extLst>
          </p:cNvPr>
          <p:cNvSpPr txBox="1"/>
          <p:nvPr/>
        </p:nvSpPr>
        <p:spPr>
          <a:xfrm>
            <a:off x="13329849" y="7904529"/>
            <a:ext cx="314510" cy="400110"/>
          </a:xfrm>
          <a:prstGeom prst="rect">
            <a:avLst/>
          </a:prstGeom>
          <a:noFill/>
        </p:spPr>
        <p:txBody>
          <a:bodyPr wrap="square" rtlCol="0">
            <a:spAutoFit/>
          </a:bodyPr>
          <a:lstStyle/>
          <a:p>
            <a:r>
              <a:rPr lang="fr-FR" sz="2000" b="1">
                <a:solidFill>
                  <a:schemeClr val="bg1"/>
                </a:solidFill>
              </a:rPr>
              <a:t>4</a:t>
            </a:r>
          </a:p>
        </p:txBody>
      </p:sp>
      <p:sp>
        <p:nvSpPr>
          <p:cNvPr id="67" name="ZoneTexte 66">
            <a:extLst>
              <a:ext uri="{FF2B5EF4-FFF2-40B4-BE49-F238E27FC236}">
                <a16:creationId xmlns:a16="http://schemas.microsoft.com/office/drawing/2014/main" id="{74371085-A10C-FE9B-FB0A-505371F13D92}"/>
              </a:ext>
            </a:extLst>
          </p:cNvPr>
          <p:cNvSpPr txBox="1"/>
          <p:nvPr/>
        </p:nvSpPr>
        <p:spPr>
          <a:xfrm>
            <a:off x="15963320" y="7909487"/>
            <a:ext cx="314510" cy="400110"/>
          </a:xfrm>
          <a:prstGeom prst="rect">
            <a:avLst/>
          </a:prstGeom>
          <a:noFill/>
        </p:spPr>
        <p:txBody>
          <a:bodyPr wrap="square" rtlCol="0">
            <a:spAutoFit/>
          </a:bodyPr>
          <a:lstStyle/>
          <a:p>
            <a:r>
              <a:rPr lang="fr-FR" sz="2000" b="1">
                <a:solidFill>
                  <a:schemeClr val="bg1"/>
                </a:solidFill>
              </a:rPr>
              <a:t>5</a:t>
            </a:r>
          </a:p>
        </p:txBody>
      </p:sp>
      <p:sp>
        <p:nvSpPr>
          <p:cNvPr id="68" name="ZoneTexte 67">
            <a:extLst>
              <a:ext uri="{FF2B5EF4-FFF2-40B4-BE49-F238E27FC236}">
                <a16:creationId xmlns:a16="http://schemas.microsoft.com/office/drawing/2014/main" id="{FDAB4883-EA98-1257-880E-80BFFB02A3E0}"/>
              </a:ext>
            </a:extLst>
          </p:cNvPr>
          <p:cNvSpPr txBox="1"/>
          <p:nvPr/>
        </p:nvSpPr>
        <p:spPr>
          <a:xfrm>
            <a:off x="2408155" y="6467251"/>
            <a:ext cx="314510" cy="400110"/>
          </a:xfrm>
          <a:prstGeom prst="rect">
            <a:avLst/>
          </a:prstGeom>
          <a:noFill/>
        </p:spPr>
        <p:txBody>
          <a:bodyPr wrap="square" rtlCol="0">
            <a:spAutoFit/>
          </a:bodyPr>
          <a:lstStyle/>
          <a:p>
            <a:r>
              <a:rPr lang="fr-FR" sz="2000" b="1">
                <a:solidFill>
                  <a:schemeClr val="bg1"/>
                </a:solidFill>
              </a:rPr>
              <a:t>1</a:t>
            </a:r>
          </a:p>
        </p:txBody>
      </p:sp>
      <p:sp>
        <p:nvSpPr>
          <p:cNvPr id="69" name="ZoneTexte 68">
            <a:extLst>
              <a:ext uri="{FF2B5EF4-FFF2-40B4-BE49-F238E27FC236}">
                <a16:creationId xmlns:a16="http://schemas.microsoft.com/office/drawing/2014/main" id="{3EC573A6-47A9-D4E7-3DF7-78DF65C30109}"/>
              </a:ext>
            </a:extLst>
          </p:cNvPr>
          <p:cNvSpPr txBox="1"/>
          <p:nvPr/>
        </p:nvSpPr>
        <p:spPr>
          <a:xfrm>
            <a:off x="2408155" y="5439138"/>
            <a:ext cx="314510" cy="400110"/>
          </a:xfrm>
          <a:prstGeom prst="rect">
            <a:avLst/>
          </a:prstGeom>
          <a:noFill/>
        </p:spPr>
        <p:txBody>
          <a:bodyPr wrap="square" rtlCol="0">
            <a:spAutoFit/>
          </a:bodyPr>
          <a:lstStyle/>
          <a:p>
            <a:r>
              <a:rPr lang="fr-FR" sz="2000" b="1">
                <a:solidFill>
                  <a:schemeClr val="bg1"/>
                </a:solidFill>
              </a:rPr>
              <a:t>2</a:t>
            </a:r>
          </a:p>
        </p:txBody>
      </p:sp>
      <p:sp>
        <p:nvSpPr>
          <p:cNvPr id="70" name="ZoneTexte 69">
            <a:extLst>
              <a:ext uri="{FF2B5EF4-FFF2-40B4-BE49-F238E27FC236}">
                <a16:creationId xmlns:a16="http://schemas.microsoft.com/office/drawing/2014/main" id="{9C8586FA-DC32-656A-12D6-3E3D4CA38CDD}"/>
              </a:ext>
            </a:extLst>
          </p:cNvPr>
          <p:cNvSpPr txBox="1"/>
          <p:nvPr/>
        </p:nvSpPr>
        <p:spPr>
          <a:xfrm>
            <a:off x="2408155" y="4392026"/>
            <a:ext cx="314510" cy="400110"/>
          </a:xfrm>
          <a:prstGeom prst="rect">
            <a:avLst/>
          </a:prstGeom>
          <a:noFill/>
        </p:spPr>
        <p:txBody>
          <a:bodyPr wrap="square" rtlCol="0">
            <a:spAutoFit/>
          </a:bodyPr>
          <a:lstStyle/>
          <a:p>
            <a:r>
              <a:rPr lang="fr-FR" sz="2000" b="1">
                <a:solidFill>
                  <a:schemeClr val="bg1"/>
                </a:solidFill>
              </a:rPr>
              <a:t>3</a:t>
            </a:r>
          </a:p>
        </p:txBody>
      </p:sp>
      <p:sp>
        <p:nvSpPr>
          <p:cNvPr id="71" name="ZoneTexte 70">
            <a:extLst>
              <a:ext uri="{FF2B5EF4-FFF2-40B4-BE49-F238E27FC236}">
                <a16:creationId xmlns:a16="http://schemas.microsoft.com/office/drawing/2014/main" id="{0356433A-8F9B-A5B0-F5BF-7898AB1EDC14}"/>
              </a:ext>
            </a:extLst>
          </p:cNvPr>
          <p:cNvSpPr txBox="1"/>
          <p:nvPr/>
        </p:nvSpPr>
        <p:spPr>
          <a:xfrm>
            <a:off x="2408155" y="3354307"/>
            <a:ext cx="314510" cy="400110"/>
          </a:xfrm>
          <a:prstGeom prst="rect">
            <a:avLst/>
          </a:prstGeom>
          <a:noFill/>
        </p:spPr>
        <p:txBody>
          <a:bodyPr wrap="square" rtlCol="0">
            <a:spAutoFit/>
          </a:bodyPr>
          <a:lstStyle/>
          <a:p>
            <a:r>
              <a:rPr lang="fr-FR" sz="2000" b="1">
                <a:solidFill>
                  <a:schemeClr val="bg1"/>
                </a:solidFill>
              </a:rPr>
              <a:t>4</a:t>
            </a:r>
          </a:p>
        </p:txBody>
      </p:sp>
      <p:sp>
        <p:nvSpPr>
          <p:cNvPr id="72" name="ZoneTexte 71">
            <a:extLst>
              <a:ext uri="{FF2B5EF4-FFF2-40B4-BE49-F238E27FC236}">
                <a16:creationId xmlns:a16="http://schemas.microsoft.com/office/drawing/2014/main" id="{0D04DEC6-D490-7132-7B25-C3313D248DA9}"/>
              </a:ext>
            </a:extLst>
          </p:cNvPr>
          <p:cNvSpPr txBox="1"/>
          <p:nvPr/>
        </p:nvSpPr>
        <p:spPr>
          <a:xfrm>
            <a:off x="2408367" y="2334415"/>
            <a:ext cx="314510" cy="400110"/>
          </a:xfrm>
          <a:prstGeom prst="rect">
            <a:avLst/>
          </a:prstGeom>
          <a:noFill/>
        </p:spPr>
        <p:txBody>
          <a:bodyPr wrap="square" rtlCol="0">
            <a:spAutoFit/>
          </a:bodyPr>
          <a:lstStyle/>
          <a:p>
            <a:r>
              <a:rPr lang="fr-FR" sz="2000" b="1">
                <a:solidFill>
                  <a:schemeClr val="bg1"/>
                </a:solidFill>
              </a:rPr>
              <a:t>5</a:t>
            </a:r>
          </a:p>
        </p:txBody>
      </p:sp>
      <p:sp>
        <p:nvSpPr>
          <p:cNvPr id="29" name="Organigramme : Connecteur 28">
            <a:extLst>
              <a:ext uri="{FF2B5EF4-FFF2-40B4-BE49-F238E27FC236}">
                <a16:creationId xmlns:a16="http://schemas.microsoft.com/office/drawing/2014/main" id="{6B34B554-9F48-D958-55FB-8F297123DBAE}"/>
              </a:ext>
            </a:extLst>
          </p:cNvPr>
          <p:cNvSpPr/>
          <p:nvPr/>
        </p:nvSpPr>
        <p:spPr>
          <a:xfrm>
            <a:off x="13134792" y="4224031"/>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a:solidFill>
                  <a:schemeClr val="tx1"/>
                </a:solidFill>
              </a:rPr>
              <a:t>R3</a:t>
            </a:r>
          </a:p>
        </p:txBody>
      </p:sp>
      <p:sp>
        <p:nvSpPr>
          <p:cNvPr id="36" name="Organigramme : Connecteur 35">
            <a:extLst>
              <a:ext uri="{FF2B5EF4-FFF2-40B4-BE49-F238E27FC236}">
                <a16:creationId xmlns:a16="http://schemas.microsoft.com/office/drawing/2014/main" id="{88258518-3874-1257-EAC1-01403E24FF79}"/>
              </a:ext>
            </a:extLst>
          </p:cNvPr>
          <p:cNvSpPr/>
          <p:nvPr/>
        </p:nvSpPr>
        <p:spPr>
          <a:xfrm>
            <a:off x="15444145" y="4065978"/>
            <a:ext cx="704624" cy="736100"/>
          </a:xfrm>
          <a:prstGeom prst="flowChartConnector">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rPr>
              <a:t>R10</a:t>
            </a:r>
          </a:p>
        </p:txBody>
      </p:sp>
    </p:spTree>
    <p:extLst>
      <p:ext uri="{BB962C8B-B14F-4D97-AF65-F5344CB8AC3E}">
        <p14:creationId xmlns:p14="http://schemas.microsoft.com/office/powerpoint/2010/main" val="3793218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A308BCEE-F98D-FC57-3349-E5DC5DCE5AE7}"/>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D848F1AE-E19C-5AEE-468A-77DE2483BC71}"/>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FF92E052-B1E5-CDFD-8C00-1A01C4D40880}"/>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6AFBCEE4-D6C7-A5AD-5371-BD63D72ABD32}"/>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3" name="TextBox 9">
            <a:extLst>
              <a:ext uri="{FF2B5EF4-FFF2-40B4-BE49-F238E27FC236}">
                <a16:creationId xmlns:a16="http://schemas.microsoft.com/office/drawing/2014/main" id="{8C898EC6-99E5-B313-E6BA-D95466DC2F7F}"/>
              </a:ext>
            </a:extLst>
          </p:cNvPr>
          <p:cNvSpPr txBox="1"/>
          <p:nvPr/>
        </p:nvSpPr>
        <p:spPr>
          <a:xfrm>
            <a:off x="6537296" y="992296"/>
            <a:ext cx="5213397" cy="904094"/>
          </a:xfrm>
          <a:prstGeom prst="rect">
            <a:avLst/>
          </a:prstGeom>
        </p:spPr>
        <p:txBody>
          <a:bodyPr wrap="square" lIns="0" tIns="0" rIns="0" bIns="0" rtlCol="0" anchor="t">
            <a:spAutoFit/>
          </a:bodyPr>
          <a:lstStyle/>
          <a:p>
            <a:pPr algn="ctr">
              <a:lnSpc>
                <a:spcPts val="7800"/>
              </a:lnSpc>
            </a:pPr>
            <a:r>
              <a:rPr lang="en-US" sz="4000">
                <a:solidFill>
                  <a:srgbClr val="FFF8ED"/>
                </a:solidFill>
                <a:latin typeface="Titillium Web Semi-Bold" panose="020B0604020202020204" charset="0"/>
                <a:ea typeface="Calibri"/>
                <a:cs typeface="Calibri"/>
              </a:rPr>
              <a:t>MATRICE RACI-MACRO</a:t>
            </a:r>
          </a:p>
        </p:txBody>
      </p:sp>
      <p:graphicFrame>
        <p:nvGraphicFramePr>
          <p:cNvPr id="2" name="Tableau 1">
            <a:extLst>
              <a:ext uri="{FF2B5EF4-FFF2-40B4-BE49-F238E27FC236}">
                <a16:creationId xmlns:a16="http://schemas.microsoft.com/office/drawing/2014/main" id="{BE6D4AF4-FB16-0CA6-B1CD-D5BA61FEF7BA}"/>
              </a:ext>
            </a:extLst>
          </p:cNvPr>
          <p:cNvGraphicFramePr>
            <a:graphicFrameLocks noGrp="1"/>
          </p:cNvGraphicFramePr>
          <p:nvPr>
            <p:extLst>
              <p:ext uri="{D42A27DB-BD31-4B8C-83A1-F6EECF244321}">
                <p14:modId xmlns:p14="http://schemas.microsoft.com/office/powerpoint/2010/main" val="1436205127"/>
              </p:ext>
            </p:extLst>
          </p:nvPr>
        </p:nvGraphicFramePr>
        <p:xfrm>
          <a:off x="2011678" y="2145060"/>
          <a:ext cx="14264635" cy="5996879"/>
        </p:xfrm>
        <a:graphic>
          <a:graphicData uri="http://schemas.openxmlformats.org/drawingml/2006/table">
            <a:tbl>
              <a:tblPr firstRow="1" bandRow="1">
                <a:tableStyleId>{073A0DAA-6AF3-43AB-8588-CEC1D06C72B9}</a:tableStyleId>
              </a:tblPr>
              <a:tblGrid>
                <a:gridCol w="2852927">
                  <a:extLst>
                    <a:ext uri="{9D8B030D-6E8A-4147-A177-3AD203B41FA5}">
                      <a16:colId xmlns:a16="http://schemas.microsoft.com/office/drawing/2014/main" val="2345388808"/>
                    </a:ext>
                  </a:extLst>
                </a:gridCol>
                <a:gridCol w="2852927">
                  <a:extLst>
                    <a:ext uri="{9D8B030D-6E8A-4147-A177-3AD203B41FA5}">
                      <a16:colId xmlns:a16="http://schemas.microsoft.com/office/drawing/2014/main" val="1719510299"/>
                    </a:ext>
                  </a:extLst>
                </a:gridCol>
                <a:gridCol w="2852927">
                  <a:extLst>
                    <a:ext uri="{9D8B030D-6E8A-4147-A177-3AD203B41FA5}">
                      <a16:colId xmlns:a16="http://schemas.microsoft.com/office/drawing/2014/main" val="1713935981"/>
                    </a:ext>
                  </a:extLst>
                </a:gridCol>
                <a:gridCol w="2852927">
                  <a:extLst>
                    <a:ext uri="{9D8B030D-6E8A-4147-A177-3AD203B41FA5}">
                      <a16:colId xmlns:a16="http://schemas.microsoft.com/office/drawing/2014/main" val="1022717434"/>
                    </a:ext>
                  </a:extLst>
                </a:gridCol>
                <a:gridCol w="2852927">
                  <a:extLst>
                    <a:ext uri="{9D8B030D-6E8A-4147-A177-3AD203B41FA5}">
                      <a16:colId xmlns:a16="http://schemas.microsoft.com/office/drawing/2014/main" val="3731961720"/>
                    </a:ext>
                  </a:extLst>
                </a:gridCol>
              </a:tblGrid>
              <a:tr h="856697">
                <a:tc>
                  <a:txBody>
                    <a:bodyPr/>
                    <a:lstStyle/>
                    <a:p>
                      <a:pPr lvl="0" algn="ctr">
                        <a:buNone/>
                      </a:pPr>
                      <a:r>
                        <a:rPr lang="en-US"/>
                        <a:t>QUOI/QUI</a:t>
                      </a:r>
                    </a:p>
                  </a:txBody>
                  <a:tcPr anchor="ctr"/>
                </a:tc>
                <a:tc>
                  <a:txBody>
                    <a:bodyPr/>
                    <a:lstStyle/>
                    <a:p>
                      <a:pPr algn="ctr"/>
                      <a:r>
                        <a:rPr lang="en-US"/>
                        <a:t>Sponsor client</a:t>
                      </a:r>
                    </a:p>
                  </a:txBody>
                  <a:tcPr anchor="ctr"/>
                </a:tc>
                <a:tc>
                  <a:txBody>
                    <a:bodyPr/>
                    <a:lstStyle/>
                    <a:p>
                      <a:pPr algn="ctr"/>
                      <a:r>
                        <a:rPr lang="en-US"/>
                        <a:t>Client</a:t>
                      </a:r>
                    </a:p>
                  </a:txBody>
                  <a:tcPr anchor="ctr"/>
                </a:tc>
                <a:tc>
                  <a:txBody>
                    <a:bodyPr/>
                    <a:lstStyle/>
                    <a:p>
                      <a:pPr algn="ctr"/>
                      <a:r>
                        <a:rPr lang="en-US"/>
                        <a:t>Chef de </a:t>
                      </a:r>
                      <a:r>
                        <a:rPr lang="en-US" err="1"/>
                        <a:t>projet</a:t>
                      </a:r>
                      <a:endParaRPr lang="en-US"/>
                    </a:p>
                  </a:txBody>
                  <a:tcPr anchor="ctr"/>
                </a:tc>
                <a:tc>
                  <a:txBody>
                    <a:bodyPr/>
                    <a:lstStyle/>
                    <a:p>
                      <a:pPr lvl="0" algn="ctr">
                        <a:buNone/>
                      </a:pPr>
                      <a:r>
                        <a:rPr lang="en-US"/>
                        <a:t>Equipe </a:t>
                      </a:r>
                      <a:r>
                        <a:rPr lang="en-US" err="1"/>
                        <a:t>projet</a:t>
                      </a:r>
                      <a:endParaRPr lang="en-US"/>
                    </a:p>
                  </a:txBody>
                  <a:tcPr anchor="ctr"/>
                </a:tc>
                <a:extLst>
                  <a:ext uri="{0D108BD9-81ED-4DB2-BD59-A6C34878D82A}">
                    <a16:rowId xmlns:a16="http://schemas.microsoft.com/office/drawing/2014/main" val="4166911666"/>
                  </a:ext>
                </a:extLst>
              </a:tr>
              <a:tr h="856697">
                <a:tc>
                  <a:txBody>
                    <a:bodyPr/>
                    <a:lstStyle/>
                    <a:p>
                      <a:pPr algn="ctr"/>
                      <a:r>
                        <a:rPr lang="en-US"/>
                        <a:t>Avant-</a:t>
                      </a:r>
                      <a:r>
                        <a:rPr lang="en-US" err="1"/>
                        <a:t>projet</a:t>
                      </a:r>
                      <a:endParaRPr lang="en-US"/>
                    </a:p>
                  </a:txBody>
                  <a:tcPr anchor="ctr"/>
                </a:tc>
                <a:tc>
                  <a:txBody>
                    <a:bodyPr/>
                    <a:lstStyle/>
                    <a:p>
                      <a:pPr algn="ctr"/>
                      <a:r>
                        <a:rPr lang="en-US"/>
                        <a:t>R</a:t>
                      </a:r>
                    </a:p>
                  </a:txBody>
                  <a:tcPr anchor="ctr"/>
                </a:tc>
                <a:tc>
                  <a:txBody>
                    <a:bodyPr/>
                    <a:lstStyle/>
                    <a:p>
                      <a:pPr algn="ctr"/>
                      <a:r>
                        <a:rPr lang="en-US"/>
                        <a:t>R</a:t>
                      </a:r>
                    </a:p>
                  </a:txBody>
                  <a:tcPr anchor="ctr"/>
                </a:tc>
                <a:tc>
                  <a:txBody>
                    <a:bodyPr/>
                    <a:lstStyle/>
                    <a:p>
                      <a:pPr algn="ctr"/>
                      <a:r>
                        <a:rPr lang="en-US"/>
                        <a:t>A/R</a:t>
                      </a:r>
                    </a:p>
                  </a:txBody>
                  <a:tcPr anchor="ctr"/>
                </a:tc>
                <a:tc>
                  <a:txBody>
                    <a:bodyPr/>
                    <a:lstStyle/>
                    <a:p>
                      <a:pPr lvl="0" algn="ctr">
                        <a:buNone/>
                      </a:pPr>
                      <a:endParaRPr lang="en-US"/>
                    </a:p>
                  </a:txBody>
                  <a:tcPr anchor="ctr"/>
                </a:tc>
                <a:extLst>
                  <a:ext uri="{0D108BD9-81ED-4DB2-BD59-A6C34878D82A}">
                    <a16:rowId xmlns:a16="http://schemas.microsoft.com/office/drawing/2014/main" val="2071777146"/>
                  </a:ext>
                </a:extLst>
              </a:tr>
              <a:tr h="856697">
                <a:tc>
                  <a:txBody>
                    <a:bodyPr/>
                    <a:lstStyle/>
                    <a:p>
                      <a:pPr algn="ctr"/>
                      <a:r>
                        <a:rPr lang="en-US" err="1"/>
                        <a:t>Initialisation</a:t>
                      </a:r>
                      <a:endParaRPr lang="en-US"/>
                    </a:p>
                  </a:txBody>
                  <a:tcPr anchor="ctr"/>
                </a:tc>
                <a:tc>
                  <a:txBody>
                    <a:bodyPr/>
                    <a:lstStyle/>
                    <a:p>
                      <a:pPr algn="ctr"/>
                      <a:r>
                        <a:rPr lang="en-US"/>
                        <a:t>I</a:t>
                      </a:r>
                    </a:p>
                  </a:txBody>
                  <a:tcPr anchor="ctr"/>
                </a:tc>
                <a:tc>
                  <a:txBody>
                    <a:bodyPr/>
                    <a:lstStyle/>
                    <a:p>
                      <a:pPr algn="ctr"/>
                      <a:r>
                        <a:rPr lang="en-US"/>
                        <a:t>I</a:t>
                      </a:r>
                    </a:p>
                  </a:txBody>
                  <a:tcPr anchor="ctr"/>
                </a:tc>
                <a:tc>
                  <a:txBody>
                    <a:bodyPr/>
                    <a:lstStyle/>
                    <a:p>
                      <a:pPr algn="ctr"/>
                      <a:r>
                        <a:rPr lang="en-US"/>
                        <a:t>A/R</a:t>
                      </a:r>
                    </a:p>
                  </a:txBody>
                  <a:tcPr anchor="ctr"/>
                </a:tc>
                <a:tc>
                  <a:txBody>
                    <a:bodyPr/>
                    <a:lstStyle/>
                    <a:p>
                      <a:pPr lvl="0" algn="ctr">
                        <a:buNone/>
                      </a:pPr>
                      <a:r>
                        <a:rPr lang="en-US"/>
                        <a:t>I</a:t>
                      </a:r>
                    </a:p>
                  </a:txBody>
                  <a:tcPr anchor="ctr"/>
                </a:tc>
                <a:extLst>
                  <a:ext uri="{0D108BD9-81ED-4DB2-BD59-A6C34878D82A}">
                    <a16:rowId xmlns:a16="http://schemas.microsoft.com/office/drawing/2014/main" val="3014488255"/>
                  </a:ext>
                </a:extLst>
              </a:tr>
              <a:tr h="856697">
                <a:tc>
                  <a:txBody>
                    <a:bodyPr/>
                    <a:lstStyle/>
                    <a:p>
                      <a:pPr algn="ctr"/>
                      <a:r>
                        <a:rPr lang="en-US"/>
                        <a:t>Planification</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A/R</a:t>
                      </a:r>
                    </a:p>
                  </a:txBody>
                  <a:tcPr anchor="ctr"/>
                </a:tc>
                <a:tc>
                  <a:txBody>
                    <a:bodyPr/>
                    <a:lstStyle/>
                    <a:p>
                      <a:pPr lvl="0" algn="ctr">
                        <a:buNone/>
                      </a:pPr>
                      <a:r>
                        <a:rPr lang="en-US"/>
                        <a:t>C</a:t>
                      </a:r>
                    </a:p>
                  </a:txBody>
                  <a:tcPr anchor="ctr"/>
                </a:tc>
                <a:extLst>
                  <a:ext uri="{0D108BD9-81ED-4DB2-BD59-A6C34878D82A}">
                    <a16:rowId xmlns:a16="http://schemas.microsoft.com/office/drawing/2014/main" val="3394893720"/>
                  </a:ext>
                </a:extLst>
              </a:tr>
              <a:tr h="856697">
                <a:tc>
                  <a:txBody>
                    <a:bodyPr/>
                    <a:lstStyle/>
                    <a:p>
                      <a:pPr algn="ctr"/>
                      <a:r>
                        <a:rPr lang="en-US"/>
                        <a:t>Execution</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C</a:t>
                      </a:r>
                    </a:p>
                  </a:txBody>
                  <a:tcPr anchor="ctr"/>
                </a:tc>
                <a:tc>
                  <a:txBody>
                    <a:bodyPr/>
                    <a:lstStyle/>
                    <a:p>
                      <a:pPr lvl="0" algn="ctr">
                        <a:buNone/>
                      </a:pPr>
                      <a:r>
                        <a:rPr lang="en-US"/>
                        <a:t>A/R</a:t>
                      </a:r>
                    </a:p>
                  </a:txBody>
                  <a:tcPr anchor="ctr"/>
                </a:tc>
                <a:extLst>
                  <a:ext uri="{0D108BD9-81ED-4DB2-BD59-A6C34878D82A}">
                    <a16:rowId xmlns:a16="http://schemas.microsoft.com/office/drawing/2014/main" val="1674469276"/>
                  </a:ext>
                </a:extLst>
              </a:tr>
              <a:tr h="856697">
                <a:tc>
                  <a:txBody>
                    <a:bodyPr/>
                    <a:lstStyle/>
                    <a:p>
                      <a:pPr algn="ctr"/>
                      <a:r>
                        <a:rPr lang="en-US"/>
                        <a:t>Controle</a:t>
                      </a:r>
                    </a:p>
                  </a:txBody>
                  <a:tcPr anchor="ctr"/>
                </a:tc>
                <a:tc>
                  <a:txBody>
                    <a:bodyPr/>
                    <a:lstStyle/>
                    <a:p>
                      <a:pPr algn="ctr"/>
                      <a:endParaRPr lang="en-US"/>
                    </a:p>
                  </a:txBody>
                  <a:tcPr anchor="ctr"/>
                </a:tc>
                <a:tc>
                  <a:txBody>
                    <a:bodyPr/>
                    <a:lstStyle/>
                    <a:p>
                      <a:pPr algn="ctr"/>
                      <a:endParaRPr lang="en-US"/>
                    </a:p>
                  </a:txBody>
                  <a:tcPr anchor="ctr"/>
                </a:tc>
                <a:tc>
                  <a:txBody>
                    <a:bodyPr/>
                    <a:lstStyle/>
                    <a:p>
                      <a:pPr algn="ctr"/>
                      <a:r>
                        <a:rPr lang="en-US"/>
                        <a:t>A/R</a:t>
                      </a:r>
                    </a:p>
                  </a:txBody>
                  <a:tcPr anchor="ctr"/>
                </a:tc>
                <a:tc>
                  <a:txBody>
                    <a:bodyPr/>
                    <a:lstStyle/>
                    <a:p>
                      <a:pPr lvl="0" algn="ctr">
                        <a:buNone/>
                      </a:pPr>
                      <a:r>
                        <a:rPr lang="en-US"/>
                        <a:t>I</a:t>
                      </a:r>
                    </a:p>
                  </a:txBody>
                  <a:tcPr anchor="ctr"/>
                </a:tc>
                <a:extLst>
                  <a:ext uri="{0D108BD9-81ED-4DB2-BD59-A6C34878D82A}">
                    <a16:rowId xmlns:a16="http://schemas.microsoft.com/office/drawing/2014/main" val="116097864"/>
                  </a:ext>
                </a:extLst>
              </a:tr>
              <a:tr h="856697">
                <a:tc>
                  <a:txBody>
                    <a:bodyPr/>
                    <a:lstStyle/>
                    <a:p>
                      <a:pPr lvl="0" algn="ctr">
                        <a:buNone/>
                      </a:pPr>
                      <a:r>
                        <a:rPr lang="en-US"/>
                        <a:t>Cloture</a:t>
                      </a:r>
                    </a:p>
                  </a:txBody>
                  <a:tcPr anchor="ctr"/>
                </a:tc>
                <a:tc>
                  <a:txBody>
                    <a:bodyPr/>
                    <a:lstStyle/>
                    <a:p>
                      <a:pPr lvl="0" algn="ctr">
                        <a:buNone/>
                      </a:pPr>
                      <a:r>
                        <a:rPr lang="en-US"/>
                        <a:t>A/R</a:t>
                      </a:r>
                    </a:p>
                  </a:txBody>
                  <a:tcPr anchor="ctr"/>
                </a:tc>
                <a:tc>
                  <a:txBody>
                    <a:bodyPr/>
                    <a:lstStyle/>
                    <a:p>
                      <a:pPr lvl="0" algn="ctr">
                        <a:buNone/>
                      </a:pPr>
                      <a:r>
                        <a:rPr lang="en-US"/>
                        <a:t>R</a:t>
                      </a:r>
                    </a:p>
                  </a:txBody>
                  <a:tcPr anchor="ctr"/>
                </a:tc>
                <a:tc>
                  <a:txBody>
                    <a:bodyPr/>
                    <a:lstStyle/>
                    <a:p>
                      <a:pPr lvl="0" algn="ctr">
                        <a:buNone/>
                      </a:pPr>
                      <a:r>
                        <a:rPr lang="en-US"/>
                        <a:t>R</a:t>
                      </a:r>
                    </a:p>
                  </a:txBody>
                  <a:tcPr anchor="ctr"/>
                </a:tc>
                <a:tc>
                  <a:txBody>
                    <a:bodyPr/>
                    <a:lstStyle/>
                    <a:p>
                      <a:pPr lvl="0" algn="ctr">
                        <a:buNone/>
                      </a:pPr>
                      <a:endParaRPr lang="en-US"/>
                    </a:p>
                  </a:txBody>
                  <a:tcPr anchor="ctr"/>
                </a:tc>
                <a:extLst>
                  <a:ext uri="{0D108BD9-81ED-4DB2-BD59-A6C34878D82A}">
                    <a16:rowId xmlns:a16="http://schemas.microsoft.com/office/drawing/2014/main" val="1855689916"/>
                  </a:ext>
                </a:extLst>
              </a:tr>
            </a:tbl>
          </a:graphicData>
        </a:graphic>
      </p:graphicFrame>
    </p:spTree>
    <p:extLst>
      <p:ext uri="{BB962C8B-B14F-4D97-AF65-F5344CB8AC3E}">
        <p14:creationId xmlns:p14="http://schemas.microsoft.com/office/powerpoint/2010/main" val="3252040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7F02F99D-09EF-E9DB-E649-E23A89E762AD}"/>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D3EFC808-3BD5-E4AA-7563-58129F4CAD26}"/>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EB9B4F43-0AB2-7C62-E968-80A2A092F2D0}"/>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9233C269-BE35-75C7-E58C-8ADFFD9B0D00}"/>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7" name="ZoneTexte 3">
            <a:extLst>
              <a:ext uri="{FF2B5EF4-FFF2-40B4-BE49-F238E27FC236}">
                <a16:creationId xmlns:a16="http://schemas.microsoft.com/office/drawing/2014/main" id="{BC4A836F-30F0-2F6E-97BB-0A09B47EDA6B}"/>
              </a:ext>
            </a:extLst>
          </p:cNvPr>
          <p:cNvSpPr txBox="1"/>
          <p:nvPr/>
        </p:nvSpPr>
        <p:spPr>
          <a:xfrm>
            <a:off x="7825340" y="638353"/>
            <a:ext cx="263731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000" b="1" err="1">
                <a:solidFill>
                  <a:schemeClr val="bg1"/>
                </a:solidFill>
                <a:latin typeface="Titillium Web Semi-Bold" panose="020B0604020202020204" charset="0"/>
                <a:ea typeface="Calibri"/>
                <a:cs typeface="Calibri"/>
              </a:rPr>
              <a:t>MoSCoW</a:t>
            </a:r>
            <a:endParaRPr lang="fr-FR" sz="4000" b="1">
              <a:solidFill>
                <a:schemeClr val="bg1"/>
              </a:solidFill>
              <a:latin typeface="Titillium Web Semi-Bold" panose="020B0604020202020204" charset="0"/>
              <a:ea typeface="Calibri"/>
              <a:cs typeface="Calibri"/>
            </a:endParaRPr>
          </a:p>
        </p:txBody>
      </p:sp>
      <p:graphicFrame>
        <p:nvGraphicFramePr>
          <p:cNvPr id="2" name="Tableau 1">
            <a:extLst>
              <a:ext uri="{FF2B5EF4-FFF2-40B4-BE49-F238E27FC236}">
                <a16:creationId xmlns:a16="http://schemas.microsoft.com/office/drawing/2014/main" id="{833423AD-42F3-5E3E-C22A-F2325C643E05}"/>
              </a:ext>
            </a:extLst>
          </p:cNvPr>
          <p:cNvGraphicFramePr>
            <a:graphicFrameLocks noGrp="1"/>
          </p:cNvGraphicFramePr>
          <p:nvPr>
            <p:extLst>
              <p:ext uri="{D42A27DB-BD31-4B8C-83A1-F6EECF244321}">
                <p14:modId xmlns:p14="http://schemas.microsoft.com/office/powerpoint/2010/main" val="1035983516"/>
              </p:ext>
            </p:extLst>
          </p:nvPr>
        </p:nvGraphicFramePr>
        <p:xfrm>
          <a:off x="273852" y="1623509"/>
          <a:ext cx="17701632" cy="7421318"/>
        </p:xfrm>
        <a:graphic>
          <a:graphicData uri="http://schemas.openxmlformats.org/drawingml/2006/table">
            <a:tbl>
              <a:tblPr firstRow="1" bandRow="1">
                <a:tableStyleId>{073A0DAA-6AF3-43AB-8588-CEC1D06C72B9}</a:tableStyleId>
              </a:tblPr>
              <a:tblGrid>
                <a:gridCol w="4425408">
                  <a:extLst>
                    <a:ext uri="{9D8B030D-6E8A-4147-A177-3AD203B41FA5}">
                      <a16:colId xmlns:a16="http://schemas.microsoft.com/office/drawing/2014/main" val="3903767411"/>
                    </a:ext>
                  </a:extLst>
                </a:gridCol>
                <a:gridCol w="4425408">
                  <a:extLst>
                    <a:ext uri="{9D8B030D-6E8A-4147-A177-3AD203B41FA5}">
                      <a16:colId xmlns:a16="http://schemas.microsoft.com/office/drawing/2014/main" val="4095690308"/>
                    </a:ext>
                  </a:extLst>
                </a:gridCol>
                <a:gridCol w="4425408">
                  <a:extLst>
                    <a:ext uri="{9D8B030D-6E8A-4147-A177-3AD203B41FA5}">
                      <a16:colId xmlns:a16="http://schemas.microsoft.com/office/drawing/2014/main" val="830681183"/>
                    </a:ext>
                  </a:extLst>
                </a:gridCol>
                <a:gridCol w="4425408">
                  <a:extLst>
                    <a:ext uri="{9D8B030D-6E8A-4147-A177-3AD203B41FA5}">
                      <a16:colId xmlns:a16="http://schemas.microsoft.com/office/drawing/2014/main" val="177558613"/>
                    </a:ext>
                  </a:extLst>
                </a:gridCol>
              </a:tblGrid>
              <a:tr h="1294838">
                <a:tc>
                  <a:txBody>
                    <a:bodyPr/>
                    <a:lstStyle/>
                    <a:p>
                      <a:pPr algn="ctr"/>
                      <a:r>
                        <a:rPr lang="fr-FR" sz="4000"/>
                        <a:t>Must Have</a:t>
                      </a:r>
                    </a:p>
                  </a:txBody>
                  <a:tcPr anchor="ctr"/>
                </a:tc>
                <a:tc>
                  <a:txBody>
                    <a:bodyPr/>
                    <a:lstStyle/>
                    <a:p>
                      <a:pPr algn="ctr"/>
                      <a:r>
                        <a:rPr lang="fr-FR" sz="4000" err="1"/>
                        <a:t>Should</a:t>
                      </a:r>
                      <a:r>
                        <a:rPr lang="fr-FR" sz="4000"/>
                        <a:t>-Have</a:t>
                      </a:r>
                    </a:p>
                  </a:txBody>
                  <a:tcPr anchor="ctr"/>
                </a:tc>
                <a:tc>
                  <a:txBody>
                    <a:bodyPr/>
                    <a:lstStyle/>
                    <a:p>
                      <a:pPr algn="ctr"/>
                      <a:r>
                        <a:rPr lang="fr-FR" sz="4000" err="1"/>
                        <a:t>Could</a:t>
                      </a:r>
                      <a:r>
                        <a:rPr lang="fr-FR" sz="4000"/>
                        <a:t>-Have</a:t>
                      </a:r>
                    </a:p>
                  </a:txBody>
                  <a:tcPr anchor="ctr"/>
                </a:tc>
                <a:tc>
                  <a:txBody>
                    <a:bodyPr/>
                    <a:lstStyle/>
                    <a:p>
                      <a:pPr algn="ctr"/>
                      <a:r>
                        <a:rPr lang="fr-FR" sz="4000" err="1"/>
                        <a:t>Won’t-have</a:t>
                      </a:r>
                      <a:endParaRPr lang="fr-FR" sz="4000"/>
                    </a:p>
                  </a:txBody>
                  <a:tcPr anchor="ctr"/>
                </a:tc>
                <a:extLst>
                  <a:ext uri="{0D108BD9-81ED-4DB2-BD59-A6C34878D82A}">
                    <a16:rowId xmlns:a16="http://schemas.microsoft.com/office/drawing/2014/main" val="2551371138"/>
                  </a:ext>
                </a:extLst>
              </a:tr>
              <a:tr h="1294838">
                <a:tc>
                  <a:txBody>
                    <a:bodyPr/>
                    <a:lstStyle/>
                    <a:p>
                      <a:pPr marL="285750" indent="-285750">
                        <a:buFont typeface="Arial" panose="020B0604020202020204" pitchFamily="34" charset="0"/>
                        <a:buChar char="•"/>
                      </a:pPr>
                      <a:r>
                        <a:rPr lang="fr-FR"/>
                        <a:t>Animation des ateliers de cadrage</a:t>
                      </a:r>
                    </a:p>
                    <a:p>
                      <a:pPr marL="285750" indent="-285750">
                        <a:buFont typeface="Arial" panose="020B0604020202020204" pitchFamily="34" charset="0"/>
                        <a:buChar char="•"/>
                      </a:pPr>
                      <a:r>
                        <a:rPr lang="fr-FR"/>
                        <a:t>Recueil des besoins métiers</a:t>
                      </a:r>
                    </a:p>
                    <a:p>
                      <a:pPr marL="285750" indent="-285750">
                        <a:buFont typeface="Arial" panose="020B0604020202020204" pitchFamily="34" charset="0"/>
                        <a:buChar char="•"/>
                      </a:pPr>
                      <a:r>
                        <a:rPr lang="fr-FR"/>
                        <a:t>Rédaction du cahier des charges</a:t>
                      </a:r>
                    </a:p>
                    <a:p>
                      <a:pPr marL="285750" indent="-285750">
                        <a:buFont typeface="Arial" panose="020B0604020202020204" pitchFamily="34" charset="0"/>
                        <a:buChar char="•"/>
                      </a:pPr>
                      <a:r>
                        <a:rPr lang="fr-FR"/>
                        <a:t>Étude de faisabilité technique</a:t>
                      </a:r>
                    </a:p>
                    <a:p>
                      <a:pPr marL="285750" indent="-285750">
                        <a:buFont typeface="Arial" panose="020B0604020202020204" pitchFamily="34" charset="0"/>
                        <a:buChar char="•"/>
                      </a:pPr>
                      <a:r>
                        <a:rPr lang="fr-FR"/>
                        <a:t>Définition de l’architecture technique préliminaire</a:t>
                      </a:r>
                    </a:p>
                    <a:p>
                      <a:pPr marL="285750" indent="-285750">
                        <a:buFont typeface="Arial" panose="020B0604020202020204" pitchFamily="34" charset="0"/>
                        <a:buChar char="•"/>
                      </a:pPr>
                      <a:r>
                        <a:rPr lang="fr-FR"/>
                        <a:t>Préparation du plan projet</a:t>
                      </a:r>
                    </a:p>
                    <a:p>
                      <a:pPr marL="285750" indent="-285750">
                        <a:buFont typeface="Arial" panose="020B0604020202020204" pitchFamily="34" charset="0"/>
                        <a:buChar char="•"/>
                      </a:pPr>
                      <a:r>
                        <a:rPr lang="fr-FR"/>
                        <a:t>Gestion des risques initiaux et priorisation</a:t>
                      </a:r>
                    </a:p>
                    <a:p>
                      <a:pPr marL="285750" indent="-285750">
                        <a:buFont typeface="Arial" panose="020B0604020202020204" pitchFamily="34" charset="0"/>
                        <a:buChar char="•"/>
                      </a:pPr>
                      <a:r>
                        <a:rPr lang="fr-FR"/>
                        <a:t>Gérer les aléas et problématiques du projet</a:t>
                      </a:r>
                    </a:p>
                    <a:p>
                      <a:pPr marL="285750" indent="-285750">
                        <a:buFont typeface="Arial" panose="020B0604020202020204" pitchFamily="34" charset="0"/>
                        <a:buChar char="•"/>
                      </a:pPr>
                      <a:r>
                        <a:rPr lang="fr-FR"/>
                        <a:t>Réalisation d’un WBS détaillé et suivi</a:t>
                      </a:r>
                    </a:p>
                    <a:p>
                      <a:pPr marL="285750" indent="-285750">
                        <a:buFont typeface="Arial" panose="020B0604020202020204" pitchFamily="34" charset="0"/>
                        <a:buChar char="•"/>
                      </a:pPr>
                      <a:r>
                        <a:rPr lang="fr-FR"/>
                        <a:t>Élaboration d’un planning de charge (répartition des tâches) et suivi</a:t>
                      </a:r>
                    </a:p>
                    <a:p>
                      <a:pPr marL="285750" indent="-285750">
                        <a:buFont typeface="Arial" panose="020B0604020202020204" pitchFamily="34" charset="0"/>
                        <a:buChar char="•"/>
                      </a:pPr>
                      <a:r>
                        <a:rPr lang="fr-FR"/>
                        <a:t>Création du réseau PERT pour identifier le chemin critique et suivi</a:t>
                      </a:r>
                    </a:p>
                    <a:p>
                      <a:pPr marL="285750" indent="-285750">
                        <a:buFont typeface="Arial" panose="020B0604020202020204" pitchFamily="34" charset="0"/>
                        <a:buChar char="•"/>
                      </a:pPr>
                      <a:r>
                        <a:rPr lang="fr-FR"/>
                        <a:t>Validation des spécifications techniques avec le client</a:t>
                      </a:r>
                    </a:p>
                    <a:p>
                      <a:pPr marL="285750" indent="-285750">
                        <a:buFont typeface="Arial" panose="020B0604020202020204" pitchFamily="34" charset="0"/>
                        <a:buChar char="•"/>
                      </a:pPr>
                      <a:r>
                        <a:rPr lang="fr-FR"/>
                        <a:t>Préparer / Animer les comités de suivi</a:t>
                      </a:r>
                    </a:p>
                    <a:p>
                      <a:pPr marL="285750" indent="-285750">
                        <a:buFont typeface="Arial" panose="020B0604020202020204" pitchFamily="34" charset="0"/>
                        <a:buChar char="•"/>
                      </a:pPr>
                      <a:r>
                        <a:rPr lang="fr-FR"/>
                        <a:t>Préparer, suivre, présenter les indicateurs de performance</a:t>
                      </a:r>
                    </a:p>
                    <a:p>
                      <a:pPr marL="285750" indent="-285750">
                        <a:buFont typeface="Arial" panose="020B0604020202020204" pitchFamily="34" charset="0"/>
                        <a:buChar char="•"/>
                      </a:pPr>
                      <a:r>
                        <a:rPr lang="fr-FR"/>
                        <a:t>Recette avec le client</a:t>
                      </a:r>
                    </a:p>
                    <a:p>
                      <a:pPr marL="285750" indent="-285750">
                        <a:buFont typeface="Arial" panose="020B0604020202020204" pitchFamily="34" charset="0"/>
                        <a:buChar char="•"/>
                      </a:pPr>
                      <a:r>
                        <a:rPr lang="fr-FR"/>
                        <a:t>Gérer la communication lors du projet</a:t>
                      </a:r>
                    </a:p>
                  </a:txBody>
                  <a:tcPr>
                    <a:solidFill>
                      <a:schemeClr val="tx2">
                        <a:lumMod val="20000"/>
                        <a:lumOff val="80000"/>
                      </a:schemeClr>
                    </a:solidFill>
                  </a:tcPr>
                </a:tc>
                <a:tc>
                  <a:txBody>
                    <a:bodyPr/>
                    <a:lstStyle/>
                    <a:p>
                      <a:pPr marL="285750" indent="-285750">
                        <a:buFont typeface="Arial" panose="020B0604020202020204" pitchFamily="34" charset="0"/>
                        <a:buChar char="•"/>
                      </a:pPr>
                      <a:r>
                        <a:rPr lang="fr-FR"/>
                        <a:t>Étude d’opportunité : analyse des bénéfices métiers (WSOT, PESTEL, PORTER)</a:t>
                      </a:r>
                    </a:p>
                    <a:p>
                      <a:pPr marL="285750" indent="-285750">
                        <a:buFont typeface="Arial" panose="020B0604020202020204" pitchFamily="34" charset="0"/>
                        <a:buChar char="•"/>
                      </a:pPr>
                      <a:r>
                        <a:rPr lang="fr-FR"/>
                        <a:t>Capter les retours opérationnels et les présenter au client</a:t>
                      </a:r>
                    </a:p>
                    <a:p>
                      <a:pPr marL="285750" indent="-285750">
                        <a:buFont typeface="Arial" panose="020B0604020202020204" pitchFamily="34" charset="0"/>
                        <a:buChar char="•"/>
                      </a:pPr>
                      <a:r>
                        <a:rPr lang="fr-FR"/>
                        <a:t>Gérer les fournisseurs</a:t>
                      </a:r>
                    </a:p>
                    <a:p>
                      <a:pPr marL="285750" indent="-285750">
                        <a:buFont typeface="Arial" panose="020B0604020202020204" pitchFamily="34" charset="0"/>
                        <a:buChar char="•"/>
                      </a:pPr>
                      <a:r>
                        <a:rPr lang="fr-FR"/>
                        <a:t>Identification et sélection des outils nécessaires</a:t>
                      </a:r>
                    </a:p>
                    <a:p>
                      <a:pPr marL="285750" indent="-285750">
                        <a:buFont typeface="Arial" panose="020B0604020202020204" pitchFamily="34" charset="0"/>
                        <a:buChar char="•"/>
                      </a:pPr>
                      <a:r>
                        <a:rPr lang="fr-FR"/>
                        <a:t>Plan de conception d'un POC</a:t>
                      </a:r>
                    </a:p>
                    <a:p>
                      <a:pPr marL="285750" indent="-285750">
                        <a:buFont typeface="Arial" panose="020B0604020202020204" pitchFamily="34" charset="0"/>
                        <a:buChar char="•"/>
                      </a:pPr>
                      <a:r>
                        <a:rPr lang="fr-FR"/>
                        <a:t>Créer la matrice de compétences et suivre les compétences</a:t>
                      </a:r>
                    </a:p>
                    <a:p>
                      <a:pPr marL="285750" indent="-285750">
                        <a:buFont typeface="Arial" panose="020B0604020202020204" pitchFamily="34" charset="0"/>
                        <a:buChar char="•"/>
                      </a:pPr>
                      <a:r>
                        <a:rPr lang="fr-FR"/>
                        <a:t>Sourcer les profils opérants</a:t>
                      </a:r>
                    </a:p>
                    <a:p>
                      <a:pPr marL="285750" indent="-285750">
                        <a:buFont typeface="Arial" panose="020B0604020202020204" pitchFamily="34" charset="0"/>
                        <a:buChar char="•"/>
                      </a:pPr>
                      <a:r>
                        <a:rPr lang="fr-FR"/>
                        <a:t>Préparer les tableaux de bord communs</a:t>
                      </a:r>
                    </a:p>
                    <a:p>
                      <a:pPr marL="285750" indent="-285750">
                        <a:buFont typeface="Arial" panose="020B0604020202020204" pitchFamily="34" charset="0"/>
                        <a:buChar char="•"/>
                      </a:pPr>
                      <a:r>
                        <a:rPr lang="fr-FR"/>
                        <a:t>Préparer la structure des rapports flash</a:t>
                      </a:r>
                    </a:p>
                    <a:p>
                      <a:pPr marL="285750" indent="-285750">
                        <a:buFont typeface="Arial" panose="020B0604020202020204" pitchFamily="34" charset="0"/>
                        <a:buChar char="•"/>
                      </a:pPr>
                      <a:r>
                        <a:rPr lang="fr-FR"/>
                        <a:t>Préparer les rapports flash</a:t>
                      </a:r>
                    </a:p>
                    <a:p>
                      <a:endParaRPr lang="fr-FR"/>
                    </a:p>
                  </a:txBody>
                  <a:tcPr>
                    <a:solidFill>
                      <a:schemeClr val="accent2">
                        <a:lumMod val="20000"/>
                        <a:lumOff val="80000"/>
                      </a:schemeClr>
                    </a:solidFill>
                  </a:tcPr>
                </a:tc>
                <a:tc>
                  <a:txBody>
                    <a:bodyPr/>
                    <a:lstStyle/>
                    <a:p>
                      <a:pPr marL="285750" indent="-285750">
                        <a:buFont typeface="Arial" panose="020B0604020202020204" pitchFamily="34" charset="0"/>
                        <a:buChar char="•"/>
                      </a:pPr>
                      <a:r>
                        <a:rPr lang="fr-FR"/>
                        <a:t>Préparer la documentation centralisée de gestion des outils</a:t>
                      </a:r>
                    </a:p>
                    <a:p>
                      <a:pPr marL="285750" indent="-285750">
                        <a:buFont typeface="Arial" panose="020B0604020202020204" pitchFamily="34" charset="0"/>
                        <a:buChar char="•"/>
                      </a:pPr>
                      <a:r>
                        <a:rPr lang="fr-FR"/>
                        <a:t>Cadrer les rapports</a:t>
                      </a:r>
                    </a:p>
                    <a:p>
                      <a:pPr marL="285750" indent="-285750">
                        <a:buFont typeface="Arial" panose="020B0604020202020204" pitchFamily="34" charset="0"/>
                        <a:buChar char="•"/>
                      </a:pPr>
                      <a:r>
                        <a:rPr lang="fr-FR"/>
                        <a:t>Préparer la documentation centralisée de gestion des outils</a:t>
                      </a:r>
                    </a:p>
                    <a:p>
                      <a:endParaRPr lang="fr-FR"/>
                    </a:p>
                  </a:txBody>
                  <a:tcPr>
                    <a:solidFill>
                      <a:schemeClr val="accent5">
                        <a:lumMod val="20000"/>
                        <a:lumOff val="80000"/>
                      </a:schemeClr>
                    </a:solidFill>
                  </a:tcPr>
                </a:tc>
                <a:tc>
                  <a:txBody>
                    <a:bodyPr/>
                    <a:lstStyle/>
                    <a:p>
                      <a:endParaRPr lang="fr-FR"/>
                    </a:p>
                  </a:txBody>
                  <a:tcPr>
                    <a:solidFill>
                      <a:schemeClr val="accent6">
                        <a:lumMod val="20000"/>
                        <a:lumOff val="80000"/>
                      </a:schemeClr>
                    </a:solidFill>
                  </a:tcPr>
                </a:tc>
                <a:extLst>
                  <a:ext uri="{0D108BD9-81ED-4DB2-BD59-A6C34878D82A}">
                    <a16:rowId xmlns:a16="http://schemas.microsoft.com/office/drawing/2014/main" val="1603263215"/>
                  </a:ext>
                </a:extLst>
              </a:tr>
            </a:tbl>
          </a:graphicData>
        </a:graphic>
      </p:graphicFrame>
    </p:spTree>
    <p:extLst>
      <p:ext uri="{BB962C8B-B14F-4D97-AF65-F5344CB8AC3E}">
        <p14:creationId xmlns:p14="http://schemas.microsoft.com/office/powerpoint/2010/main" val="3452166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6DF7B461-D1BD-6056-00DE-0AD30CB6D04D}"/>
            </a:ext>
          </a:extLst>
        </p:cNvPr>
        <p:cNvGrpSpPr/>
        <p:nvPr/>
      </p:nvGrpSpPr>
      <p:grpSpPr>
        <a:xfrm>
          <a:off x="0" y="0"/>
          <a:ext cx="0" cy="0"/>
          <a:chOff x="0" y="0"/>
          <a:chExt cx="0" cy="0"/>
        </a:xfrm>
      </p:grpSpPr>
      <p:grpSp>
        <p:nvGrpSpPr>
          <p:cNvPr id="12" name="Group 12">
            <a:extLst>
              <a:ext uri="{FF2B5EF4-FFF2-40B4-BE49-F238E27FC236}">
                <a16:creationId xmlns:a16="http://schemas.microsoft.com/office/drawing/2014/main" id="{67EB46C6-7254-6D7A-AF6A-1D471D1E74EE}"/>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2A002B52-112E-65AE-3288-52940B4AFCD6}"/>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990E68AE-75FE-0E27-C647-5A37D80005F1}"/>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7" name="ZoneTexte 3">
            <a:extLst>
              <a:ext uri="{FF2B5EF4-FFF2-40B4-BE49-F238E27FC236}">
                <a16:creationId xmlns:a16="http://schemas.microsoft.com/office/drawing/2014/main" id="{C4F3E199-1965-A75C-E7EA-006BACF722B5}"/>
              </a:ext>
            </a:extLst>
          </p:cNvPr>
          <p:cNvSpPr txBox="1"/>
          <p:nvPr/>
        </p:nvSpPr>
        <p:spPr>
          <a:xfrm>
            <a:off x="8381780" y="642546"/>
            <a:ext cx="152444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4000" b="1">
                <a:solidFill>
                  <a:schemeClr val="bg1"/>
                </a:solidFill>
                <a:latin typeface="Titillium Web Semi-Bold" panose="020B0604020202020204" charset="0"/>
                <a:ea typeface="Calibri"/>
                <a:cs typeface="Calibri"/>
              </a:rPr>
              <a:t>WBS</a:t>
            </a:r>
          </a:p>
        </p:txBody>
      </p:sp>
      <p:pic>
        <p:nvPicPr>
          <p:cNvPr id="6" name="Image 5" descr="Une image contenant capture d’écran, texte, conception&#10;&#10;Le contenu généré par l’IA peut être incorrect.">
            <a:extLst>
              <a:ext uri="{FF2B5EF4-FFF2-40B4-BE49-F238E27FC236}">
                <a16:creationId xmlns:a16="http://schemas.microsoft.com/office/drawing/2014/main" id="{C75E9F76-04C8-887C-EC83-545588581B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3580" y="1340187"/>
            <a:ext cx="7493947" cy="8669721"/>
          </a:xfrm>
          <a:prstGeom prst="rect">
            <a:avLst/>
          </a:prstGeom>
        </p:spPr>
      </p:pic>
    </p:spTree>
    <p:extLst>
      <p:ext uri="{BB962C8B-B14F-4D97-AF65-F5344CB8AC3E}">
        <p14:creationId xmlns:p14="http://schemas.microsoft.com/office/powerpoint/2010/main" val="19006729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463E8060-9331-2CF6-7041-84FC00E22D66}"/>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35249975-5CA0-7FFE-D1F2-D7C0F47C7854}"/>
              </a:ext>
            </a:extLst>
          </p:cNvPr>
          <p:cNvSpPr txBox="1"/>
          <p:nvPr/>
        </p:nvSpPr>
        <p:spPr>
          <a:xfrm>
            <a:off x="3374044" y="4376"/>
            <a:ext cx="10726750" cy="1000274"/>
          </a:xfrm>
          <a:prstGeom prst="rect">
            <a:avLst/>
          </a:prstGeom>
        </p:spPr>
        <p:txBody>
          <a:bodyPr wrap="square" lIns="0" tIns="0" rIns="0" bIns="0" rtlCol="0" anchor="t">
            <a:spAutoFit/>
          </a:bodyPr>
          <a:lstStyle/>
          <a:p>
            <a:pPr algn="ctr">
              <a:lnSpc>
                <a:spcPts val="7800"/>
              </a:lnSpc>
            </a:pPr>
            <a:r>
              <a:rPr lang="en-US" sz="6500">
                <a:solidFill>
                  <a:srgbClr val="FFF8ED"/>
                </a:solidFill>
                <a:ea typeface="Calibri"/>
                <a:cs typeface="Calibri"/>
              </a:rPr>
              <a:t>MATRICE RACI-WBS</a:t>
            </a:r>
          </a:p>
        </p:txBody>
      </p:sp>
      <p:grpSp>
        <p:nvGrpSpPr>
          <p:cNvPr id="12" name="Group 12">
            <a:extLst>
              <a:ext uri="{FF2B5EF4-FFF2-40B4-BE49-F238E27FC236}">
                <a16:creationId xmlns:a16="http://schemas.microsoft.com/office/drawing/2014/main" id="{9ABA4DC1-E6E9-80B7-3A6C-B65AA6F5F9C4}"/>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B5243C4E-3BE2-DF42-A4B9-B3C45F4391BA}"/>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0127E01F-0F44-1542-0434-8FCD40C0F724}"/>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graphicFrame>
        <p:nvGraphicFramePr>
          <p:cNvPr id="2" name="Tableau 1">
            <a:extLst>
              <a:ext uri="{FF2B5EF4-FFF2-40B4-BE49-F238E27FC236}">
                <a16:creationId xmlns:a16="http://schemas.microsoft.com/office/drawing/2014/main" id="{994E7B46-7A83-A487-C0A0-3BCAFD089AAD}"/>
              </a:ext>
            </a:extLst>
          </p:cNvPr>
          <p:cNvGraphicFramePr>
            <a:graphicFrameLocks noGrp="1"/>
          </p:cNvGraphicFramePr>
          <p:nvPr>
            <p:extLst>
              <p:ext uri="{D42A27DB-BD31-4B8C-83A1-F6EECF244321}">
                <p14:modId xmlns:p14="http://schemas.microsoft.com/office/powerpoint/2010/main" val="3635757097"/>
              </p:ext>
            </p:extLst>
          </p:nvPr>
        </p:nvGraphicFramePr>
        <p:xfrm>
          <a:off x="124691" y="1304721"/>
          <a:ext cx="17997056" cy="7239000"/>
        </p:xfrm>
        <a:graphic>
          <a:graphicData uri="http://schemas.openxmlformats.org/drawingml/2006/table">
            <a:tbl>
              <a:tblPr firstRow="1" bandRow="1">
                <a:tableStyleId>{073A0DAA-6AF3-43AB-8588-CEC1D06C72B9}</a:tableStyleId>
              </a:tblPr>
              <a:tblGrid>
                <a:gridCol w="2571008">
                  <a:extLst>
                    <a:ext uri="{9D8B030D-6E8A-4147-A177-3AD203B41FA5}">
                      <a16:colId xmlns:a16="http://schemas.microsoft.com/office/drawing/2014/main" val="2345388808"/>
                    </a:ext>
                  </a:extLst>
                </a:gridCol>
                <a:gridCol w="2571008">
                  <a:extLst>
                    <a:ext uri="{9D8B030D-6E8A-4147-A177-3AD203B41FA5}">
                      <a16:colId xmlns:a16="http://schemas.microsoft.com/office/drawing/2014/main" val="1719510299"/>
                    </a:ext>
                  </a:extLst>
                </a:gridCol>
                <a:gridCol w="2571008">
                  <a:extLst>
                    <a:ext uri="{9D8B030D-6E8A-4147-A177-3AD203B41FA5}">
                      <a16:colId xmlns:a16="http://schemas.microsoft.com/office/drawing/2014/main" val="1713935981"/>
                    </a:ext>
                  </a:extLst>
                </a:gridCol>
                <a:gridCol w="2571008">
                  <a:extLst>
                    <a:ext uri="{9D8B030D-6E8A-4147-A177-3AD203B41FA5}">
                      <a16:colId xmlns:a16="http://schemas.microsoft.com/office/drawing/2014/main" val="1022717434"/>
                    </a:ext>
                  </a:extLst>
                </a:gridCol>
                <a:gridCol w="2571008">
                  <a:extLst>
                    <a:ext uri="{9D8B030D-6E8A-4147-A177-3AD203B41FA5}">
                      <a16:colId xmlns:a16="http://schemas.microsoft.com/office/drawing/2014/main" val="3731961720"/>
                    </a:ext>
                  </a:extLst>
                </a:gridCol>
                <a:gridCol w="2571008">
                  <a:extLst>
                    <a:ext uri="{9D8B030D-6E8A-4147-A177-3AD203B41FA5}">
                      <a16:colId xmlns:a16="http://schemas.microsoft.com/office/drawing/2014/main" val="2848663024"/>
                    </a:ext>
                  </a:extLst>
                </a:gridCol>
                <a:gridCol w="2571008">
                  <a:extLst>
                    <a:ext uri="{9D8B030D-6E8A-4147-A177-3AD203B41FA5}">
                      <a16:colId xmlns:a16="http://schemas.microsoft.com/office/drawing/2014/main" val="3217215878"/>
                    </a:ext>
                  </a:extLst>
                </a:gridCol>
              </a:tblGrid>
              <a:tr h="226703">
                <a:tc>
                  <a:txBody>
                    <a:bodyPr/>
                    <a:lstStyle/>
                    <a:p>
                      <a:pPr lvl="0" algn="ctr">
                        <a:buNone/>
                      </a:pPr>
                      <a:endParaRPr lang="en-US" sz="1100"/>
                    </a:p>
                  </a:txBody>
                  <a:tcPr anchor="ctr">
                    <a:solidFill>
                      <a:schemeClr val="bg1">
                        <a:lumMod val="50000"/>
                      </a:schemeClr>
                    </a:solidFill>
                  </a:tcPr>
                </a:tc>
                <a:tc>
                  <a:txBody>
                    <a:bodyPr/>
                    <a:lstStyle/>
                    <a:p>
                      <a:pPr algn="ctr"/>
                      <a:r>
                        <a:rPr lang="en-US" sz="1100"/>
                        <a:t>Sponsor client</a:t>
                      </a:r>
                    </a:p>
                  </a:txBody>
                  <a:tcPr anchor="ctr"/>
                </a:tc>
                <a:tc>
                  <a:txBody>
                    <a:bodyPr/>
                    <a:lstStyle/>
                    <a:p>
                      <a:pPr algn="ctr"/>
                      <a:r>
                        <a:rPr lang="en-US" sz="1100"/>
                        <a:t>Client</a:t>
                      </a:r>
                    </a:p>
                  </a:txBody>
                  <a:tcPr anchor="ctr"/>
                </a:tc>
                <a:tc>
                  <a:txBody>
                    <a:bodyPr/>
                    <a:lstStyle/>
                    <a:p>
                      <a:pPr algn="ctr"/>
                      <a:r>
                        <a:rPr lang="en-US" sz="1100"/>
                        <a:t>Chef de </a:t>
                      </a:r>
                      <a:r>
                        <a:rPr lang="en-US" sz="1100" err="1"/>
                        <a:t>projet</a:t>
                      </a:r>
                      <a:endParaRPr lang="en-US" sz="1100"/>
                    </a:p>
                  </a:txBody>
                  <a:tcPr anchor="ctr"/>
                </a:tc>
                <a:tc>
                  <a:txBody>
                    <a:bodyPr/>
                    <a:lstStyle/>
                    <a:p>
                      <a:pPr lvl="0" algn="ctr">
                        <a:buNone/>
                      </a:pPr>
                      <a:r>
                        <a:rPr lang="en-US" sz="1100"/>
                        <a:t>MOA</a:t>
                      </a:r>
                    </a:p>
                  </a:txBody>
                  <a:tcPr anchor="ctr"/>
                </a:tc>
                <a:tc>
                  <a:txBody>
                    <a:bodyPr/>
                    <a:lstStyle/>
                    <a:p>
                      <a:pPr lvl="0" algn="ctr">
                        <a:buNone/>
                      </a:pPr>
                      <a:r>
                        <a:rPr lang="en-US" sz="1100"/>
                        <a:t>MOE</a:t>
                      </a:r>
                    </a:p>
                  </a:txBody>
                  <a:tcPr anchor="ctr"/>
                </a:tc>
                <a:tc>
                  <a:txBody>
                    <a:bodyPr/>
                    <a:lstStyle/>
                    <a:p>
                      <a:pPr lvl="0" algn="ctr">
                        <a:buNone/>
                      </a:pPr>
                      <a:r>
                        <a:rPr lang="en-US" sz="1100"/>
                        <a:t>PMO</a:t>
                      </a:r>
                    </a:p>
                  </a:txBody>
                  <a:tcPr anchor="ctr"/>
                </a:tc>
                <a:extLst>
                  <a:ext uri="{0D108BD9-81ED-4DB2-BD59-A6C34878D82A}">
                    <a16:rowId xmlns:a16="http://schemas.microsoft.com/office/drawing/2014/main" val="4166911666"/>
                  </a:ext>
                </a:extLst>
              </a:tr>
              <a:tr h="127959">
                <a:tc>
                  <a:txBody>
                    <a:bodyPr/>
                    <a:lstStyle/>
                    <a:p>
                      <a:pPr algn="ctr"/>
                      <a:r>
                        <a:rPr lang="en-US" sz="1100"/>
                        <a:t>Avant-</a:t>
                      </a:r>
                      <a:r>
                        <a:rPr lang="en-US" sz="1100" err="1"/>
                        <a:t>projet</a:t>
                      </a:r>
                      <a:endParaRPr lang="en-US" sz="1100"/>
                    </a:p>
                  </a:txBody>
                  <a:tcPr anchor="ctr">
                    <a:solidFill>
                      <a:srgbClr val="CBCBCB"/>
                    </a:solidFill>
                  </a:tcPr>
                </a:tc>
                <a:tc>
                  <a:txBody>
                    <a:bodyPr/>
                    <a:lstStyle/>
                    <a:p>
                      <a:pPr algn="ctr"/>
                      <a:endParaRPr lang="en-US" sz="1100"/>
                    </a:p>
                  </a:txBody>
                  <a:tcPr anchor="ctr"/>
                </a:tc>
                <a:tc>
                  <a:txBody>
                    <a:bodyPr/>
                    <a:lstStyle/>
                    <a:p>
                      <a:pPr algn="ctr"/>
                      <a:endParaRPr lang="en-US" sz="1100"/>
                    </a:p>
                  </a:txBody>
                  <a:tcPr anchor="ctr"/>
                </a:tc>
                <a:tc>
                  <a:txBody>
                    <a:bodyPr/>
                    <a:lstStyle/>
                    <a:p>
                      <a:pPr algn="ctr"/>
                      <a:endParaRPr lang="en-US" sz="1100"/>
                    </a:p>
                  </a:txBody>
                  <a:tcPr anchor="ctr"/>
                </a:tc>
                <a:tc>
                  <a:txBody>
                    <a:bodyPr/>
                    <a:lstStyle/>
                    <a:p>
                      <a:pPr lvl="0" algn="ctr">
                        <a:buNone/>
                      </a:pPr>
                      <a:endParaRPr lang="en-US" sz="1100"/>
                    </a:p>
                  </a:txBody>
                  <a:tcPr anchor="ctr"/>
                </a:tc>
                <a:tc>
                  <a:txBody>
                    <a:bodyPr/>
                    <a:lstStyle/>
                    <a:p>
                      <a:pPr lvl="0" algn="ctr">
                        <a:buNone/>
                      </a:pPr>
                      <a:endParaRPr lang="en-US" sz="1100"/>
                    </a:p>
                  </a:txBody>
                  <a:tcPr anchor="ctr"/>
                </a:tc>
                <a:tc>
                  <a:txBody>
                    <a:bodyPr/>
                    <a:lstStyle/>
                    <a:p>
                      <a:pPr lvl="0" algn="ctr">
                        <a:buNone/>
                      </a:pPr>
                      <a:endParaRPr lang="en-US" sz="1100"/>
                    </a:p>
                  </a:txBody>
                  <a:tcPr anchor="ctr"/>
                </a:tc>
                <a:extLst>
                  <a:ext uri="{0D108BD9-81ED-4DB2-BD59-A6C34878D82A}">
                    <a16:rowId xmlns:a16="http://schemas.microsoft.com/office/drawing/2014/main" val="2071777146"/>
                  </a:ext>
                </a:extLst>
              </a:tr>
              <a:tr h="127959">
                <a:tc>
                  <a:txBody>
                    <a:bodyPr/>
                    <a:lstStyle/>
                    <a:p>
                      <a:pPr marL="285750" indent="-285750" algn="l">
                        <a:buFont typeface="Arial" panose="020B0604020202020204" pitchFamily="34" charset="0"/>
                        <a:buChar char="•"/>
                      </a:pPr>
                      <a:r>
                        <a:rPr lang="en-US" sz="1100"/>
                        <a:t>Rapport de </a:t>
                      </a:r>
                      <a:r>
                        <a:rPr lang="en-US" sz="1100" err="1"/>
                        <a:t>faisabilité</a:t>
                      </a:r>
                      <a:r>
                        <a:rPr lang="en-US" sz="1100"/>
                        <a:t> technique</a:t>
                      </a:r>
                    </a:p>
                  </a:txBody>
                  <a:tcPr anchor="ctr">
                    <a:solidFill>
                      <a:schemeClr val="bg1">
                        <a:lumMod val="95000"/>
                      </a:schemeClr>
                    </a:solidFill>
                  </a:tcPr>
                </a:tc>
                <a:tc>
                  <a:txBody>
                    <a:bodyPr/>
                    <a:lstStyle/>
                    <a:p>
                      <a:pPr algn="ctr"/>
                      <a:endParaRPr lang="en-US" sz="1100"/>
                    </a:p>
                  </a:txBody>
                  <a:tcPr anchor="ctr">
                    <a:solidFill>
                      <a:schemeClr val="bg1">
                        <a:lumMod val="95000"/>
                      </a:schemeClr>
                    </a:solidFill>
                  </a:tcPr>
                </a:tc>
                <a:tc>
                  <a:txBody>
                    <a:bodyPr/>
                    <a:lstStyle/>
                    <a:p>
                      <a:pPr algn="ctr"/>
                      <a:endParaRPr lang="en-US" sz="1100"/>
                    </a:p>
                  </a:txBody>
                  <a:tcPr anchor="ctr">
                    <a:solidFill>
                      <a:schemeClr val="bg1">
                        <a:lumMod val="95000"/>
                      </a:schemeClr>
                    </a:solidFill>
                  </a:tcPr>
                </a:tc>
                <a:tc>
                  <a:txBody>
                    <a:bodyPr/>
                    <a:lstStyle/>
                    <a:p>
                      <a:pPr algn="ctr"/>
                      <a:r>
                        <a:rPr lang="en-US" sz="1100"/>
                        <a:t>A</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2735630206"/>
                  </a:ext>
                </a:extLst>
              </a:tr>
              <a:tr h="127959">
                <a:tc>
                  <a:txBody>
                    <a:bodyPr/>
                    <a:lstStyle/>
                    <a:p>
                      <a:pPr marL="285750" indent="-285750" algn="l">
                        <a:buFont typeface="Arial" panose="020B0604020202020204" pitchFamily="34" charset="0"/>
                        <a:buChar char="•"/>
                      </a:pPr>
                      <a:r>
                        <a:rPr lang="en-US" sz="1100"/>
                        <a:t>Rapport </a:t>
                      </a:r>
                      <a:r>
                        <a:rPr lang="en-US" sz="1100" err="1"/>
                        <a:t>d’opportunité</a:t>
                      </a:r>
                      <a:endParaRPr lang="en-US" sz="1100"/>
                    </a:p>
                  </a:txBody>
                  <a:tcPr anchor="ctr">
                    <a:solidFill>
                      <a:schemeClr val="bg1">
                        <a:lumMod val="95000"/>
                      </a:schemeClr>
                    </a:solidFill>
                  </a:tcPr>
                </a:tc>
                <a:tc>
                  <a:txBody>
                    <a:bodyPr/>
                    <a:lstStyle/>
                    <a:p>
                      <a:pPr algn="ctr"/>
                      <a:r>
                        <a:rPr lang="en-US" sz="1100"/>
                        <a:t>C</a:t>
                      </a:r>
                    </a:p>
                  </a:txBody>
                  <a:tcPr anchor="ctr">
                    <a:solidFill>
                      <a:schemeClr val="bg1">
                        <a:lumMod val="95000"/>
                      </a:schemeClr>
                    </a:solidFill>
                  </a:tcPr>
                </a:tc>
                <a:tc>
                  <a:txBody>
                    <a:bodyPr/>
                    <a:lstStyle/>
                    <a:p>
                      <a:pPr algn="ctr"/>
                      <a:r>
                        <a:rPr lang="en-US" sz="1100"/>
                        <a:t>A</a:t>
                      </a:r>
                    </a:p>
                  </a:txBody>
                  <a:tcPr anchor="ctr">
                    <a:solidFill>
                      <a:schemeClr val="bg1">
                        <a:lumMod val="95000"/>
                      </a:schemeClr>
                    </a:solidFill>
                  </a:tcPr>
                </a:tc>
                <a:tc>
                  <a:txBody>
                    <a:bodyPr/>
                    <a:lstStyle/>
                    <a:p>
                      <a:pPr algn="ct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2350698776"/>
                  </a:ext>
                </a:extLst>
              </a:tr>
              <a:tr h="127959">
                <a:tc>
                  <a:txBody>
                    <a:bodyPr/>
                    <a:lstStyle/>
                    <a:p>
                      <a:pPr algn="ctr"/>
                      <a:r>
                        <a:rPr lang="en-US" sz="1100" err="1"/>
                        <a:t>Initialisation</a:t>
                      </a: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extLst>
                  <a:ext uri="{0D108BD9-81ED-4DB2-BD59-A6C34878D82A}">
                    <a16:rowId xmlns:a16="http://schemas.microsoft.com/office/drawing/2014/main" val="3014488255"/>
                  </a:ext>
                </a:extLst>
              </a:tr>
              <a:tr h="127959">
                <a:tc>
                  <a:txBody>
                    <a:bodyPr/>
                    <a:lstStyle/>
                    <a:p>
                      <a:pPr marL="171450" indent="-171450" algn="l">
                        <a:buFont typeface="Arial" panose="020B0604020202020204" pitchFamily="34" charset="0"/>
                        <a:buChar char="•"/>
                      </a:pPr>
                      <a:r>
                        <a:rPr lang="en-US" sz="1100"/>
                        <a:t>Note de </a:t>
                      </a:r>
                      <a:r>
                        <a:rPr lang="en-US" sz="1100" err="1"/>
                        <a:t>cadrage</a:t>
                      </a:r>
                      <a:r>
                        <a:rPr lang="en-US" sz="1100"/>
                        <a:t> </a:t>
                      </a:r>
                      <a:r>
                        <a:rPr lang="en-US" sz="1100" err="1"/>
                        <a:t>spécifique</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4051290658"/>
                  </a:ext>
                </a:extLst>
              </a:tr>
              <a:tr h="127959">
                <a:tc>
                  <a:txBody>
                    <a:bodyPr/>
                    <a:lstStyle/>
                    <a:p>
                      <a:pPr marL="171450" indent="-171450" algn="l">
                        <a:buFont typeface="Arial" panose="020B0604020202020204" pitchFamily="34" charset="0"/>
                        <a:buChar char="•"/>
                      </a:pPr>
                      <a:r>
                        <a:rPr lang="en-US" sz="1100"/>
                        <a:t>Registre des </a:t>
                      </a:r>
                      <a:r>
                        <a:rPr lang="en-US" sz="1100" err="1"/>
                        <a:t>risques</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C</a:t>
                      </a:r>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4002887183"/>
                  </a:ext>
                </a:extLst>
              </a:tr>
              <a:tr h="127959">
                <a:tc>
                  <a:txBody>
                    <a:bodyPr/>
                    <a:lstStyle/>
                    <a:p>
                      <a:pPr marL="171450" indent="-171450" algn="l">
                        <a:buFont typeface="Arial" panose="020B0604020202020204" pitchFamily="34" charset="0"/>
                        <a:buChar char="•"/>
                      </a:pPr>
                      <a:r>
                        <a:rPr lang="en-US" sz="1100"/>
                        <a:t>Note de </a:t>
                      </a:r>
                      <a:r>
                        <a:rPr lang="en-US" sz="1100" err="1"/>
                        <a:t>cadrage</a:t>
                      </a:r>
                      <a:endParaRPr lang="en-US" sz="1100"/>
                    </a:p>
                  </a:txBody>
                  <a:tcPr anchor="ctr">
                    <a:solidFill>
                      <a:srgbClr val="F2F2F2"/>
                    </a:solidFill>
                  </a:tcPr>
                </a:tc>
                <a:tc>
                  <a:txBody>
                    <a:bodyPr/>
                    <a:lstStyle/>
                    <a:p>
                      <a:pPr algn="ctr"/>
                      <a:r>
                        <a:rPr lang="en-US" sz="1100"/>
                        <a:t>C</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3571381351"/>
                  </a:ext>
                </a:extLst>
              </a:tr>
              <a:tr h="127959">
                <a:tc>
                  <a:txBody>
                    <a:bodyPr/>
                    <a:lstStyle/>
                    <a:p>
                      <a:pPr marL="171450" indent="-171450" algn="l">
                        <a:buFont typeface="Arial" panose="020B0604020202020204" pitchFamily="34" charset="0"/>
                        <a:buChar char="•"/>
                      </a:pPr>
                      <a:r>
                        <a:rPr lang="en-US" sz="1100"/>
                        <a:t>Plan de resolution, </a:t>
                      </a:r>
                      <a:r>
                        <a:rPr lang="en-US" sz="1100" err="1"/>
                        <a:t>mitilations</a:t>
                      </a:r>
                      <a:r>
                        <a:rPr lang="en-US" sz="1100"/>
                        <a:t> des </a:t>
                      </a:r>
                      <a:r>
                        <a:rPr lang="en-US" sz="1100" err="1"/>
                        <a:t>risques</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C</a:t>
                      </a:r>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3277768902"/>
                  </a:ext>
                </a:extLst>
              </a:tr>
              <a:tr h="127959">
                <a:tc>
                  <a:txBody>
                    <a:bodyPr/>
                    <a:lstStyle/>
                    <a:p>
                      <a:pPr marL="171450" indent="-171450" algn="l">
                        <a:buFont typeface="Arial" panose="020B0604020202020204" pitchFamily="34" charset="0"/>
                        <a:buChar char="•"/>
                      </a:pPr>
                      <a:r>
                        <a:rPr lang="en-US" sz="1100" err="1"/>
                        <a:t>Schéma</a:t>
                      </a:r>
                      <a:r>
                        <a:rPr lang="en-US" sz="1100"/>
                        <a:t> architectural initial</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3314061"/>
                  </a:ext>
                </a:extLst>
              </a:tr>
              <a:tr h="197609">
                <a:tc>
                  <a:txBody>
                    <a:bodyPr/>
                    <a:lstStyle/>
                    <a:p>
                      <a:pPr algn="ctr"/>
                      <a:r>
                        <a:rPr lang="en-US" sz="1100"/>
                        <a:t>Planification</a:t>
                      </a:r>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extLst>
                  <a:ext uri="{0D108BD9-81ED-4DB2-BD59-A6C34878D82A}">
                    <a16:rowId xmlns:a16="http://schemas.microsoft.com/office/drawing/2014/main" val="3394893720"/>
                  </a:ext>
                </a:extLst>
              </a:tr>
              <a:tr h="127959">
                <a:tc>
                  <a:txBody>
                    <a:bodyPr/>
                    <a:lstStyle/>
                    <a:p>
                      <a:pPr marL="171450" indent="-171450" algn="l">
                        <a:buFont typeface="Arial" panose="020B0604020202020204" pitchFamily="34" charset="0"/>
                        <a:buChar char="•"/>
                      </a:pPr>
                      <a:r>
                        <a:rPr lang="en-US" sz="1100"/>
                        <a:t>PERT</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2345955503"/>
                  </a:ext>
                </a:extLst>
              </a:tr>
              <a:tr h="127959">
                <a:tc>
                  <a:txBody>
                    <a:bodyPr/>
                    <a:lstStyle/>
                    <a:p>
                      <a:pPr marL="171450" indent="-171450" algn="l">
                        <a:buFont typeface="Arial" panose="020B0604020202020204" pitchFamily="34" charset="0"/>
                        <a:buChar char="•"/>
                      </a:pPr>
                      <a:r>
                        <a:rPr lang="en-US" sz="1100"/>
                        <a:t>POC</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1270232108"/>
                  </a:ext>
                </a:extLst>
              </a:tr>
              <a:tr h="127959">
                <a:tc>
                  <a:txBody>
                    <a:bodyPr/>
                    <a:lstStyle/>
                    <a:p>
                      <a:pPr marL="171450" indent="-171450" algn="l">
                        <a:buFont typeface="Arial" panose="020B0604020202020204" pitchFamily="34" charset="0"/>
                        <a:buChar char="•"/>
                      </a:pPr>
                      <a:r>
                        <a:rPr lang="en-US" sz="1100"/>
                        <a:t>Cahier des charges</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2425933377"/>
                  </a:ext>
                </a:extLst>
              </a:tr>
              <a:tr h="127959">
                <a:tc>
                  <a:txBody>
                    <a:bodyPr/>
                    <a:lstStyle/>
                    <a:p>
                      <a:pPr marL="171450" indent="-171450" algn="l">
                        <a:buFont typeface="Arial" panose="020B0604020202020204" pitchFamily="34" charset="0"/>
                        <a:buChar char="•"/>
                      </a:pPr>
                      <a:r>
                        <a:rPr lang="en-US" sz="1100"/>
                        <a:t>Matrice des </a:t>
                      </a:r>
                      <a:r>
                        <a:rPr lang="en-US" sz="1100" err="1"/>
                        <a:t>compétences</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657586033"/>
                  </a:ext>
                </a:extLst>
              </a:tr>
              <a:tr h="127959">
                <a:tc>
                  <a:txBody>
                    <a:bodyPr/>
                    <a:lstStyle/>
                    <a:p>
                      <a:pPr marL="171450" indent="-171450" algn="l">
                        <a:buFont typeface="Arial" panose="020B0604020202020204" pitchFamily="34" charset="0"/>
                        <a:buChar char="•"/>
                      </a:pPr>
                      <a:r>
                        <a:rPr lang="en-US" sz="1100"/>
                        <a:t>Plan de communication</a:t>
                      </a:r>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3281654645"/>
                  </a:ext>
                </a:extLst>
              </a:tr>
              <a:tr h="127959">
                <a:tc>
                  <a:txBody>
                    <a:bodyPr/>
                    <a:lstStyle/>
                    <a:p>
                      <a:pPr marL="171450" indent="-171450" algn="l">
                        <a:buFont typeface="Arial" panose="020B0604020202020204" pitchFamily="34" charset="0"/>
                        <a:buChar char="•"/>
                      </a:pPr>
                      <a:r>
                        <a:rPr lang="en-US" sz="1100"/>
                        <a:t>Plan de communication </a:t>
                      </a:r>
                      <a:r>
                        <a:rPr lang="en-US" sz="1100" err="1"/>
                        <a:t>suivi</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2813826122"/>
                  </a:ext>
                </a:extLst>
              </a:tr>
              <a:tr h="127959">
                <a:tc>
                  <a:txBody>
                    <a:bodyPr/>
                    <a:lstStyle/>
                    <a:p>
                      <a:pPr marL="171450" indent="-171450" algn="l">
                        <a:buFont typeface="Arial" panose="020B0604020202020204" pitchFamily="34" charset="0"/>
                        <a:buChar char="•"/>
                      </a:pPr>
                      <a:r>
                        <a:rPr lang="en-US" sz="1100"/>
                        <a:t>WBS</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3043782711"/>
                  </a:ext>
                </a:extLst>
              </a:tr>
              <a:tr h="127959">
                <a:tc>
                  <a:txBody>
                    <a:bodyPr/>
                    <a:lstStyle/>
                    <a:p>
                      <a:pPr marL="171450" indent="-171450" algn="l">
                        <a:buFont typeface="Arial" panose="020B0604020202020204" pitchFamily="34" charset="0"/>
                        <a:buChar char="•"/>
                      </a:pPr>
                      <a:r>
                        <a:rPr lang="en-US" sz="1100"/>
                        <a:t>Planning de charges</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4101481009"/>
                  </a:ext>
                </a:extLst>
              </a:tr>
              <a:tr h="127959">
                <a:tc>
                  <a:txBody>
                    <a:bodyPr/>
                    <a:lstStyle/>
                    <a:p>
                      <a:pPr marL="171450" indent="-171450" algn="l">
                        <a:buFont typeface="Arial" panose="020B0604020202020204" pitchFamily="34" charset="0"/>
                        <a:buChar char="•"/>
                      </a:pPr>
                      <a:r>
                        <a:rPr lang="en-US" sz="1100"/>
                        <a:t>Matrice de exigences (</a:t>
                      </a:r>
                      <a:r>
                        <a:rPr lang="en-US" sz="1100" err="1"/>
                        <a:t>receuilles</a:t>
                      </a:r>
                      <a:r>
                        <a:rPr lang="en-US" sz="1100"/>
                        <a:t> des </a:t>
                      </a:r>
                      <a:r>
                        <a:rPr lang="en-US" sz="1100" err="1"/>
                        <a:t>besoins</a:t>
                      </a:r>
                      <a:r>
                        <a:rPr lang="en-US" sz="1100"/>
                        <a:t> métiers)</a:t>
                      </a:r>
                    </a:p>
                  </a:txBody>
                  <a:tcPr anchor="ctr">
                    <a:solidFill>
                      <a:srgbClr val="F2F2F2"/>
                    </a:solidFill>
                  </a:tcPr>
                </a:tc>
                <a:tc>
                  <a:txBody>
                    <a:bodyPr/>
                    <a:lstStyle/>
                    <a:p>
                      <a:pPr algn="ctr"/>
                      <a:r>
                        <a:rPr lang="en-US" sz="1100"/>
                        <a:t>C</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C</a:t>
                      </a:r>
                    </a:p>
                  </a:txBody>
                  <a:tcPr anchor="ctr">
                    <a:solidFill>
                      <a:srgbClr val="F2F2F2"/>
                    </a:solidFill>
                  </a:tcPr>
                </a:tc>
                <a:tc>
                  <a:txBody>
                    <a:bodyPr/>
                    <a:lstStyle/>
                    <a:p>
                      <a:pPr lvl="0" algn="ctr">
                        <a:buNone/>
                      </a:pP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1804713827"/>
                  </a:ext>
                </a:extLst>
              </a:tr>
              <a:tr h="0">
                <a:tc>
                  <a:txBody>
                    <a:bodyPr/>
                    <a:lstStyle/>
                    <a:p>
                      <a:pPr marL="171450" indent="-171450" algn="l">
                        <a:buFont typeface="Arial" panose="020B0604020202020204" pitchFamily="34" charset="0"/>
                        <a:buChar char="•"/>
                      </a:pPr>
                      <a:r>
                        <a:rPr lang="en-US" sz="1100"/>
                        <a:t>Documentation </a:t>
                      </a:r>
                      <a:r>
                        <a:rPr lang="en-US" sz="1100" err="1"/>
                        <a:t>outils</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1054583009"/>
                  </a:ext>
                </a:extLst>
              </a:tr>
              <a:tr h="127959">
                <a:tc>
                  <a:txBody>
                    <a:bodyPr/>
                    <a:lstStyle/>
                    <a:p>
                      <a:pPr marL="171450" indent="-171450" algn="l">
                        <a:buFont typeface="Arial" panose="020B0604020202020204" pitchFamily="34" charset="0"/>
                        <a:buChar char="•"/>
                      </a:pPr>
                      <a:r>
                        <a:rPr lang="en-US" sz="1100"/>
                        <a:t>Matrice des exigences (</a:t>
                      </a:r>
                      <a:r>
                        <a:rPr lang="en-US" sz="1100" err="1"/>
                        <a:t>sourcer</a:t>
                      </a:r>
                      <a:r>
                        <a:rPr lang="en-US" sz="1100"/>
                        <a:t> les profits)</a:t>
                      </a:r>
                    </a:p>
                  </a:txBody>
                  <a:tcPr anchor="ctr">
                    <a:solidFill>
                      <a:srgbClr val="F2F2F2"/>
                    </a:solidFill>
                  </a:tcPr>
                </a:tc>
                <a:tc>
                  <a:txBody>
                    <a:bodyPr/>
                    <a:lstStyle/>
                    <a:p>
                      <a:pPr algn="ctr"/>
                      <a:r>
                        <a:rPr lang="en-US" sz="1100"/>
                        <a:t>C</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C</a:t>
                      </a:r>
                    </a:p>
                  </a:txBody>
                  <a:tcPr anchor="ctr">
                    <a:solidFill>
                      <a:srgbClr val="F2F2F2"/>
                    </a:solidFill>
                  </a:tcPr>
                </a:tc>
                <a:tc>
                  <a:txBody>
                    <a:bodyPr/>
                    <a:lstStyle/>
                    <a:p>
                      <a:pPr lvl="0" algn="ctr">
                        <a:buNone/>
                      </a:pP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2530209403"/>
                  </a:ext>
                </a:extLst>
              </a:tr>
              <a:tr h="255798">
                <a:tc>
                  <a:txBody>
                    <a:bodyPr/>
                    <a:lstStyle/>
                    <a:p>
                      <a:pPr algn="ctr"/>
                      <a:r>
                        <a:rPr lang="en-US" sz="1100"/>
                        <a:t>Execution</a:t>
                      </a:r>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extLst>
                  <a:ext uri="{0D108BD9-81ED-4DB2-BD59-A6C34878D82A}">
                    <a16:rowId xmlns:a16="http://schemas.microsoft.com/office/drawing/2014/main" val="1674469276"/>
                  </a:ext>
                </a:extLst>
              </a:tr>
              <a:tr h="127959">
                <a:tc>
                  <a:txBody>
                    <a:bodyPr/>
                    <a:lstStyle/>
                    <a:p>
                      <a:pPr marL="171450" indent="-171450" algn="l">
                        <a:buFont typeface="Arial" panose="020B0604020202020204" pitchFamily="34" charset="0"/>
                        <a:buChar char="•"/>
                      </a:pPr>
                      <a:r>
                        <a:rPr lang="en-US" sz="1100"/>
                        <a:t>Plan de communication </a:t>
                      </a:r>
                      <a:r>
                        <a:rPr lang="en-US" sz="1100" err="1"/>
                        <a:t>suivi</a:t>
                      </a: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1946091170"/>
                  </a:ext>
                </a:extLst>
              </a:tr>
              <a:tr h="127959">
                <a:tc>
                  <a:txBody>
                    <a:bodyPr/>
                    <a:lstStyle/>
                    <a:p>
                      <a:pPr marL="171450" indent="-171450" algn="l">
                        <a:buFont typeface="Arial" panose="020B0604020202020204" pitchFamily="34" charset="0"/>
                        <a:buChar char="•"/>
                      </a:pPr>
                      <a:r>
                        <a:rPr lang="en-US" sz="1100"/>
                        <a:t>Document de </a:t>
                      </a:r>
                      <a:r>
                        <a:rPr lang="en-US" sz="1100" err="1"/>
                        <a:t>suivi</a:t>
                      </a:r>
                      <a:endParaRPr lang="en-US" sz="1100"/>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1137392831"/>
                  </a:ext>
                </a:extLst>
              </a:tr>
              <a:tr h="127959">
                <a:tc>
                  <a:txBody>
                    <a:bodyPr/>
                    <a:lstStyle/>
                    <a:p>
                      <a:pPr marL="171450" indent="-171450" algn="l">
                        <a:buFont typeface="Arial" panose="020B0604020202020204" pitchFamily="34" charset="0"/>
                        <a:buChar char="•"/>
                      </a:pPr>
                      <a:r>
                        <a:rPr lang="en-US" sz="1100"/>
                        <a:t>Cahier des </a:t>
                      </a:r>
                      <a:r>
                        <a:rPr lang="en-US" sz="1100" err="1"/>
                        <a:t>recettes</a:t>
                      </a: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extLst>
                  <a:ext uri="{0D108BD9-81ED-4DB2-BD59-A6C34878D82A}">
                    <a16:rowId xmlns:a16="http://schemas.microsoft.com/office/drawing/2014/main" val="702461981"/>
                  </a:ext>
                </a:extLst>
              </a:tr>
            </a:tbl>
          </a:graphicData>
        </a:graphic>
      </p:graphicFrame>
    </p:spTree>
    <p:extLst>
      <p:ext uri="{BB962C8B-B14F-4D97-AF65-F5344CB8AC3E}">
        <p14:creationId xmlns:p14="http://schemas.microsoft.com/office/powerpoint/2010/main" val="4199926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0C0F3030-17CC-3D65-C91D-F11298700017}"/>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EC727943-7D94-7F22-A3CF-19A9B285C795}"/>
              </a:ext>
            </a:extLst>
          </p:cNvPr>
          <p:cNvSpPr txBox="1"/>
          <p:nvPr/>
        </p:nvSpPr>
        <p:spPr>
          <a:xfrm>
            <a:off x="3374044" y="992296"/>
            <a:ext cx="10726750" cy="1000274"/>
          </a:xfrm>
          <a:prstGeom prst="rect">
            <a:avLst/>
          </a:prstGeom>
        </p:spPr>
        <p:txBody>
          <a:bodyPr wrap="square" lIns="0" tIns="0" rIns="0" bIns="0" rtlCol="0" anchor="t">
            <a:spAutoFit/>
          </a:bodyPr>
          <a:lstStyle/>
          <a:p>
            <a:pPr algn="ctr">
              <a:lnSpc>
                <a:spcPts val="7800"/>
              </a:lnSpc>
            </a:pPr>
            <a:r>
              <a:rPr lang="en-US" sz="6500">
                <a:solidFill>
                  <a:srgbClr val="FFF8ED"/>
                </a:solidFill>
                <a:ea typeface="Calibri"/>
                <a:cs typeface="Calibri"/>
              </a:rPr>
              <a:t>MATRICE RACI-WBS</a:t>
            </a:r>
          </a:p>
        </p:txBody>
      </p:sp>
      <p:grpSp>
        <p:nvGrpSpPr>
          <p:cNvPr id="12" name="Group 12">
            <a:extLst>
              <a:ext uri="{FF2B5EF4-FFF2-40B4-BE49-F238E27FC236}">
                <a16:creationId xmlns:a16="http://schemas.microsoft.com/office/drawing/2014/main" id="{1B4C1326-998F-E744-EA0A-6D30454DAB9B}"/>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5F49A272-6310-CCFF-CE5F-EFBCC1770108}"/>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8FDB91B8-9845-F276-249B-26D7FA7815EE}"/>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graphicFrame>
        <p:nvGraphicFramePr>
          <p:cNvPr id="2" name="Tableau 1">
            <a:extLst>
              <a:ext uri="{FF2B5EF4-FFF2-40B4-BE49-F238E27FC236}">
                <a16:creationId xmlns:a16="http://schemas.microsoft.com/office/drawing/2014/main" id="{1299D385-332D-9DC7-5091-B77948262D00}"/>
              </a:ext>
            </a:extLst>
          </p:cNvPr>
          <p:cNvGraphicFramePr>
            <a:graphicFrameLocks noGrp="1"/>
          </p:cNvGraphicFramePr>
          <p:nvPr>
            <p:extLst>
              <p:ext uri="{D42A27DB-BD31-4B8C-83A1-F6EECF244321}">
                <p14:modId xmlns:p14="http://schemas.microsoft.com/office/powerpoint/2010/main" val="3454266021"/>
              </p:ext>
            </p:extLst>
          </p:nvPr>
        </p:nvGraphicFramePr>
        <p:xfrm>
          <a:off x="124691" y="2292641"/>
          <a:ext cx="17997056" cy="2331720"/>
        </p:xfrm>
        <a:graphic>
          <a:graphicData uri="http://schemas.openxmlformats.org/drawingml/2006/table">
            <a:tbl>
              <a:tblPr firstRow="1" bandRow="1">
                <a:tableStyleId>{073A0DAA-6AF3-43AB-8588-CEC1D06C72B9}</a:tableStyleId>
              </a:tblPr>
              <a:tblGrid>
                <a:gridCol w="2571008">
                  <a:extLst>
                    <a:ext uri="{9D8B030D-6E8A-4147-A177-3AD203B41FA5}">
                      <a16:colId xmlns:a16="http://schemas.microsoft.com/office/drawing/2014/main" val="2345388808"/>
                    </a:ext>
                  </a:extLst>
                </a:gridCol>
                <a:gridCol w="2571008">
                  <a:extLst>
                    <a:ext uri="{9D8B030D-6E8A-4147-A177-3AD203B41FA5}">
                      <a16:colId xmlns:a16="http://schemas.microsoft.com/office/drawing/2014/main" val="1719510299"/>
                    </a:ext>
                  </a:extLst>
                </a:gridCol>
                <a:gridCol w="2571008">
                  <a:extLst>
                    <a:ext uri="{9D8B030D-6E8A-4147-A177-3AD203B41FA5}">
                      <a16:colId xmlns:a16="http://schemas.microsoft.com/office/drawing/2014/main" val="1713935981"/>
                    </a:ext>
                  </a:extLst>
                </a:gridCol>
                <a:gridCol w="2571008">
                  <a:extLst>
                    <a:ext uri="{9D8B030D-6E8A-4147-A177-3AD203B41FA5}">
                      <a16:colId xmlns:a16="http://schemas.microsoft.com/office/drawing/2014/main" val="1022717434"/>
                    </a:ext>
                  </a:extLst>
                </a:gridCol>
                <a:gridCol w="2571008">
                  <a:extLst>
                    <a:ext uri="{9D8B030D-6E8A-4147-A177-3AD203B41FA5}">
                      <a16:colId xmlns:a16="http://schemas.microsoft.com/office/drawing/2014/main" val="3731961720"/>
                    </a:ext>
                  </a:extLst>
                </a:gridCol>
                <a:gridCol w="2571008">
                  <a:extLst>
                    <a:ext uri="{9D8B030D-6E8A-4147-A177-3AD203B41FA5}">
                      <a16:colId xmlns:a16="http://schemas.microsoft.com/office/drawing/2014/main" val="2848663024"/>
                    </a:ext>
                  </a:extLst>
                </a:gridCol>
                <a:gridCol w="2571008">
                  <a:extLst>
                    <a:ext uri="{9D8B030D-6E8A-4147-A177-3AD203B41FA5}">
                      <a16:colId xmlns:a16="http://schemas.microsoft.com/office/drawing/2014/main" val="3217215878"/>
                    </a:ext>
                  </a:extLst>
                </a:gridCol>
              </a:tblGrid>
              <a:tr h="127959">
                <a:tc>
                  <a:txBody>
                    <a:bodyPr/>
                    <a:lstStyle/>
                    <a:p>
                      <a:pPr lvl="0" algn="ctr">
                        <a:buNone/>
                      </a:pPr>
                      <a:endParaRPr lang="en-US" sz="1100"/>
                    </a:p>
                  </a:txBody>
                  <a:tcPr anchor="ctr">
                    <a:solidFill>
                      <a:schemeClr val="bg1">
                        <a:lumMod val="50000"/>
                      </a:schemeClr>
                    </a:solidFill>
                  </a:tcPr>
                </a:tc>
                <a:tc>
                  <a:txBody>
                    <a:bodyPr/>
                    <a:lstStyle/>
                    <a:p>
                      <a:pPr algn="ctr"/>
                      <a:r>
                        <a:rPr lang="en-US" sz="1100"/>
                        <a:t>Sponsor client</a:t>
                      </a:r>
                    </a:p>
                  </a:txBody>
                  <a:tcPr anchor="ctr"/>
                </a:tc>
                <a:tc>
                  <a:txBody>
                    <a:bodyPr/>
                    <a:lstStyle/>
                    <a:p>
                      <a:pPr algn="ctr"/>
                      <a:r>
                        <a:rPr lang="en-US" sz="1100"/>
                        <a:t>Client</a:t>
                      </a:r>
                    </a:p>
                  </a:txBody>
                  <a:tcPr anchor="ctr"/>
                </a:tc>
                <a:tc>
                  <a:txBody>
                    <a:bodyPr/>
                    <a:lstStyle/>
                    <a:p>
                      <a:pPr algn="ctr"/>
                      <a:r>
                        <a:rPr lang="en-US" sz="1100"/>
                        <a:t>Chef de </a:t>
                      </a:r>
                      <a:r>
                        <a:rPr lang="en-US" sz="1100" err="1"/>
                        <a:t>projet</a:t>
                      </a:r>
                      <a:endParaRPr lang="en-US" sz="1100"/>
                    </a:p>
                  </a:txBody>
                  <a:tcPr anchor="ctr"/>
                </a:tc>
                <a:tc>
                  <a:txBody>
                    <a:bodyPr/>
                    <a:lstStyle/>
                    <a:p>
                      <a:pPr lvl="0" algn="ctr">
                        <a:buNone/>
                      </a:pPr>
                      <a:r>
                        <a:rPr lang="en-US" sz="1100"/>
                        <a:t>MOA</a:t>
                      </a:r>
                    </a:p>
                  </a:txBody>
                  <a:tcPr anchor="ctr"/>
                </a:tc>
                <a:tc>
                  <a:txBody>
                    <a:bodyPr/>
                    <a:lstStyle/>
                    <a:p>
                      <a:pPr lvl="0" algn="ctr">
                        <a:buNone/>
                      </a:pPr>
                      <a:r>
                        <a:rPr lang="en-US" sz="1100"/>
                        <a:t>MOE</a:t>
                      </a:r>
                    </a:p>
                  </a:txBody>
                  <a:tcPr anchor="ctr"/>
                </a:tc>
                <a:tc>
                  <a:txBody>
                    <a:bodyPr/>
                    <a:lstStyle/>
                    <a:p>
                      <a:pPr lvl="0" algn="ctr">
                        <a:buNone/>
                      </a:pPr>
                      <a:r>
                        <a:rPr lang="en-US" sz="1100"/>
                        <a:t>PMO</a:t>
                      </a:r>
                    </a:p>
                  </a:txBody>
                  <a:tcPr anchor="ctr"/>
                </a:tc>
                <a:extLst>
                  <a:ext uri="{0D108BD9-81ED-4DB2-BD59-A6C34878D82A}">
                    <a16:rowId xmlns:a16="http://schemas.microsoft.com/office/drawing/2014/main" val="4166911666"/>
                  </a:ext>
                </a:extLst>
              </a:tr>
              <a:tr h="127959">
                <a:tc>
                  <a:txBody>
                    <a:bodyPr/>
                    <a:lstStyle/>
                    <a:p>
                      <a:pPr algn="ctr"/>
                      <a:r>
                        <a:rPr lang="en-US" sz="1100"/>
                        <a:t>Controle</a:t>
                      </a:r>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algn="ct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extLst>
                  <a:ext uri="{0D108BD9-81ED-4DB2-BD59-A6C34878D82A}">
                    <a16:rowId xmlns:a16="http://schemas.microsoft.com/office/drawing/2014/main" val="116097864"/>
                  </a:ext>
                </a:extLst>
              </a:tr>
              <a:tr h="127959">
                <a:tc>
                  <a:txBody>
                    <a:bodyPr/>
                    <a:lstStyle/>
                    <a:p>
                      <a:pPr marL="171450" indent="-171450" algn="l">
                        <a:buFont typeface="Arial" panose="020B0604020202020204" pitchFamily="34" charset="0"/>
                        <a:buChar char="•"/>
                      </a:pPr>
                      <a:r>
                        <a:rPr lang="en-US" sz="1100"/>
                        <a:t>Tableau de bord</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4001522176"/>
                  </a:ext>
                </a:extLst>
              </a:tr>
              <a:tr h="127959">
                <a:tc>
                  <a:txBody>
                    <a:bodyPr/>
                    <a:lstStyle/>
                    <a:p>
                      <a:pPr marL="171450" indent="-171450" algn="l">
                        <a:buFont typeface="Arial" panose="020B0604020202020204" pitchFamily="34" charset="0"/>
                        <a:buChar char="•"/>
                      </a:pPr>
                      <a:r>
                        <a:rPr lang="en-US" sz="1100"/>
                        <a:t>Rapport de flash</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extLst>
                  <a:ext uri="{0D108BD9-81ED-4DB2-BD59-A6C34878D82A}">
                    <a16:rowId xmlns:a16="http://schemas.microsoft.com/office/drawing/2014/main" val="3232787951"/>
                  </a:ext>
                </a:extLst>
              </a:tr>
              <a:tr h="127959">
                <a:tc>
                  <a:txBody>
                    <a:bodyPr/>
                    <a:lstStyle/>
                    <a:p>
                      <a:pPr marL="171450" indent="-171450" algn="l">
                        <a:buFont typeface="Arial" panose="020B0604020202020204" pitchFamily="34" charset="0"/>
                        <a:buChar char="•"/>
                      </a:pPr>
                      <a:r>
                        <a:rPr lang="en-US" sz="1100" err="1"/>
                        <a:t>Commité</a:t>
                      </a:r>
                      <a:r>
                        <a:rPr lang="en-US" sz="1100"/>
                        <a:t> de </a:t>
                      </a:r>
                      <a:r>
                        <a:rPr lang="en-US" sz="1100" err="1"/>
                        <a:t>suivi</a:t>
                      </a:r>
                      <a:endParaRPr lang="en-US" sz="1100"/>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r>
                        <a:rPr lang="en-US" sz="1100"/>
                        <a:t>I</a:t>
                      </a:r>
                    </a:p>
                  </a:txBody>
                  <a:tcPr anchor="ctr">
                    <a:solidFill>
                      <a:srgbClr val="F2F2F2"/>
                    </a:solidFill>
                  </a:tcPr>
                </a:tc>
                <a:tc>
                  <a:txBody>
                    <a:bodyPr/>
                    <a:lstStyle/>
                    <a:p>
                      <a:pPr algn="ctr"/>
                      <a:r>
                        <a:rPr lang="en-US" sz="1100"/>
                        <a:t>AR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3025381372"/>
                  </a:ext>
                </a:extLst>
              </a:tr>
              <a:tr h="127959">
                <a:tc>
                  <a:txBody>
                    <a:bodyPr/>
                    <a:lstStyle/>
                    <a:p>
                      <a:pPr marL="171450" indent="-171450" algn="l">
                        <a:buFont typeface="Arial" panose="020B0604020202020204" pitchFamily="34" charset="0"/>
                        <a:buChar char="•"/>
                      </a:pPr>
                      <a:r>
                        <a:rPr lang="en-US" sz="1100"/>
                        <a:t>KPI</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extLst>
                  <a:ext uri="{0D108BD9-81ED-4DB2-BD59-A6C34878D82A}">
                    <a16:rowId xmlns:a16="http://schemas.microsoft.com/office/drawing/2014/main" val="3938489965"/>
                  </a:ext>
                </a:extLst>
              </a:tr>
              <a:tr h="127959">
                <a:tc>
                  <a:txBody>
                    <a:bodyPr/>
                    <a:lstStyle/>
                    <a:p>
                      <a:pPr marL="171450" indent="-171450" algn="l">
                        <a:buFont typeface="Arial" panose="020B0604020202020204" pitchFamily="34" charset="0"/>
                        <a:buChar char="•"/>
                      </a:pPr>
                      <a:r>
                        <a:rPr lang="en-US" sz="1100"/>
                        <a:t>Template des rapports flash</a:t>
                      </a:r>
                    </a:p>
                  </a:txBody>
                  <a:tcPr anchor="ctr">
                    <a:solidFill>
                      <a:srgbClr val="F2F2F2"/>
                    </a:solidFill>
                  </a:tcPr>
                </a:tc>
                <a:tc>
                  <a:txBody>
                    <a:bodyPr/>
                    <a:lstStyle/>
                    <a:p>
                      <a:pPr algn="ctr"/>
                      <a:endParaRPr lang="en-US" sz="1100"/>
                    </a:p>
                  </a:txBody>
                  <a:tcPr anchor="ctr">
                    <a:solidFill>
                      <a:srgbClr val="F2F2F2"/>
                    </a:solidFill>
                  </a:tcPr>
                </a:tc>
                <a:tc>
                  <a:txBody>
                    <a:bodyPr/>
                    <a:lstStyle/>
                    <a:p>
                      <a:pPr algn="ctr"/>
                      <a:endParaRPr lang="en-US" sz="1100"/>
                    </a:p>
                  </a:txBody>
                  <a:tcPr anchor="ctr">
                    <a:solidFill>
                      <a:srgbClr val="F2F2F2"/>
                    </a:solidFill>
                  </a:tcPr>
                </a:tc>
                <a:tc>
                  <a:txBody>
                    <a:bodyPr/>
                    <a:lstStyle/>
                    <a:p>
                      <a:pPr algn="ctr"/>
                      <a:r>
                        <a:rPr lang="en-US" sz="1100"/>
                        <a:t>A</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R</a:t>
                      </a:r>
                    </a:p>
                  </a:txBody>
                  <a:tcPr anchor="ctr">
                    <a:solidFill>
                      <a:srgbClr val="F2F2F2"/>
                    </a:solidFill>
                  </a:tcPr>
                </a:tc>
                <a:extLst>
                  <a:ext uri="{0D108BD9-81ED-4DB2-BD59-A6C34878D82A}">
                    <a16:rowId xmlns:a16="http://schemas.microsoft.com/office/drawing/2014/main" val="3450043729"/>
                  </a:ext>
                </a:extLst>
              </a:tr>
              <a:tr h="0">
                <a:tc>
                  <a:txBody>
                    <a:bodyPr/>
                    <a:lstStyle/>
                    <a:p>
                      <a:pPr lvl="0" algn="ctr">
                        <a:buNone/>
                      </a:pPr>
                      <a:r>
                        <a:rPr lang="en-US" sz="1100"/>
                        <a:t>Cloture</a:t>
                      </a:r>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tc>
                  <a:txBody>
                    <a:bodyPr/>
                    <a:lstStyle/>
                    <a:p>
                      <a:pPr lvl="0" algn="ctr">
                        <a:buNone/>
                      </a:pPr>
                      <a:endParaRPr lang="en-US" sz="1100"/>
                    </a:p>
                  </a:txBody>
                  <a:tcPr anchor="ctr">
                    <a:solidFill>
                      <a:srgbClr val="CBCBCB"/>
                    </a:solidFill>
                  </a:tcPr>
                </a:tc>
                <a:extLst>
                  <a:ext uri="{0D108BD9-81ED-4DB2-BD59-A6C34878D82A}">
                    <a16:rowId xmlns:a16="http://schemas.microsoft.com/office/drawing/2014/main" val="1855689916"/>
                  </a:ext>
                </a:extLst>
              </a:tr>
              <a:tr h="0">
                <a:tc>
                  <a:txBody>
                    <a:bodyPr/>
                    <a:lstStyle/>
                    <a:p>
                      <a:pPr marL="171450" lvl="0" indent="-171450" algn="l">
                        <a:buFont typeface="Arial" panose="020B0604020202020204" pitchFamily="34" charset="0"/>
                        <a:buChar char="•"/>
                      </a:pPr>
                      <a:r>
                        <a:rPr lang="en-US" sz="1100"/>
                        <a:t>Bilan de </a:t>
                      </a:r>
                      <a:r>
                        <a:rPr lang="en-US" sz="1100" err="1"/>
                        <a:t>projet</a:t>
                      </a:r>
                      <a:endParaRPr lang="en-US" sz="1100"/>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A</a:t>
                      </a:r>
                    </a:p>
                  </a:txBody>
                  <a:tcPr anchor="ctr">
                    <a:solidFill>
                      <a:srgbClr val="F2F2F2"/>
                    </a:solidFill>
                  </a:tcPr>
                </a:tc>
                <a:tc>
                  <a:txBody>
                    <a:bodyPr/>
                    <a:lstStyle/>
                    <a:p>
                      <a:pPr lvl="0" algn="ctr">
                        <a:buNone/>
                      </a:pPr>
                      <a:r>
                        <a:rPr lang="en-US" sz="1100"/>
                        <a:t>R</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tc>
                  <a:txBody>
                    <a:bodyPr/>
                    <a:lstStyle/>
                    <a:p>
                      <a:pPr lvl="0" algn="ctr">
                        <a:buNone/>
                      </a:pPr>
                      <a:r>
                        <a:rPr lang="en-US" sz="1100"/>
                        <a:t>C</a:t>
                      </a:r>
                    </a:p>
                  </a:txBody>
                  <a:tcPr anchor="ctr">
                    <a:solidFill>
                      <a:srgbClr val="F2F2F2"/>
                    </a:solidFill>
                  </a:tcPr>
                </a:tc>
                <a:extLst>
                  <a:ext uri="{0D108BD9-81ED-4DB2-BD59-A6C34878D82A}">
                    <a16:rowId xmlns:a16="http://schemas.microsoft.com/office/drawing/2014/main" val="707646469"/>
                  </a:ext>
                </a:extLst>
              </a:tr>
            </a:tbl>
          </a:graphicData>
        </a:graphic>
      </p:graphicFrame>
    </p:spTree>
    <p:extLst>
      <p:ext uri="{BB962C8B-B14F-4D97-AF65-F5344CB8AC3E}">
        <p14:creationId xmlns:p14="http://schemas.microsoft.com/office/powerpoint/2010/main" val="3963446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497A4963-A4DC-82F5-EDED-800275ABD1BE}"/>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0B5666A6-7C19-CCB3-4A12-3192A9365306}"/>
              </a:ext>
            </a:extLst>
          </p:cNvPr>
          <p:cNvSpPr txBox="1"/>
          <p:nvPr/>
        </p:nvSpPr>
        <p:spPr>
          <a:xfrm>
            <a:off x="3374044" y="4376"/>
            <a:ext cx="10726750" cy="1000274"/>
          </a:xfrm>
          <a:prstGeom prst="rect">
            <a:avLst/>
          </a:prstGeom>
        </p:spPr>
        <p:txBody>
          <a:bodyPr wrap="square" lIns="0" tIns="0" rIns="0" bIns="0" rtlCol="0" anchor="t">
            <a:spAutoFit/>
          </a:bodyPr>
          <a:lstStyle/>
          <a:p>
            <a:pPr algn="ctr">
              <a:lnSpc>
                <a:spcPts val="7800"/>
              </a:lnSpc>
            </a:pPr>
            <a:r>
              <a:rPr lang="en-US" sz="6500">
                <a:solidFill>
                  <a:srgbClr val="FFF8ED"/>
                </a:solidFill>
                <a:ea typeface="Calibri"/>
                <a:cs typeface="Calibri"/>
              </a:rPr>
              <a:t>Pertt</a:t>
            </a:r>
          </a:p>
        </p:txBody>
      </p:sp>
      <p:grpSp>
        <p:nvGrpSpPr>
          <p:cNvPr id="12" name="Group 12">
            <a:extLst>
              <a:ext uri="{FF2B5EF4-FFF2-40B4-BE49-F238E27FC236}">
                <a16:creationId xmlns:a16="http://schemas.microsoft.com/office/drawing/2014/main" id="{9E93DB96-E1E0-E2A8-BC96-198F62BA9747}"/>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A6C86C97-1B48-4603-B3D5-3F72410BD005}"/>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82A90ABC-0B71-F31F-CAAC-648B6D10AAD7}"/>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pic>
        <p:nvPicPr>
          <p:cNvPr id="2" name="Picture 1">
            <a:extLst>
              <a:ext uri="{FF2B5EF4-FFF2-40B4-BE49-F238E27FC236}">
                <a16:creationId xmlns:a16="http://schemas.microsoft.com/office/drawing/2014/main" id="{C9A24625-2EB0-BE02-FE6B-1964822F0AE8}"/>
              </a:ext>
            </a:extLst>
          </p:cNvPr>
          <p:cNvPicPr>
            <a:picLocks noChangeAspect="1"/>
          </p:cNvPicPr>
          <p:nvPr/>
        </p:nvPicPr>
        <p:blipFill>
          <a:blip r:embed="rId3"/>
          <a:stretch>
            <a:fillRect/>
          </a:stretch>
        </p:blipFill>
        <p:spPr>
          <a:xfrm>
            <a:off x="1643063" y="1038225"/>
            <a:ext cx="15001875" cy="8210550"/>
          </a:xfrm>
          <a:prstGeom prst="rect">
            <a:avLst/>
          </a:prstGeom>
        </p:spPr>
      </p:pic>
    </p:spTree>
    <p:extLst>
      <p:ext uri="{BB962C8B-B14F-4D97-AF65-F5344CB8AC3E}">
        <p14:creationId xmlns:p14="http://schemas.microsoft.com/office/powerpoint/2010/main" val="49099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6E023B9D-A01F-ACDA-52C8-9DC2D759FCDB}"/>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0B8CB4CB-8220-2D23-4AD1-92A7A0F1594E}"/>
              </a:ext>
            </a:extLst>
          </p:cNvPr>
          <p:cNvSpPr txBox="1"/>
          <p:nvPr/>
        </p:nvSpPr>
        <p:spPr>
          <a:xfrm>
            <a:off x="3374044" y="4376"/>
            <a:ext cx="10726750" cy="1000274"/>
          </a:xfrm>
          <a:prstGeom prst="rect">
            <a:avLst/>
          </a:prstGeom>
        </p:spPr>
        <p:txBody>
          <a:bodyPr wrap="square" lIns="0" tIns="0" rIns="0" bIns="0" rtlCol="0" anchor="t">
            <a:spAutoFit/>
          </a:bodyPr>
          <a:lstStyle/>
          <a:p>
            <a:pPr algn="ctr">
              <a:lnSpc>
                <a:spcPts val="7800"/>
              </a:lnSpc>
            </a:pPr>
            <a:r>
              <a:rPr lang="en-US" sz="6500">
                <a:solidFill>
                  <a:srgbClr val="FFF8ED"/>
                </a:solidFill>
                <a:ea typeface="Calibri"/>
                <a:cs typeface="Calibri"/>
              </a:rPr>
              <a:t>Gantt</a:t>
            </a:r>
          </a:p>
        </p:txBody>
      </p:sp>
      <p:grpSp>
        <p:nvGrpSpPr>
          <p:cNvPr id="12" name="Group 12">
            <a:extLst>
              <a:ext uri="{FF2B5EF4-FFF2-40B4-BE49-F238E27FC236}">
                <a16:creationId xmlns:a16="http://schemas.microsoft.com/office/drawing/2014/main" id="{01FE0133-AF3E-CABD-AA22-9183AEE45779}"/>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B020F5CB-BF47-C53B-9499-D306C3900CBC}"/>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E9A79404-DBBB-928D-1C93-20C7DA670FD0}"/>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Tree>
    <p:extLst>
      <p:ext uri="{BB962C8B-B14F-4D97-AF65-F5344CB8AC3E}">
        <p14:creationId xmlns:p14="http://schemas.microsoft.com/office/powerpoint/2010/main" val="2390373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44D3A"/>
        </a:solidFill>
        <a:effectLst/>
      </p:bgPr>
    </p:bg>
    <p:spTree>
      <p:nvGrpSpPr>
        <p:cNvPr id="1" name="">
          <a:extLst>
            <a:ext uri="{FF2B5EF4-FFF2-40B4-BE49-F238E27FC236}">
              <a16:creationId xmlns:a16="http://schemas.microsoft.com/office/drawing/2014/main" id="{F532398C-8265-1E02-E361-E6811879EE18}"/>
            </a:ext>
          </a:extLst>
        </p:cNvPr>
        <p:cNvGrpSpPr/>
        <p:nvPr/>
      </p:nvGrpSpPr>
      <p:grpSpPr>
        <a:xfrm>
          <a:off x="0" y="0"/>
          <a:ext cx="0" cy="0"/>
          <a:chOff x="0" y="0"/>
          <a:chExt cx="0" cy="0"/>
        </a:xfrm>
      </p:grpSpPr>
      <p:sp>
        <p:nvSpPr>
          <p:cNvPr id="9" name="TextBox 9">
            <a:extLst>
              <a:ext uri="{FF2B5EF4-FFF2-40B4-BE49-F238E27FC236}">
                <a16:creationId xmlns:a16="http://schemas.microsoft.com/office/drawing/2014/main" id="{0D520841-0519-C55B-3B02-1C09B9B8B371}"/>
              </a:ext>
            </a:extLst>
          </p:cNvPr>
          <p:cNvSpPr txBox="1"/>
          <p:nvPr/>
        </p:nvSpPr>
        <p:spPr>
          <a:xfrm>
            <a:off x="3374044" y="1180994"/>
            <a:ext cx="10726750" cy="1000274"/>
          </a:xfrm>
          <a:prstGeom prst="rect">
            <a:avLst/>
          </a:prstGeom>
        </p:spPr>
        <p:txBody>
          <a:bodyPr wrap="square" lIns="0" tIns="0" rIns="0" bIns="0" rtlCol="0" anchor="t">
            <a:spAutoFit/>
          </a:bodyPr>
          <a:lstStyle/>
          <a:p>
            <a:pPr algn="ctr">
              <a:lnSpc>
                <a:spcPts val="7800"/>
              </a:lnSpc>
            </a:pPr>
            <a:r>
              <a:rPr lang="en-US" sz="6500">
                <a:solidFill>
                  <a:schemeClr val="bg1"/>
                </a:solidFill>
                <a:ea typeface="+mn-lt"/>
                <a:cs typeface="+mn-lt"/>
              </a:rPr>
              <a:t>Résolution de problèmes </a:t>
            </a:r>
            <a:endParaRPr lang="fr-FR">
              <a:solidFill>
                <a:schemeClr val="bg1"/>
              </a:solidFill>
              <a:ea typeface="+mn-lt"/>
              <a:cs typeface="+mn-lt"/>
            </a:endParaRPr>
          </a:p>
        </p:txBody>
      </p:sp>
      <p:grpSp>
        <p:nvGrpSpPr>
          <p:cNvPr id="12" name="Group 12">
            <a:extLst>
              <a:ext uri="{FF2B5EF4-FFF2-40B4-BE49-F238E27FC236}">
                <a16:creationId xmlns:a16="http://schemas.microsoft.com/office/drawing/2014/main" id="{F772B7DA-45CD-7D52-559E-5B088B658664}"/>
              </a:ext>
            </a:extLst>
          </p:cNvPr>
          <p:cNvGrpSpPr/>
          <p:nvPr/>
        </p:nvGrpSpPr>
        <p:grpSpPr>
          <a:xfrm>
            <a:off x="273852" y="292796"/>
            <a:ext cx="4127774" cy="890005"/>
            <a:chOff x="0" y="0"/>
            <a:chExt cx="5503701" cy="1186672"/>
          </a:xfrm>
        </p:grpSpPr>
        <p:sp>
          <p:nvSpPr>
            <p:cNvPr id="13" name="Freeform 13">
              <a:extLst>
                <a:ext uri="{FF2B5EF4-FFF2-40B4-BE49-F238E27FC236}">
                  <a16:creationId xmlns:a16="http://schemas.microsoft.com/office/drawing/2014/main" id="{AD4A4442-1C6E-A8D6-84CA-6F4685B44518}"/>
                </a:ext>
              </a:extLst>
            </p:cNvPr>
            <p:cNvSpPr/>
            <p:nvPr/>
          </p:nvSpPr>
          <p:spPr>
            <a:xfrm>
              <a:off x="0" y="0"/>
              <a:ext cx="939499" cy="932666"/>
            </a:xfrm>
            <a:custGeom>
              <a:avLst/>
              <a:gdLst/>
              <a:ahLst/>
              <a:cxnLst/>
              <a:rect l="l" t="t" r="r" b="b"/>
              <a:pathLst>
                <a:path w="939499" h="932666">
                  <a:moveTo>
                    <a:pt x="0" y="0"/>
                  </a:moveTo>
                  <a:lnTo>
                    <a:pt x="939499" y="0"/>
                  </a:lnTo>
                  <a:lnTo>
                    <a:pt x="939499" y="932666"/>
                  </a:lnTo>
                  <a:lnTo>
                    <a:pt x="0" y="932666"/>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FR"/>
            </a:p>
          </p:txBody>
        </p:sp>
        <p:sp>
          <p:nvSpPr>
            <p:cNvPr id="14" name="TextBox 14">
              <a:extLst>
                <a:ext uri="{FF2B5EF4-FFF2-40B4-BE49-F238E27FC236}">
                  <a16:creationId xmlns:a16="http://schemas.microsoft.com/office/drawing/2014/main" id="{33EC8CDD-2835-1C89-3C4C-B4D7D5344CED}"/>
                </a:ext>
              </a:extLst>
            </p:cNvPr>
            <p:cNvSpPr txBox="1"/>
            <p:nvPr/>
          </p:nvSpPr>
          <p:spPr>
            <a:xfrm>
              <a:off x="1177305" y="205207"/>
              <a:ext cx="4326396" cy="981465"/>
            </a:xfrm>
            <a:prstGeom prst="rect">
              <a:avLst/>
            </a:prstGeom>
          </p:spPr>
          <p:txBody>
            <a:bodyPr lIns="0" tIns="0" rIns="0" bIns="0" rtlCol="0" anchor="t">
              <a:spAutoFit/>
            </a:bodyPr>
            <a:lstStyle/>
            <a:p>
              <a:r>
                <a:rPr lang="en-US" sz="2200" b="1">
                  <a:solidFill>
                    <a:srgbClr val="FFF8ED"/>
                  </a:solidFill>
                  <a:latin typeface="Anantason Expanded Bold"/>
                  <a:ea typeface="Anantason Expanded Bold"/>
                  <a:cs typeface="Anantason Expanded Bold"/>
                  <a:sym typeface="Anantason Expanded Bold"/>
                </a:rPr>
                <a:t>TPGM CONSULTING</a:t>
              </a:r>
              <a:endParaRPr lang="en-US" sz="2200">
                <a:solidFill>
                  <a:srgbClr val="000000"/>
                </a:solidFill>
                <a:latin typeface="Anantason Expanded Bold"/>
                <a:ea typeface="Anantason Expanded Bold"/>
                <a:cs typeface="Anantason Expanded Bold"/>
                <a:sym typeface="Anantason Expanded Bold"/>
              </a:endParaRPr>
            </a:p>
            <a:p>
              <a:pPr algn="l">
                <a:lnSpc>
                  <a:spcPts val="3081"/>
                </a:lnSpc>
                <a:spcBef>
                  <a:spcPct val="0"/>
                </a:spcBef>
              </a:pPr>
              <a:endParaRPr lang="en-US" sz="2200" b="1">
                <a:solidFill>
                  <a:srgbClr val="FFF8ED"/>
                </a:solidFill>
                <a:latin typeface="Anantason Expanded Bold"/>
                <a:ea typeface="Anantason Expanded Bold"/>
                <a:cs typeface="Anantason Expanded Bold"/>
              </a:endParaRPr>
            </a:p>
          </p:txBody>
        </p:sp>
      </p:grpSp>
      <p:sp>
        <p:nvSpPr>
          <p:cNvPr id="2" name="ZoneTexte 1">
            <a:extLst>
              <a:ext uri="{FF2B5EF4-FFF2-40B4-BE49-F238E27FC236}">
                <a16:creationId xmlns:a16="http://schemas.microsoft.com/office/drawing/2014/main" id="{68117CAE-DBE6-19FD-4A33-EC6A7336079D}"/>
              </a:ext>
            </a:extLst>
          </p:cNvPr>
          <p:cNvSpPr txBox="1"/>
          <p:nvPr/>
        </p:nvSpPr>
        <p:spPr>
          <a:xfrm>
            <a:off x="1757364" y="3085992"/>
            <a:ext cx="697719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b="1">
                <a:solidFill>
                  <a:schemeClr val="bg1"/>
                </a:solidFill>
                <a:ea typeface="+mn-lt"/>
                <a:cs typeface="+mn-lt"/>
              </a:rPr>
              <a:t>1 - Problème :</a:t>
            </a:r>
            <a:br>
              <a:rPr lang="fr-FR" b="1">
                <a:solidFill>
                  <a:schemeClr val="bg1"/>
                </a:solidFill>
                <a:ea typeface="+mn-lt"/>
                <a:cs typeface="+mn-lt"/>
              </a:rPr>
            </a:br>
            <a:endParaRPr lang="fr-FR" b="1">
              <a:solidFill>
                <a:schemeClr val="bg1"/>
              </a:solidFill>
              <a:ea typeface="+mn-lt"/>
              <a:cs typeface="+mn-lt"/>
            </a:endParaRPr>
          </a:p>
          <a:p>
            <a:r>
              <a:rPr lang="fr-FR" b="1">
                <a:solidFill>
                  <a:schemeClr val="bg1"/>
                </a:solidFill>
                <a:ea typeface="+mn-lt"/>
                <a:cs typeface="+mn-lt"/>
              </a:rPr>
              <a:t>Un retard de livraison apparaît car certaines tâches critiques dépendent d’un acteur externe (fournisseur / prestataire) qui ne respecte pas les délais contractuels, entraînant un effet domino sur le planning global.</a:t>
            </a:r>
          </a:p>
          <a:p>
            <a:endParaRPr lang="fr-FR" b="1">
              <a:solidFill>
                <a:schemeClr val="bg1"/>
              </a:solidFill>
              <a:ea typeface="Calibri"/>
              <a:cs typeface="Calibri"/>
            </a:endParaRPr>
          </a:p>
          <a:p>
            <a:r>
              <a:rPr lang="fr-FR" b="1">
                <a:solidFill>
                  <a:schemeClr val="bg1"/>
                </a:solidFill>
                <a:ea typeface="Calibri"/>
                <a:cs typeface="Calibri"/>
              </a:rPr>
              <a:t>Solution :</a:t>
            </a:r>
          </a:p>
          <a:p>
            <a:pPr marL="285750" indent="-285750">
              <a:buFont typeface="Arial"/>
              <a:buChar char="•"/>
            </a:pPr>
            <a:r>
              <a:rPr lang="fr-FR" b="1">
                <a:solidFill>
                  <a:schemeClr val="bg1"/>
                </a:solidFill>
                <a:ea typeface="Calibri"/>
                <a:cs typeface="Calibri"/>
              </a:rPr>
              <a:t>Utilisation du </a:t>
            </a:r>
            <a:r>
              <a:rPr lang="fr-FR" b="1" err="1">
                <a:solidFill>
                  <a:schemeClr val="bg1"/>
                </a:solidFill>
                <a:ea typeface="Calibri"/>
                <a:cs typeface="Calibri"/>
              </a:rPr>
              <a:t>Pertt</a:t>
            </a:r>
          </a:p>
          <a:p>
            <a:pPr marL="285750" indent="-285750">
              <a:buFont typeface="Arial"/>
              <a:buChar char="•"/>
            </a:pPr>
            <a:r>
              <a:rPr lang="fr-FR" b="1">
                <a:solidFill>
                  <a:schemeClr val="bg1"/>
                </a:solidFill>
                <a:ea typeface="Calibri"/>
                <a:cs typeface="Calibri"/>
              </a:rPr>
              <a:t>Utilisation du Gantt</a:t>
            </a:r>
          </a:p>
        </p:txBody>
      </p:sp>
      <p:sp>
        <p:nvSpPr>
          <p:cNvPr id="3" name="ZoneTexte 2">
            <a:extLst>
              <a:ext uri="{FF2B5EF4-FFF2-40B4-BE49-F238E27FC236}">
                <a16:creationId xmlns:a16="http://schemas.microsoft.com/office/drawing/2014/main" id="{F0D6E1AE-1FB7-D4F9-D6FF-C4D9CF442EF1}"/>
              </a:ext>
            </a:extLst>
          </p:cNvPr>
          <p:cNvSpPr txBox="1"/>
          <p:nvPr/>
        </p:nvSpPr>
        <p:spPr>
          <a:xfrm>
            <a:off x="1757364" y="6128389"/>
            <a:ext cx="697719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b="1">
                <a:solidFill>
                  <a:schemeClr val="bg1"/>
                </a:solidFill>
                <a:ea typeface="+mn-lt"/>
                <a:cs typeface="+mn-lt"/>
              </a:rPr>
              <a:t>2 - Problème :</a:t>
            </a:r>
            <a:br>
              <a:rPr lang="fr-FR" b="1">
                <a:solidFill>
                  <a:schemeClr val="bg1"/>
                </a:solidFill>
                <a:ea typeface="+mn-lt"/>
                <a:cs typeface="+mn-lt"/>
              </a:rPr>
            </a:br>
            <a:endParaRPr lang="fr-FR" b="1">
              <a:solidFill>
                <a:schemeClr val="bg1"/>
              </a:solidFill>
              <a:ea typeface="+mn-lt"/>
              <a:cs typeface="+mn-lt"/>
            </a:endParaRPr>
          </a:p>
          <a:p>
            <a:r>
              <a:rPr lang="fr-FR" b="1">
                <a:solidFill>
                  <a:schemeClr val="bg1"/>
                </a:solidFill>
                <a:ea typeface="+mn-lt"/>
                <a:cs typeface="+mn-lt"/>
              </a:rPr>
              <a:t>Le produit livré ne respecte pas les exigences fonctionnelles initiales (écarts entre cahier des charges et réalisation réelle).</a:t>
            </a:r>
            <a:endParaRPr lang="fr-FR" b="1">
              <a:solidFill>
                <a:schemeClr val="bg1"/>
              </a:solidFill>
            </a:endParaRPr>
          </a:p>
          <a:p>
            <a:endParaRPr lang="fr-FR" b="1">
              <a:solidFill>
                <a:schemeClr val="bg1"/>
              </a:solidFill>
              <a:ea typeface="Calibri"/>
              <a:cs typeface="Calibri"/>
            </a:endParaRPr>
          </a:p>
          <a:p>
            <a:r>
              <a:rPr lang="fr-FR" b="1">
                <a:solidFill>
                  <a:schemeClr val="bg1"/>
                </a:solidFill>
                <a:ea typeface="Calibri"/>
                <a:cs typeface="Calibri"/>
              </a:rPr>
              <a:t>Solution :</a:t>
            </a:r>
          </a:p>
          <a:p>
            <a:pPr marL="285750" indent="-285750">
              <a:buFont typeface="Arial"/>
              <a:buChar char="•"/>
            </a:pPr>
            <a:r>
              <a:rPr lang="fr-FR" b="1">
                <a:solidFill>
                  <a:schemeClr val="bg1"/>
                </a:solidFill>
                <a:ea typeface="Calibri"/>
                <a:cs typeface="Calibri"/>
              </a:rPr>
              <a:t>Utilisation </a:t>
            </a:r>
            <a:r>
              <a:rPr lang="fr-FR" b="1" err="1">
                <a:solidFill>
                  <a:schemeClr val="bg1"/>
                </a:solidFill>
                <a:ea typeface="Calibri"/>
                <a:cs typeface="Calibri"/>
              </a:rPr>
              <a:t>MoSCoW</a:t>
            </a:r>
            <a:endParaRPr lang="fr-FR" b="1">
              <a:solidFill>
                <a:schemeClr val="bg1"/>
              </a:solidFill>
              <a:ea typeface="Calibri"/>
              <a:cs typeface="Calibri"/>
            </a:endParaRPr>
          </a:p>
          <a:p>
            <a:pPr marL="285750" indent="-285750">
              <a:buFont typeface="Arial"/>
              <a:buChar char="•"/>
            </a:pPr>
            <a:r>
              <a:rPr lang="fr-FR" b="1">
                <a:solidFill>
                  <a:schemeClr val="bg1"/>
                </a:solidFill>
                <a:ea typeface="+mn-lt"/>
                <a:cs typeface="+mn-lt"/>
              </a:rPr>
              <a:t>Gestion des exigences</a:t>
            </a:r>
          </a:p>
        </p:txBody>
      </p:sp>
      <p:sp>
        <p:nvSpPr>
          <p:cNvPr id="4" name="ZoneTexte 3">
            <a:extLst>
              <a:ext uri="{FF2B5EF4-FFF2-40B4-BE49-F238E27FC236}">
                <a16:creationId xmlns:a16="http://schemas.microsoft.com/office/drawing/2014/main" id="{CD803830-CC79-382C-A920-76840F5E70F8}"/>
              </a:ext>
            </a:extLst>
          </p:cNvPr>
          <p:cNvSpPr txBox="1"/>
          <p:nvPr/>
        </p:nvSpPr>
        <p:spPr>
          <a:xfrm>
            <a:off x="9556657" y="3085991"/>
            <a:ext cx="697719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b="1">
                <a:solidFill>
                  <a:schemeClr val="bg1"/>
                </a:solidFill>
                <a:ea typeface="+mn-lt"/>
                <a:cs typeface="+mn-lt"/>
              </a:rPr>
              <a:t>3 - Problème :</a:t>
            </a:r>
            <a:br>
              <a:rPr lang="fr-FR" b="1">
                <a:ea typeface="+mn-lt"/>
                <a:cs typeface="+mn-lt"/>
              </a:rPr>
            </a:br>
            <a:endParaRPr lang="fr-FR" b="1">
              <a:solidFill>
                <a:schemeClr val="bg1"/>
              </a:solidFill>
              <a:ea typeface="+mn-lt"/>
              <a:cs typeface="+mn-lt"/>
            </a:endParaRPr>
          </a:p>
          <a:p>
            <a:r>
              <a:rPr lang="fr-FR" b="1">
                <a:solidFill>
                  <a:schemeClr val="bg1"/>
                </a:solidFill>
                <a:ea typeface="+mn-lt"/>
                <a:cs typeface="+mn-lt"/>
              </a:rPr>
              <a:t>Conflits internes entre membres de l’équipe projet entraînant une dégradation de la communication et de la productivité.</a:t>
            </a:r>
          </a:p>
          <a:p>
            <a:endParaRPr lang="fr-FR" b="1">
              <a:solidFill>
                <a:schemeClr val="bg1"/>
              </a:solidFill>
              <a:ea typeface="Calibri"/>
              <a:cs typeface="Calibri"/>
            </a:endParaRPr>
          </a:p>
          <a:p>
            <a:r>
              <a:rPr lang="fr-FR" b="1">
                <a:solidFill>
                  <a:schemeClr val="bg1"/>
                </a:solidFill>
                <a:ea typeface="Calibri"/>
                <a:cs typeface="Calibri"/>
              </a:rPr>
              <a:t>Solution :</a:t>
            </a:r>
            <a:endParaRPr lang="fr-FR" b="1">
              <a:solidFill>
                <a:schemeClr val="bg1"/>
              </a:solidFill>
              <a:ea typeface="+mn-lt"/>
              <a:cs typeface="+mn-lt"/>
            </a:endParaRPr>
          </a:p>
          <a:p>
            <a:pPr marL="285750" indent="-285750">
              <a:buFont typeface="Arial"/>
              <a:buChar char="•"/>
            </a:pPr>
            <a:r>
              <a:rPr lang="fr-FR" b="1">
                <a:solidFill>
                  <a:schemeClr val="bg1"/>
                </a:solidFill>
                <a:ea typeface="+mn-lt"/>
                <a:cs typeface="+mn-lt"/>
              </a:rPr>
              <a:t>RACI Matrix</a:t>
            </a:r>
            <a:endParaRPr lang="fr-FR" b="1">
              <a:solidFill>
                <a:schemeClr val="bg1"/>
              </a:solidFill>
              <a:ea typeface="Calibri"/>
              <a:cs typeface="Calibri"/>
            </a:endParaRPr>
          </a:p>
          <a:p>
            <a:pPr marL="285750" indent="-285750">
              <a:buFont typeface="Arial"/>
              <a:buChar char="•"/>
            </a:pPr>
            <a:r>
              <a:rPr lang="fr-FR" b="1">
                <a:solidFill>
                  <a:schemeClr val="bg1"/>
                </a:solidFill>
                <a:ea typeface="+mn-lt"/>
                <a:cs typeface="+mn-lt"/>
              </a:rPr>
              <a:t>Management collaboratif</a:t>
            </a:r>
          </a:p>
        </p:txBody>
      </p:sp>
    </p:spTree>
    <p:extLst>
      <p:ext uri="{BB962C8B-B14F-4D97-AF65-F5344CB8AC3E}">
        <p14:creationId xmlns:p14="http://schemas.microsoft.com/office/powerpoint/2010/main" val="138638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157BF84A4D80D4482BA26FC0EB3D4E2" ma:contentTypeVersion="7" ma:contentTypeDescription="Crée un document." ma:contentTypeScope="" ma:versionID="c225a0ee187152e6eaa97a423a7be3a1">
  <xsd:schema xmlns:xsd="http://www.w3.org/2001/XMLSchema" xmlns:xs="http://www.w3.org/2001/XMLSchema" xmlns:p="http://schemas.microsoft.com/office/2006/metadata/properties" xmlns:ns2="8a9154e7-4173-403b-b93b-d23a1c190afe" targetNamespace="http://schemas.microsoft.com/office/2006/metadata/properties" ma:root="true" ma:fieldsID="c9d15afca5d202f6d538836ed7985adc" ns2:_="">
    <xsd:import namespace="8a9154e7-4173-403b-b93b-d23a1c190a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9154e7-4173-403b-b93b-d23a1c190a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3B3BB12-DAC4-4525-A266-807121EE092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7006D81-02D5-4621-95F9-9E550B05C0B1}">
  <ds:schemaRefs>
    <ds:schemaRef ds:uri="http://schemas.microsoft.com/sharepoint/v3/contenttype/forms"/>
  </ds:schemaRefs>
</ds:datastoreItem>
</file>

<file path=customXml/itemProps3.xml><?xml version="1.0" encoding="utf-8"?>
<ds:datastoreItem xmlns:ds="http://schemas.openxmlformats.org/officeDocument/2006/customXml" ds:itemID="{E1385E04-B00C-4F48-A00E-3464FD19A8D6}">
  <ds:schemaRefs>
    <ds:schemaRef ds:uri="8a9154e7-4173-403b-b93b-d23a1c190a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22</Slides>
  <Notes>1</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d'Entreprise Profil d'entreprise Vide Blocs de Couleurs en Vert et Beige</dc:title>
  <dc:creator>Marc-Antoine Rigaud</dc:creator>
  <cp:revision>3</cp:revision>
  <dcterms:created xsi:type="dcterms:W3CDTF">2006-08-16T00:00:00Z</dcterms:created>
  <dcterms:modified xsi:type="dcterms:W3CDTF">2026-03-12T09:55:05Z</dcterms:modified>
  <dc:identifier>DAG7rNeRjG8</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0x0101004157BF84A4D80D4482BA26FC0EB3D4E2</vt:lpwstr>
  </property>
</Properties>
</file>